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Lst>
  <p:notesMasterIdLst>
    <p:notesMasterId r:id="rId16"/>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notesMaster" Target="notesMasters/notesMaster1.xml"/><Relationship Id="rId17" Type="http://schemas.openxmlformats.org/officeDocument/2006/relationships/presProps" Target="presProps.xml"/><Relationship Id="rId18" Type="http://schemas.openxmlformats.org/officeDocument/2006/relationships/viewProps" Target="viewProps.xml"/><Relationship Id="rId19" Type="http://schemas.openxmlformats.org/officeDocument/2006/relationships/theme" Target="theme/theme1.xml"/><Relationship Id="rId20"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image" Target="../media/image-2-4.png"/><Relationship Id="rId5" Type="http://schemas.openxmlformats.org/officeDocument/2006/relationships/image" Target="../media/image-2-5.png"/><Relationship Id="rId6" Type="http://schemas.openxmlformats.org/officeDocument/2006/relationships/image" Target="../media/image-2-6.png"/><Relationship Id="rId7" Type="http://schemas.openxmlformats.org/officeDocument/2006/relationships/image" Target="../media/image-2-7.png"/><Relationship Id="rId8" Type="http://schemas.openxmlformats.org/officeDocument/2006/relationships/slideLayout" Target="../slideLayouts/slideLayout1.xml"/><Relationship Id="rId9"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slideLayout" Target="../slideLayouts/slideLayout1.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image" Target="../media/image-4-3.png"/><Relationship Id="rId4" Type="http://schemas.openxmlformats.org/officeDocument/2006/relationships/image" Target="../media/image-4-4.png"/><Relationship Id="rId5" Type="http://schemas.openxmlformats.org/officeDocument/2006/relationships/image" Target="../media/image-4-5.png"/><Relationship Id="rId6" Type="http://schemas.openxmlformats.org/officeDocument/2006/relationships/image" Target="../media/image-4-6.png"/><Relationship Id="rId7" Type="http://schemas.openxmlformats.org/officeDocument/2006/relationships/image" Target="../media/image-4-7.png"/><Relationship Id="rId8" Type="http://schemas.openxmlformats.org/officeDocument/2006/relationships/slideLayout" Target="../slideLayouts/slideLayout1.xml"/><Relationship Id="rId9"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png"/><Relationship Id="rId3" Type="http://schemas.openxmlformats.org/officeDocument/2006/relationships/image" Target="../media/image-5-3.png"/><Relationship Id="rId4" Type="http://schemas.openxmlformats.org/officeDocument/2006/relationships/image" Target="../media/image-5-4.png"/><Relationship Id="rId5" Type="http://schemas.openxmlformats.org/officeDocument/2006/relationships/image" Target="../media/image-5-3.png"/><Relationship Id="rId6" Type="http://schemas.openxmlformats.org/officeDocument/2006/relationships/image" Target="../media/image-5-6.png"/><Relationship Id="rId7" Type="http://schemas.openxmlformats.org/officeDocument/2006/relationships/image" Target="../media/image-5-3.png"/><Relationship Id="rId8" Type="http://schemas.openxmlformats.org/officeDocument/2006/relationships/image" Target="../media/image-5-8.png"/><Relationship Id="rId9" Type="http://schemas.openxmlformats.org/officeDocument/2006/relationships/image" Target="../media/image-5-3.png"/><Relationship Id="rId10" Type="http://schemas.openxmlformats.org/officeDocument/2006/relationships/image" Target="../media/image-5-10.png"/><Relationship Id="rId11" Type="http://schemas.openxmlformats.org/officeDocument/2006/relationships/slideLayout" Target="../slideLayouts/slideLayout1.xml"/><Relationship Id="rId1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2.png"/><Relationship Id="rId3" Type="http://schemas.openxmlformats.org/officeDocument/2006/relationships/image" Target="../media/image-6-3.png"/><Relationship Id="rId4" Type="http://schemas.openxmlformats.org/officeDocument/2006/relationships/image" Target="../media/image-6-4.png"/><Relationship Id="rId5" Type="http://schemas.openxmlformats.org/officeDocument/2006/relationships/image" Target="../media/image-6-5.png"/><Relationship Id="rId6" Type="http://schemas.openxmlformats.org/officeDocument/2006/relationships/image" Target="../media/image-6-6.png"/><Relationship Id="rId7" Type="http://schemas.openxmlformats.org/officeDocument/2006/relationships/image" Target="../media/image-6-7.png"/><Relationship Id="rId8" Type="http://schemas.openxmlformats.org/officeDocument/2006/relationships/slideLayout" Target="../slideLayouts/slideLayout1.xml"/><Relationship Id="rId9"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image" Target="../media/image-7-2.png"/><Relationship Id="rId3" Type="http://schemas.openxmlformats.org/officeDocument/2006/relationships/slideLayout" Target="../slideLayouts/slideLayout1.xml"/><Relationship Id="rId4"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image" Target="../media/image-8-2.png"/><Relationship Id="rId3" Type="http://schemas.openxmlformats.org/officeDocument/2006/relationships/image" Target="../media/image-8-3.png"/><Relationship Id="rId4" Type="http://schemas.openxmlformats.org/officeDocument/2006/relationships/image" Target="../media/image-8-4.png"/><Relationship Id="rId5" Type="http://schemas.openxmlformats.org/officeDocument/2006/relationships/slideLayout" Target="../slideLayouts/slideLayout1.xml"/><Relationship Id="rId6"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image" Target="../media/image-9-2.png"/><Relationship Id="rId3" Type="http://schemas.openxmlformats.org/officeDocument/2006/relationships/image" Target="../media/image-9-3.png"/><Relationship Id="rId4" Type="http://schemas.openxmlformats.org/officeDocument/2006/relationships/image" Target="../media/image-9-4.png"/><Relationship Id="rId5" Type="http://schemas.openxmlformats.org/officeDocument/2006/relationships/image" Target="../media/image-9-3.png"/><Relationship Id="rId6" Type="http://schemas.openxmlformats.org/officeDocument/2006/relationships/image" Target="../media/image-9-6.png"/><Relationship Id="rId7" Type="http://schemas.openxmlformats.org/officeDocument/2006/relationships/image" Target="../media/image-9-3.png"/><Relationship Id="rId8" Type="http://schemas.openxmlformats.org/officeDocument/2006/relationships/image" Target="../media/image-9-8.png"/><Relationship Id="rId9" Type="http://schemas.openxmlformats.org/officeDocument/2006/relationships/image" Target="../media/image-9-3.png"/><Relationship Id="rId10" Type="http://schemas.openxmlformats.org/officeDocument/2006/relationships/image" Target="../media/image-9-10.png"/><Relationship Id="rId11" Type="http://schemas.openxmlformats.org/officeDocument/2006/relationships/image" Target="../media/image-9-3.png"/><Relationship Id="rId12" Type="http://schemas.openxmlformats.org/officeDocument/2006/relationships/image" Target="../media/image-9-12.png"/><Relationship Id="rId13" Type="http://schemas.openxmlformats.org/officeDocument/2006/relationships/image" Target="../media/image-9-3.png"/><Relationship Id="rId14" Type="http://schemas.openxmlformats.org/officeDocument/2006/relationships/image" Target="../media/image-9-14.png"/><Relationship Id="rId15" Type="http://schemas.openxmlformats.org/officeDocument/2006/relationships/image" Target="../media/image-9-15.png"/><Relationship Id="rId16" Type="http://schemas.openxmlformats.org/officeDocument/2006/relationships/image" Target="../media/image-9-15.png"/><Relationship Id="rId17" Type="http://schemas.openxmlformats.org/officeDocument/2006/relationships/image" Target="../media/image-9-15.png"/><Relationship Id="rId18" Type="http://schemas.openxmlformats.org/officeDocument/2006/relationships/image" Target="../media/image-9-15.png"/><Relationship Id="rId19" Type="http://schemas.openxmlformats.org/officeDocument/2006/relationships/slideLayout" Target="../slideLayouts/slideLayout1.xml"/><Relationship Id="rId20"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image" Target="../media/image-10-2.png"/><Relationship Id="rId3" Type="http://schemas.openxmlformats.org/officeDocument/2006/relationships/image" Target="../media/image-10-3.png"/><Relationship Id="rId4" Type="http://schemas.openxmlformats.org/officeDocument/2006/relationships/image" Target="../media/image-10-4.png"/><Relationship Id="rId5" Type="http://schemas.openxmlformats.org/officeDocument/2006/relationships/image" Target="../media/image-10-5.png"/><Relationship Id="rId6" Type="http://schemas.openxmlformats.org/officeDocument/2006/relationships/image" Target="../media/image-10-6.png"/><Relationship Id="rId7" Type="http://schemas.openxmlformats.org/officeDocument/2006/relationships/image" Target="../media/image-10-7.png"/><Relationship Id="rId8" Type="http://schemas.openxmlformats.org/officeDocument/2006/relationships/slideLayout" Target="../slideLayouts/slideLayout1.xml"/><Relationship Id="rId9"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image" Target="../media/image-11-2.png"/><Relationship Id="rId3" Type="http://schemas.openxmlformats.org/officeDocument/2006/relationships/image" Target="../media/image-11-3.png"/><Relationship Id="rId4" Type="http://schemas.openxmlformats.org/officeDocument/2006/relationships/image" Target="../media/image-11-4.png"/><Relationship Id="rId5" Type="http://schemas.openxmlformats.org/officeDocument/2006/relationships/image" Target="../media/image-11-5.png"/><Relationship Id="rId6" Type="http://schemas.openxmlformats.org/officeDocument/2006/relationships/image" Target="../media/image-11-3.png"/><Relationship Id="rId7" Type="http://schemas.openxmlformats.org/officeDocument/2006/relationships/image" Target="../media/image-11-7.png"/><Relationship Id="rId8" Type="http://schemas.openxmlformats.org/officeDocument/2006/relationships/slideLayout" Target="../slideLayouts/slideLayout1.xml"/><Relationship Id="rId9"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image" Target="../media/image-12-2.png"/><Relationship Id="rId3" Type="http://schemas.openxmlformats.org/officeDocument/2006/relationships/image" Target="../media/image-12-3.png"/><Relationship Id="rId4" Type="http://schemas.openxmlformats.org/officeDocument/2006/relationships/image" Target="../media/image-12-4.png"/><Relationship Id="rId5" Type="http://schemas.openxmlformats.org/officeDocument/2006/relationships/image" Target="../media/image-12-5.png"/><Relationship Id="rId6" Type="http://schemas.openxmlformats.org/officeDocument/2006/relationships/image" Target="../media/image-12-6.png"/><Relationship Id="rId7" Type="http://schemas.openxmlformats.org/officeDocument/2006/relationships/image" Target="../media/image-12-7.png"/><Relationship Id="rId8" Type="http://schemas.openxmlformats.org/officeDocument/2006/relationships/slideLayout" Target="../slideLayouts/slideLayout1.xml"/><Relationship Id="rId9"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image" Target="../media/image-13-2.png"/><Relationship Id="rId3" Type="http://schemas.openxmlformats.org/officeDocument/2006/relationships/image" Target="../media/image-13-3.png"/><Relationship Id="rId4" Type="http://schemas.openxmlformats.org/officeDocument/2006/relationships/image" Target="../media/image-13-4.png"/><Relationship Id="rId5" Type="http://schemas.openxmlformats.org/officeDocument/2006/relationships/slideLayout" Target="../slideLayouts/slideLayout1.xml"/><Relationship Id="rId6"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image" Target="../media/image-14-2.png"/><Relationship Id="rId3" Type="http://schemas.openxmlformats.org/officeDocument/2006/relationships/image" Target="../media/image-14-3.png"/><Relationship Id="rId4" Type="http://schemas.openxmlformats.org/officeDocument/2006/relationships/slideLayout" Target="../slideLayouts/slideLayout1.xml"/><Relationship Id="rId5" Type="http://schemas.openxmlformats.org/officeDocument/2006/relationships/notesSlide" Target="../notesSlides/notesSlide14.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D1117"/>
        </a:solidFill>
      </p:bgPr>
    </p:bg>
    <p:spTree>
      <p:nvGrpSpPr>
        <p:cNvPr id="1" name=""/>
        <p:cNvGrpSpPr/>
        <p:nvPr/>
      </p:nvGrpSpPr>
      <p:grpSpPr>
        <a:xfrm>
          <a:off x="0" y="0"/>
          <a:ext cx="0" cy="0"/>
          <a:chOff x="0" y="0"/>
          <a:chExt cx="0" cy="0"/>
        </a:xfrm>
      </p:grpSpPr>
      <p:pic>
        <p:nvPicPr>
          <p:cNvPr id="2" name="Image 0" descr="/home/claude/build/assets/bg_hero.png">    </p:cNvPr>
          <p:cNvPicPr>
            <a:picLocks noChangeAspect="1"/>
          </p:cNvPicPr>
          <p:nvPr/>
        </p:nvPicPr>
        <p:blipFill>
          <a:blip r:embed="rId1"/>
          <a:stretch>
            <a:fillRect/>
          </a:stretch>
        </p:blipFill>
        <p:spPr>
          <a:xfrm>
            <a:off x="0" y="0"/>
            <a:ext cx="12191695" cy="6858000"/>
          </a:xfrm>
          <a:prstGeom prst="rect">
            <a:avLst/>
          </a:prstGeom>
        </p:spPr>
      </p:pic>
      <p:sp>
        <p:nvSpPr>
          <p:cNvPr id="3" name="Shape 0"/>
          <p:cNvSpPr/>
          <p:nvPr/>
        </p:nvSpPr>
        <p:spPr>
          <a:xfrm rot="360000">
            <a:off x="7635240" y="1234440"/>
            <a:ext cx="4114800" cy="4480560"/>
          </a:xfrm>
          <a:prstGeom prst="roundRect">
            <a:avLst>
              <a:gd name="adj" fmla="val 2667"/>
            </a:avLst>
          </a:prstGeom>
          <a:solidFill>
            <a:srgbClr val="121820"/>
          </a:solidFill>
          <a:ln w="12700">
            <a:solidFill>
              <a:srgbClr val="2A3441"/>
            </a:solidFill>
            <a:prstDash val="solid"/>
          </a:ln>
        </p:spPr>
      </p:sp>
      <p:sp>
        <p:nvSpPr>
          <p:cNvPr id="4" name="Shape 1"/>
          <p:cNvSpPr/>
          <p:nvPr/>
        </p:nvSpPr>
        <p:spPr>
          <a:xfrm>
            <a:off x="7818120" y="1417320"/>
            <a:ext cx="4114800" cy="4480560"/>
          </a:xfrm>
          <a:prstGeom prst="roundRect">
            <a:avLst>
              <a:gd name="adj" fmla="val 2667"/>
            </a:avLst>
          </a:prstGeom>
          <a:solidFill>
            <a:srgbClr val="1B2430"/>
          </a:solidFill>
          <a:ln w="12700">
            <a:solidFill>
              <a:srgbClr val="2A3441"/>
            </a:solidFill>
            <a:prstDash val="solid"/>
          </a:ln>
        </p:spPr>
      </p:sp>
      <p:sp>
        <p:nvSpPr>
          <p:cNvPr id="5" name="Shape 2"/>
          <p:cNvSpPr/>
          <p:nvPr/>
        </p:nvSpPr>
        <p:spPr>
          <a:xfrm>
            <a:off x="8092440" y="1691640"/>
            <a:ext cx="146304" cy="146304"/>
          </a:xfrm>
          <a:prstGeom prst="ellipse">
            <a:avLst/>
          </a:prstGeom>
          <a:solidFill>
            <a:srgbClr val="FF5F56"/>
          </a:solidFill>
          <a:ln/>
        </p:spPr>
      </p:sp>
      <p:sp>
        <p:nvSpPr>
          <p:cNvPr id="6" name="Shape 3"/>
          <p:cNvSpPr/>
          <p:nvPr/>
        </p:nvSpPr>
        <p:spPr>
          <a:xfrm>
            <a:off x="8321040" y="1691640"/>
            <a:ext cx="146304" cy="146304"/>
          </a:xfrm>
          <a:prstGeom prst="ellipse">
            <a:avLst/>
          </a:prstGeom>
          <a:solidFill>
            <a:srgbClr val="FFBD2E"/>
          </a:solidFill>
          <a:ln/>
        </p:spPr>
      </p:sp>
      <p:sp>
        <p:nvSpPr>
          <p:cNvPr id="7" name="Shape 4"/>
          <p:cNvSpPr/>
          <p:nvPr/>
        </p:nvSpPr>
        <p:spPr>
          <a:xfrm>
            <a:off x="8549640" y="1691640"/>
            <a:ext cx="146304" cy="146304"/>
          </a:xfrm>
          <a:prstGeom prst="ellipse">
            <a:avLst/>
          </a:prstGeom>
          <a:solidFill>
            <a:srgbClr val="27C93F"/>
          </a:solidFill>
          <a:ln/>
        </p:spPr>
      </p:sp>
      <p:sp>
        <p:nvSpPr>
          <p:cNvPr id="8" name="Text 5"/>
          <p:cNvSpPr/>
          <p:nvPr/>
        </p:nvSpPr>
        <p:spPr>
          <a:xfrm>
            <a:off x="8092440" y="2057400"/>
            <a:ext cx="3566160" cy="3520440"/>
          </a:xfrm>
          <a:prstGeom prst="rect">
            <a:avLst/>
          </a:prstGeom>
          <a:noFill/>
          <a:ln/>
        </p:spPr>
        <p:txBody>
          <a:bodyPr wrap="square" rtlCol="0" anchor="t"/>
          <a:lstStyle/>
          <a:p>
            <a:pPr algn="l" indent="0" marL="0">
              <a:lnSpc>
                <a:spcPct val="135000"/>
              </a:lnSpc>
              <a:buNone/>
            </a:pPr>
            <a:r>
              <a:rPr lang="en-US" sz="1250" dirty="0">
                <a:solidFill>
                  <a:srgbClr val="9BA7B4"/>
                </a:solidFill>
                <a:latin typeface="Courier New" pitchFamily="34" charset="0"/>
                <a:ea typeface="Courier New" pitchFamily="34" charset="-122"/>
                <a:cs typeface="Courier New" pitchFamily="34" charset="-120"/>
              </a:rPr>
              <a:t>$ gcc process_manager.c -o pm</a:t>
            </a:r>
            <a:endParaRPr lang="en-US" sz="1250" dirty="0"/>
          </a:p>
          <a:p>
            <a:pPr algn="l" indent="0" marL="0">
              <a:lnSpc>
                <a:spcPct val="135000"/>
              </a:lnSpc>
              <a:buNone/>
            </a:pPr>
            <a:r>
              <a:rPr lang="en-US" sz="1250" dirty="0">
                <a:solidFill>
                  <a:srgbClr val="9BA7B4"/>
                </a:solidFill>
                <a:latin typeface="Courier New" pitchFamily="34" charset="0"/>
                <a:ea typeface="Courier New" pitchFamily="34" charset="-122"/>
                <a:cs typeface="Courier New" pitchFamily="34" charset="-120"/>
              </a:rPr>
              <a:t>$ ./pm</a:t>
            </a:r>
            <a:endParaRPr lang="en-US" sz="1250" dirty="0"/>
          </a:p>
          <a:p>
            <a:pPr algn="l" indent="0" marL="0">
              <a:lnSpc>
                <a:spcPct val="135000"/>
              </a:lnSpc>
              <a:buNone/>
            </a:pPr>
            <a:r>
              <a:rPr lang="en-US" sz="1250" dirty="0">
                <a:solidFill>
                  <a:srgbClr val="39D98A"/>
                </a:solidFill>
                <a:latin typeface="Courier New" pitchFamily="34" charset="0"/>
                <a:ea typeface="Courier New" pitchFamily="34" charset="-122"/>
                <a:cs typeface="Courier New" pitchFamily="34" charset="-120"/>
              </a:rPr>
              <a:t>pid_t pid = fork();</a:t>
            </a:r>
            <a:endParaRPr lang="en-US" sz="1250" dirty="0"/>
          </a:p>
          <a:p>
            <a:pPr algn="l" indent="0" marL="0">
              <a:lnSpc>
                <a:spcPct val="135000"/>
              </a:lnSpc>
              <a:buNone/>
            </a:pPr>
            <a:r>
              <a:rPr lang="en-US" sz="1250" dirty="0">
                <a:solidFill>
                  <a:srgbClr val="58A6FF"/>
                </a:solidFill>
                <a:latin typeface="Courier New" pitchFamily="34" charset="0"/>
                <a:ea typeface="Courier New" pitchFamily="34" charset="-122"/>
                <a:cs typeface="Courier New" pitchFamily="34" charset="-120"/>
              </a:rPr>
              <a:t>if (pid == 0) execvp(...);</a:t>
            </a:r>
            <a:endParaRPr lang="en-US" sz="1250" dirty="0"/>
          </a:p>
          <a:p>
            <a:pPr algn="l" indent="0" marL="0">
              <a:lnSpc>
                <a:spcPct val="135000"/>
              </a:lnSpc>
              <a:buNone/>
            </a:pPr>
            <a:r>
              <a:rPr lang="en-US" sz="1250" dirty="0">
                <a:solidFill>
                  <a:srgbClr val="39D98A"/>
                </a:solidFill>
                <a:latin typeface="Courier New" pitchFamily="34" charset="0"/>
                <a:ea typeface="Courier New" pitchFamily="34" charset="-122"/>
                <a:cs typeface="Courier New" pitchFamily="34" charset="-120"/>
              </a:rPr>
              <a:t>wait(&amp;status);</a:t>
            </a:r>
            <a:endParaRPr lang="en-US" sz="1250" dirty="0"/>
          </a:p>
          <a:p>
            <a:pPr algn="l" indent="0" marL="0">
              <a:lnSpc>
                <a:spcPct val="135000"/>
              </a:lnSpc>
              <a:buNone/>
            </a:pPr>
            <a:r>
              <a:rPr lang="en-US" sz="1250" dirty="0">
                <a:solidFill>
                  <a:srgbClr val="E6EDF3"/>
                </a:solidFill>
                <a:latin typeface="Courier New" pitchFamily="34" charset="0"/>
                <a:ea typeface="Courier New" pitchFamily="34" charset="-122"/>
                <a:cs typeface="Courier New" pitchFamily="34" charset="-120"/>
              </a:rPr>
              <a:t>&gt; Child PID: 4021 spawned</a:t>
            </a:r>
            <a:endParaRPr lang="en-US" sz="1250" dirty="0"/>
          </a:p>
          <a:p>
            <a:pPr algn="l" indent="0" marL="0">
              <a:lnSpc>
                <a:spcPct val="135000"/>
              </a:lnSpc>
              <a:buNone/>
            </a:pPr>
            <a:r>
              <a:rPr lang="en-US" sz="1250" dirty="0">
                <a:solidFill>
                  <a:srgbClr val="9BA7B4"/>
                </a:solidFill>
                <a:latin typeface="Courier New" pitchFamily="34" charset="0"/>
                <a:ea typeface="Courier New" pitchFamily="34" charset="-122"/>
                <a:cs typeface="Courier New" pitchFamily="34" charset="-120"/>
              </a:rPr>
              <a:t>&gt; Parent waiting...</a:t>
            </a:r>
            <a:endParaRPr lang="en-US" sz="1250" dirty="0"/>
          </a:p>
          <a:p>
            <a:pPr algn="l" indent="0" marL="0">
              <a:lnSpc>
                <a:spcPct val="135000"/>
              </a:lnSpc>
              <a:buNone/>
            </a:pPr>
            <a:r>
              <a:rPr lang="en-US" sz="1250" dirty="0">
                <a:solidFill>
                  <a:srgbClr val="E6EDF3"/>
                </a:solidFill>
                <a:latin typeface="Courier New" pitchFamily="34" charset="0"/>
                <a:ea typeface="Courier New" pitchFamily="34" charset="-122"/>
                <a:cs typeface="Courier New" pitchFamily="34" charset="-120"/>
              </a:rPr>
              <a:t>&gt; Signal SIGTERM handled</a:t>
            </a:r>
            <a:endParaRPr lang="en-US" sz="1250" dirty="0"/>
          </a:p>
          <a:p>
            <a:pPr algn="l" indent="0" marL="0">
              <a:lnSpc>
                <a:spcPct val="135000"/>
              </a:lnSpc>
              <a:buNone/>
            </a:pPr>
            <a:r>
              <a:rPr lang="en-US" sz="1250" dirty="0">
                <a:solidFill>
                  <a:srgbClr val="39D98A"/>
                </a:solidFill>
                <a:latin typeface="Courier New" pitchFamily="34" charset="0"/>
                <a:ea typeface="Courier New" pitchFamily="34" charset="-122"/>
                <a:cs typeface="Courier New" pitchFamily="34" charset="-120"/>
              </a:rPr>
              <a:t>&gt; Process terminated: 0</a:t>
            </a:r>
            <a:endParaRPr lang="en-US" sz="1250" dirty="0"/>
          </a:p>
        </p:txBody>
      </p:sp>
      <p:sp>
        <p:nvSpPr>
          <p:cNvPr id="9" name="Text 6"/>
          <p:cNvSpPr/>
          <p:nvPr/>
        </p:nvSpPr>
        <p:spPr>
          <a:xfrm>
            <a:off x="548640" y="1051560"/>
            <a:ext cx="6766560" cy="320040"/>
          </a:xfrm>
          <a:prstGeom prst="rect">
            <a:avLst/>
          </a:prstGeom>
          <a:noFill/>
          <a:ln/>
        </p:spPr>
        <p:txBody>
          <a:bodyPr wrap="square" rtlCol="0" anchor="ctr"/>
          <a:lstStyle/>
          <a:p>
            <a:pPr indent="0" marL="0">
              <a:buNone/>
            </a:pPr>
            <a:r>
              <a:rPr lang="en-US" sz="1300" b="1" spc="250" kern="0" dirty="0">
                <a:solidFill>
                  <a:srgbClr val="39D98A"/>
                </a:solidFill>
                <a:latin typeface="Calibri" pitchFamily="34" charset="0"/>
                <a:ea typeface="Calibri" pitchFamily="34" charset="-122"/>
                <a:cs typeface="Calibri" pitchFamily="34" charset="-120"/>
              </a:rPr>
              <a:t>OPERATING SYSTEMS  •  CSE  •  KLH UNIVERSITY</a:t>
            </a:r>
            <a:endParaRPr lang="en-US" sz="1300" dirty="0"/>
          </a:p>
        </p:txBody>
      </p:sp>
      <p:sp>
        <p:nvSpPr>
          <p:cNvPr id="10" name="Text 7"/>
          <p:cNvSpPr/>
          <p:nvPr/>
        </p:nvSpPr>
        <p:spPr>
          <a:xfrm>
            <a:off x="502920" y="1463040"/>
            <a:ext cx="6949440" cy="1920240"/>
          </a:xfrm>
          <a:prstGeom prst="rect">
            <a:avLst/>
          </a:prstGeom>
          <a:noFill/>
          <a:ln/>
        </p:spPr>
        <p:txBody>
          <a:bodyPr wrap="square" rtlCol="0" anchor="ctr"/>
          <a:lstStyle/>
          <a:p>
            <a:pPr indent="0" marL="0">
              <a:lnSpc>
                <a:spcPct val="100000"/>
              </a:lnSpc>
              <a:buNone/>
            </a:pPr>
            <a:r>
              <a:rPr lang="en-US" sz="5200" b="1" dirty="0">
                <a:solidFill>
                  <a:srgbClr val="E6EDF3"/>
                </a:solidFill>
                <a:latin typeface="Cambria" pitchFamily="34" charset="0"/>
                <a:ea typeface="Cambria" pitchFamily="34" charset="-122"/>
                <a:cs typeface="Cambria" pitchFamily="34" charset="-120"/>
              </a:rPr>
              <a:t>Smart Process</a:t>
            </a:r>
            <a:endParaRPr lang="en-US" sz="5200" dirty="0"/>
          </a:p>
          <a:p>
            <a:pPr indent="0" marL="0">
              <a:lnSpc>
                <a:spcPct val="100000"/>
              </a:lnSpc>
              <a:buNone/>
            </a:pPr>
            <a:r>
              <a:rPr lang="en-US" sz="5200" b="1" dirty="0">
                <a:solidFill>
                  <a:srgbClr val="E6EDF3"/>
                </a:solidFill>
                <a:latin typeface="Cambria" pitchFamily="34" charset="0"/>
                <a:ea typeface="Cambria" pitchFamily="34" charset="-122"/>
                <a:cs typeface="Cambria" pitchFamily="34" charset="-120"/>
              </a:rPr>
              <a:t>Management</a:t>
            </a:r>
            <a:endParaRPr lang="en-US" sz="5200" dirty="0"/>
          </a:p>
        </p:txBody>
      </p:sp>
      <p:sp>
        <p:nvSpPr>
          <p:cNvPr id="11" name="Text 8"/>
          <p:cNvSpPr/>
          <p:nvPr/>
        </p:nvSpPr>
        <p:spPr>
          <a:xfrm>
            <a:off x="530352" y="3364992"/>
            <a:ext cx="6949440" cy="548640"/>
          </a:xfrm>
          <a:prstGeom prst="rect">
            <a:avLst/>
          </a:prstGeom>
          <a:noFill/>
          <a:ln/>
        </p:spPr>
        <p:txBody>
          <a:bodyPr wrap="square" rtlCol="0" anchor="ctr"/>
          <a:lstStyle/>
          <a:p>
            <a:pPr indent="0" marL="0">
              <a:buNone/>
            </a:pPr>
            <a:r>
              <a:rPr lang="en-US" sz="2400" i="1" dirty="0">
                <a:solidFill>
                  <a:srgbClr val="58A6FF"/>
                </a:solidFill>
                <a:latin typeface="Cambria" pitchFamily="34" charset="0"/>
                <a:ea typeface="Cambria" pitchFamily="34" charset="-122"/>
                <a:cs typeface="Cambria" pitchFamily="34" charset="-120"/>
              </a:rPr>
              <a:t>Linux System Calls</a:t>
            </a:r>
            <a:endParaRPr lang="en-US" sz="2400" dirty="0"/>
          </a:p>
        </p:txBody>
      </p:sp>
      <p:sp>
        <p:nvSpPr>
          <p:cNvPr id="12" name="Shape 9"/>
          <p:cNvSpPr/>
          <p:nvPr/>
        </p:nvSpPr>
        <p:spPr>
          <a:xfrm>
            <a:off x="548640" y="4041648"/>
            <a:ext cx="2011680" cy="0"/>
          </a:xfrm>
          <a:prstGeom prst="line">
            <a:avLst/>
          </a:prstGeom>
          <a:noFill/>
          <a:ln w="31750">
            <a:solidFill>
              <a:srgbClr val="39D98A"/>
            </a:solidFill>
            <a:prstDash val="solid"/>
          </a:ln>
        </p:spPr>
      </p:sp>
      <p:sp>
        <p:nvSpPr>
          <p:cNvPr id="13" name="Text 10"/>
          <p:cNvSpPr/>
          <p:nvPr/>
        </p:nvSpPr>
        <p:spPr>
          <a:xfrm>
            <a:off x="548640" y="4251960"/>
            <a:ext cx="6675120" cy="1371600"/>
          </a:xfrm>
          <a:prstGeom prst="rect">
            <a:avLst/>
          </a:prstGeom>
          <a:noFill/>
          <a:ln/>
        </p:spPr>
        <p:txBody>
          <a:bodyPr wrap="square" rtlCol="0" anchor="ctr"/>
          <a:lstStyle/>
          <a:p>
            <a:pPr algn="l" indent="0" marL="0">
              <a:lnSpc>
                <a:spcPct val="130000"/>
              </a:lnSpc>
              <a:buNone/>
            </a:pPr>
            <a:r>
              <a:rPr lang="en-US" sz="1450" dirty="0">
                <a:solidFill>
                  <a:srgbClr val="9BA7B4"/>
                </a:solidFill>
                <a:latin typeface="Calibri" pitchFamily="34" charset="0"/>
                <a:ea typeface="Calibri" pitchFamily="34" charset="-122"/>
                <a:cs typeface="Calibri" pitchFamily="34" charset="-120"/>
              </a:rPr>
              <a:t>A comprehensive study of process management engineered through the Linux kernel's native system-call interface — translating operating-system theory into a working, interactive demonstration of process creation, execution, synchronization, and termination.</a:t>
            </a:r>
            <a:endParaRPr lang="en-US" sz="1450" dirty="0"/>
          </a:p>
        </p:txBody>
      </p:sp>
      <p:sp>
        <p:nvSpPr>
          <p:cNvPr id="14" name="Text 11"/>
          <p:cNvSpPr/>
          <p:nvPr/>
        </p:nvSpPr>
        <p:spPr>
          <a:xfrm>
            <a:off x="548640" y="6172200"/>
            <a:ext cx="7315200" cy="365760"/>
          </a:xfrm>
          <a:prstGeom prst="rect">
            <a:avLst/>
          </a:prstGeom>
          <a:noFill/>
          <a:ln/>
        </p:spPr>
        <p:txBody>
          <a:bodyPr wrap="square" rtlCol="0" anchor="ctr"/>
          <a:lstStyle/>
          <a:p>
            <a:pPr indent="0" marL="0">
              <a:buNone/>
            </a:pPr>
            <a:r>
              <a:rPr lang="en-US" sz="1050" i="1" dirty="0">
                <a:solidFill>
                  <a:srgbClr val="9BA7B4"/>
                </a:solidFill>
                <a:latin typeface="Calibri" pitchFamily="34" charset="0"/>
                <a:ea typeface="Calibri" pitchFamily="34" charset="-122"/>
                <a:cs typeface="Calibri" pitchFamily="34" charset="-120"/>
              </a:rPr>
              <a:t>Presented as part of the Operating Systems curriculum, Department of Computer Science &amp; Engineering</a:t>
            </a:r>
            <a:endParaRPr lang="en-US" sz="10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0D1117"/>
        </a:solidFill>
      </p:bgPr>
    </p:bg>
    <p:spTree>
      <p:nvGrpSpPr>
        <p:cNvPr id="1" name=""/>
        <p:cNvGrpSpPr/>
        <p:nvPr/>
      </p:nvGrpSpPr>
      <p:grpSpPr>
        <a:xfrm>
          <a:off x="0" y="0"/>
          <a:ext cx="0" cy="0"/>
          <a:chOff x="0" y="0"/>
          <a:chExt cx="0" cy="0"/>
        </a:xfrm>
      </p:grpSpPr>
      <p:pic>
        <p:nvPicPr>
          <p:cNvPr id="2" name="Image 0" descr="/home/claude/build/assets/bg_panel.png">    </p:cNvPr>
          <p:cNvPicPr>
            <a:picLocks noChangeAspect="1"/>
          </p:cNvPicPr>
          <p:nvPr/>
        </p:nvPicPr>
        <p:blipFill>
          <a:blip r:embed="rId1"/>
          <a:stretch>
            <a:fillRect/>
          </a:stretch>
        </p:blipFill>
        <p:spPr>
          <a:xfrm>
            <a:off x="0" y="0"/>
            <a:ext cx="12191695" cy="6858000"/>
          </a:xfrm>
          <a:prstGeom prst="rect">
            <a:avLst/>
          </a:prstGeom>
        </p:spPr>
      </p:pic>
      <p:sp>
        <p:nvSpPr>
          <p:cNvPr id="3" name="Shape 0"/>
          <p:cNvSpPr/>
          <p:nvPr/>
        </p:nvSpPr>
        <p:spPr>
          <a:xfrm>
            <a:off x="502920" y="457200"/>
            <a:ext cx="128016" cy="128016"/>
          </a:xfrm>
          <a:prstGeom prst="roundRect">
            <a:avLst>
              <a:gd name="adj" fmla="val 50000"/>
            </a:avLst>
          </a:prstGeom>
          <a:solidFill>
            <a:srgbClr val="39D98A"/>
          </a:solidFill>
          <a:ln/>
        </p:spPr>
      </p:sp>
      <p:sp>
        <p:nvSpPr>
          <p:cNvPr id="4" name="Text 1"/>
          <p:cNvSpPr/>
          <p:nvPr/>
        </p:nvSpPr>
        <p:spPr>
          <a:xfrm>
            <a:off x="713232" y="393192"/>
            <a:ext cx="5486400" cy="274320"/>
          </a:xfrm>
          <a:prstGeom prst="rect">
            <a:avLst/>
          </a:prstGeom>
          <a:noFill/>
          <a:ln/>
        </p:spPr>
        <p:txBody>
          <a:bodyPr wrap="square" rtlCol="0" anchor="ctr"/>
          <a:lstStyle/>
          <a:p>
            <a:pPr indent="0" marL="0">
              <a:buNone/>
            </a:pPr>
            <a:r>
              <a:rPr lang="en-US" sz="1250" b="1" spc="200" kern="0" dirty="0">
                <a:solidFill>
                  <a:srgbClr val="39D98A"/>
                </a:solidFill>
                <a:latin typeface="Calibri" pitchFamily="34" charset="0"/>
                <a:ea typeface="Calibri" pitchFamily="34" charset="-122"/>
                <a:cs typeface="Calibri" pitchFamily="34" charset="-120"/>
              </a:rPr>
              <a:t>ABSTRACT</a:t>
            </a:r>
            <a:endParaRPr lang="en-US" sz="1250" dirty="0"/>
          </a:p>
        </p:txBody>
      </p:sp>
      <p:sp>
        <p:nvSpPr>
          <p:cNvPr id="5" name="Text 2"/>
          <p:cNvSpPr/>
          <p:nvPr/>
        </p:nvSpPr>
        <p:spPr>
          <a:xfrm>
            <a:off x="502920" y="713232"/>
            <a:ext cx="10515600" cy="685800"/>
          </a:xfrm>
          <a:prstGeom prst="rect">
            <a:avLst/>
          </a:prstGeom>
          <a:noFill/>
          <a:ln/>
        </p:spPr>
        <p:txBody>
          <a:bodyPr wrap="square" rtlCol="0" anchor="ctr"/>
          <a:lstStyle/>
          <a:p>
            <a:pPr algn="l" indent="0" marL="0">
              <a:buNone/>
            </a:pPr>
            <a:r>
              <a:rPr lang="en-US" sz="3000" b="1" dirty="0">
                <a:solidFill>
                  <a:srgbClr val="E6EDF3"/>
                </a:solidFill>
                <a:latin typeface="Cambria" pitchFamily="34" charset="0"/>
                <a:ea typeface="Cambria" pitchFamily="34" charset="-122"/>
                <a:cs typeface="Cambria" pitchFamily="34" charset="-120"/>
              </a:rPr>
              <a:t>Project Abstract</a:t>
            </a:r>
            <a:endParaRPr lang="en-US" sz="3000" dirty="0"/>
          </a:p>
        </p:txBody>
      </p:sp>
      <p:sp>
        <p:nvSpPr>
          <p:cNvPr id="6" name="Shape 3"/>
          <p:cNvSpPr/>
          <p:nvPr/>
        </p:nvSpPr>
        <p:spPr>
          <a:xfrm>
            <a:off x="502920" y="1600200"/>
            <a:ext cx="7223760" cy="4846320"/>
          </a:xfrm>
          <a:prstGeom prst="roundRect">
            <a:avLst>
              <a:gd name="adj" fmla="val 1698"/>
            </a:avLst>
          </a:prstGeom>
          <a:solidFill>
            <a:srgbClr val="161B22"/>
          </a:solidFill>
          <a:ln w="12700">
            <a:solidFill>
              <a:srgbClr val="2A3441"/>
            </a:solidFill>
            <a:prstDash val="solid"/>
          </a:ln>
          <a:effectLst>
            <a:outerShdw sx="100000" sy="100000" kx="0" ky="0" algn="bl" rotWithShape="0" blurRad="127000" dist="38100" dir="5400000">
              <a:srgbClr val="000000">
                <a:alpha val="35000"/>
              </a:srgbClr>
            </a:outerShdw>
          </a:effectLst>
        </p:spPr>
      </p:sp>
      <p:sp>
        <p:nvSpPr>
          <p:cNvPr id="7" name="Shape 4"/>
          <p:cNvSpPr/>
          <p:nvPr/>
        </p:nvSpPr>
        <p:spPr>
          <a:xfrm>
            <a:off x="868680" y="1920240"/>
            <a:ext cx="530352" cy="530352"/>
          </a:xfrm>
          <a:prstGeom prst="ellipse">
            <a:avLst/>
          </a:prstGeom>
          <a:solidFill>
            <a:srgbClr val="20293A"/>
          </a:solidFill>
          <a:ln w="12700">
            <a:solidFill>
              <a:srgbClr val="2A3441"/>
            </a:solidFill>
            <a:prstDash val="solid"/>
          </a:ln>
        </p:spPr>
      </p:sp>
      <p:pic>
        <p:nvPicPr>
          <p:cNvPr id="8" name="Image 1" descr="/home/claude/build/assets/icons/book_39D98A.png">    </p:cNvPr>
          <p:cNvPicPr>
            <a:picLocks noChangeAspect="1"/>
          </p:cNvPicPr>
          <p:nvPr/>
        </p:nvPicPr>
        <p:blipFill>
          <a:blip r:embed="rId2"/>
          <a:stretch>
            <a:fillRect/>
          </a:stretch>
        </p:blipFill>
        <p:spPr>
          <a:xfrm>
            <a:off x="985357" y="2036917"/>
            <a:ext cx="296997" cy="296997"/>
          </a:xfrm>
          <a:prstGeom prst="rect">
            <a:avLst/>
          </a:prstGeom>
        </p:spPr>
      </p:pic>
      <p:sp>
        <p:nvSpPr>
          <p:cNvPr id="9" name="Text 5"/>
          <p:cNvSpPr/>
          <p:nvPr/>
        </p:nvSpPr>
        <p:spPr>
          <a:xfrm>
            <a:off x="1554480" y="1947672"/>
            <a:ext cx="4572000" cy="457200"/>
          </a:xfrm>
          <a:prstGeom prst="rect">
            <a:avLst/>
          </a:prstGeom>
          <a:noFill/>
          <a:ln/>
        </p:spPr>
        <p:txBody>
          <a:bodyPr wrap="square" rtlCol="0" anchor="ctr"/>
          <a:lstStyle/>
          <a:p>
            <a:pPr indent="0" marL="0">
              <a:buNone/>
            </a:pPr>
            <a:r>
              <a:rPr lang="en-US" sz="1700" b="1" dirty="0">
                <a:solidFill>
                  <a:srgbClr val="E6EDF3"/>
                </a:solidFill>
                <a:latin typeface="Cambria" pitchFamily="34" charset="0"/>
                <a:ea typeface="Cambria" pitchFamily="34" charset="-122"/>
                <a:cs typeface="Cambria" pitchFamily="34" charset="-120"/>
              </a:rPr>
              <a:t>Overview</a:t>
            </a:r>
            <a:endParaRPr lang="en-US" sz="1700" dirty="0"/>
          </a:p>
        </p:txBody>
      </p:sp>
      <p:sp>
        <p:nvSpPr>
          <p:cNvPr id="10" name="Text 6"/>
          <p:cNvSpPr/>
          <p:nvPr/>
        </p:nvSpPr>
        <p:spPr>
          <a:xfrm>
            <a:off x="868680" y="2514600"/>
            <a:ext cx="6492240" cy="3794760"/>
          </a:xfrm>
          <a:prstGeom prst="rect">
            <a:avLst/>
          </a:prstGeom>
          <a:noFill/>
          <a:ln/>
        </p:spPr>
        <p:txBody>
          <a:bodyPr wrap="square" rtlCol="0" anchor="t"/>
          <a:lstStyle/>
          <a:p>
            <a:pPr algn="l" indent="0" marL="0">
              <a:lnSpc>
                <a:spcPct val="124000"/>
              </a:lnSpc>
              <a:buNone/>
            </a:pPr>
            <a:r>
              <a:rPr lang="en-US" sz="1100" dirty="0">
                <a:solidFill>
                  <a:srgbClr val="9BA7B4"/>
                </a:solidFill>
                <a:latin typeface="Calibri" pitchFamily="34" charset="0"/>
                <a:ea typeface="Calibri" pitchFamily="34" charset="-122"/>
                <a:cs typeface="Calibri" pitchFamily="34" charset="-120"/>
              </a:rPr>
              <a:t>The Smart Process Management System is a Linux-based application engineered to give students a hands-on, working window into one of the operating system's most fundamental responsibilities: the creation, coordination, and retirement of processes. Rather than treating process management as an abstract textbook diagram, the project translates it into an interactive program that a user can actually run, observe, and manipulate in real time. At its core, the system is built directly on top of the POSIX system-call interface exposed by the Linux kernel, invoking fork() to spin up new processes, exec() to load and run new executable images inside them, wait() to synchronize a parent with its children, and kill() to deliver termination and control signals. Two supporting calls, getpid() and getppid(), let the program continuously report the identity of every process it creates, so the parent-child relationships that usually stay hidden inside the kernel become visible on screen.</a:t>
            </a:r>
            <a:endParaRPr lang="en-US" sz="1100" dirty="0"/>
          </a:p>
          <a:p>
            <a:pPr algn="l" indent="0" marL="0">
              <a:lnSpc>
                <a:spcPct val="124000"/>
              </a:lnSpc>
              <a:buNone/>
            </a:pPr>
            <a:endParaRPr lang="en-US" sz="1100" dirty="0"/>
          </a:p>
          <a:p>
            <a:pPr algn="l" indent="0" marL="0">
              <a:lnSpc>
                <a:spcPct val="124000"/>
              </a:lnSpc>
              <a:buNone/>
            </a:pPr>
            <a:r>
              <a:rPr lang="en-US" sz="1100" dirty="0">
                <a:solidFill>
                  <a:srgbClr val="9BA7B4"/>
                </a:solidFill>
                <a:latin typeface="Calibri" pitchFamily="34" charset="0"/>
                <a:ea typeface="Calibri" pitchFamily="34" charset="-122"/>
                <a:cs typeface="Calibri" pitchFamily="34" charset="-120"/>
              </a:rPr>
              <a:t>Beyond simply calling these functions, the project bridges classroom theory with practical Linux systems programming: every menu operation maps to a real kernel interaction, and the observed output is explained in terms of the underlying process lifecycle — creation, ready, running, waiting, and termination — producing a reusable foundation for more advanced monitoring and automation tools.</a:t>
            </a:r>
            <a:endParaRPr lang="en-US" sz="1100" dirty="0"/>
          </a:p>
        </p:txBody>
      </p:sp>
      <p:sp>
        <p:nvSpPr>
          <p:cNvPr id="11" name="Shape 7"/>
          <p:cNvSpPr/>
          <p:nvPr/>
        </p:nvSpPr>
        <p:spPr>
          <a:xfrm>
            <a:off x="8001000" y="1600200"/>
            <a:ext cx="3703320" cy="4617720"/>
          </a:xfrm>
          <a:prstGeom prst="roundRect">
            <a:avLst>
              <a:gd name="adj" fmla="val 2222"/>
            </a:avLst>
          </a:prstGeom>
          <a:solidFill>
            <a:srgbClr val="1B2430"/>
          </a:solidFill>
          <a:ln w="12700">
            <a:solidFill>
              <a:srgbClr val="2A3441"/>
            </a:solidFill>
            <a:prstDash val="solid"/>
          </a:ln>
          <a:effectLst>
            <a:outerShdw sx="100000" sy="100000" kx="0" ky="0" algn="bl" rotWithShape="0" blurRad="127000" dist="38100" dir="5400000">
              <a:srgbClr val="000000">
                <a:alpha val="35000"/>
              </a:srgbClr>
            </a:outerShdw>
          </a:effectLst>
        </p:spPr>
      </p:sp>
      <p:sp>
        <p:nvSpPr>
          <p:cNvPr id="12" name="Text 8"/>
          <p:cNvSpPr/>
          <p:nvPr/>
        </p:nvSpPr>
        <p:spPr>
          <a:xfrm>
            <a:off x="8321040" y="1874520"/>
            <a:ext cx="3063240" cy="365760"/>
          </a:xfrm>
          <a:prstGeom prst="rect">
            <a:avLst/>
          </a:prstGeom>
          <a:noFill/>
          <a:ln/>
        </p:spPr>
        <p:txBody>
          <a:bodyPr wrap="square" rtlCol="0" anchor="ctr"/>
          <a:lstStyle/>
          <a:p>
            <a:pPr indent="0" marL="0">
              <a:buNone/>
            </a:pPr>
            <a:r>
              <a:rPr lang="en-US" sz="1500" b="1" dirty="0">
                <a:solidFill>
                  <a:srgbClr val="39D98A"/>
                </a:solidFill>
                <a:latin typeface="Cambria" pitchFamily="34" charset="0"/>
                <a:ea typeface="Cambria" pitchFamily="34" charset="-122"/>
                <a:cs typeface="Cambria" pitchFamily="34" charset="-120"/>
              </a:rPr>
              <a:t>At a Glance</a:t>
            </a:r>
            <a:endParaRPr lang="en-US" sz="1500" dirty="0"/>
          </a:p>
        </p:txBody>
      </p:sp>
      <p:sp>
        <p:nvSpPr>
          <p:cNvPr id="13" name="Shape 9"/>
          <p:cNvSpPr/>
          <p:nvPr/>
        </p:nvSpPr>
        <p:spPr>
          <a:xfrm>
            <a:off x="8293608" y="2377440"/>
            <a:ext cx="402336" cy="402336"/>
          </a:xfrm>
          <a:prstGeom prst="ellipse">
            <a:avLst/>
          </a:prstGeom>
          <a:solidFill>
            <a:srgbClr val="20293A"/>
          </a:solidFill>
          <a:ln w="12700">
            <a:solidFill>
              <a:srgbClr val="2A3441"/>
            </a:solidFill>
            <a:prstDash val="solid"/>
          </a:ln>
        </p:spPr>
      </p:sp>
      <p:pic>
        <p:nvPicPr>
          <p:cNvPr id="14" name="Image 2" descr="/home/claude/build/assets/icons/chip_39D98A.png">    </p:cNvPr>
          <p:cNvPicPr>
            <a:picLocks noChangeAspect="1"/>
          </p:cNvPicPr>
          <p:nvPr/>
        </p:nvPicPr>
        <p:blipFill>
          <a:blip r:embed="rId3"/>
          <a:stretch>
            <a:fillRect/>
          </a:stretch>
        </p:blipFill>
        <p:spPr>
          <a:xfrm>
            <a:off x="8384134" y="2467966"/>
            <a:ext cx="221285" cy="221285"/>
          </a:xfrm>
          <a:prstGeom prst="rect">
            <a:avLst/>
          </a:prstGeom>
        </p:spPr>
      </p:pic>
      <p:sp>
        <p:nvSpPr>
          <p:cNvPr id="15" name="Text 10"/>
          <p:cNvSpPr/>
          <p:nvPr/>
        </p:nvSpPr>
        <p:spPr>
          <a:xfrm>
            <a:off x="8823960" y="2350008"/>
            <a:ext cx="2606040" cy="228600"/>
          </a:xfrm>
          <a:prstGeom prst="rect">
            <a:avLst/>
          </a:prstGeom>
          <a:noFill/>
          <a:ln/>
        </p:spPr>
        <p:txBody>
          <a:bodyPr wrap="square" rtlCol="0" anchor="ctr"/>
          <a:lstStyle/>
          <a:p>
            <a:pPr indent="0" marL="0">
              <a:buNone/>
            </a:pPr>
            <a:r>
              <a:rPr lang="en-US" sz="950" b="1" spc="100" kern="0" dirty="0">
                <a:solidFill>
                  <a:srgbClr val="58A6FF"/>
                </a:solidFill>
                <a:latin typeface="Calibri" pitchFamily="34" charset="0"/>
                <a:ea typeface="Calibri" pitchFamily="34" charset="-122"/>
                <a:cs typeface="Calibri" pitchFamily="34" charset="-120"/>
              </a:rPr>
              <a:t>PLATFORM</a:t>
            </a:r>
            <a:endParaRPr lang="en-US" sz="950" dirty="0"/>
          </a:p>
        </p:txBody>
      </p:sp>
      <p:sp>
        <p:nvSpPr>
          <p:cNvPr id="16" name="Text 11"/>
          <p:cNvSpPr/>
          <p:nvPr/>
        </p:nvSpPr>
        <p:spPr>
          <a:xfrm>
            <a:off x="8823960" y="2560320"/>
            <a:ext cx="2606040" cy="457200"/>
          </a:xfrm>
          <a:prstGeom prst="rect">
            <a:avLst/>
          </a:prstGeom>
          <a:noFill/>
          <a:ln/>
        </p:spPr>
        <p:txBody>
          <a:bodyPr wrap="square" rtlCol="0" anchor="ctr"/>
          <a:lstStyle/>
          <a:p>
            <a:pPr indent="0" marL="0">
              <a:lnSpc>
                <a:spcPct val="110000"/>
              </a:lnSpc>
              <a:buNone/>
            </a:pPr>
            <a:r>
              <a:rPr lang="en-US" sz="1050" dirty="0">
                <a:solidFill>
                  <a:srgbClr val="9BA7B4"/>
                </a:solidFill>
                <a:latin typeface="Calibri" pitchFamily="34" charset="0"/>
                <a:ea typeface="Calibri" pitchFamily="34" charset="-122"/>
                <a:cs typeface="Calibri" pitchFamily="34" charset="-120"/>
              </a:rPr>
              <a:t>Linux kernel (POSIX system-call interface)</a:t>
            </a:r>
            <a:endParaRPr lang="en-US" sz="1050" dirty="0"/>
          </a:p>
        </p:txBody>
      </p:sp>
      <p:sp>
        <p:nvSpPr>
          <p:cNvPr id="17" name="Shape 12"/>
          <p:cNvSpPr/>
          <p:nvPr/>
        </p:nvSpPr>
        <p:spPr>
          <a:xfrm>
            <a:off x="8293608" y="3154680"/>
            <a:ext cx="402336" cy="402336"/>
          </a:xfrm>
          <a:prstGeom prst="ellipse">
            <a:avLst/>
          </a:prstGeom>
          <a:solidFill>
            <a:srgbClr val="20293A"/>
          </a:solidFill>
          <a:ln w="12700">
            <a:solidFill>
              <a:srgbClr val="2A3441"/>
            </a:solidFill>
            <a:prstDash val="solid"/>
          </a:ln>
        </p:spPr>
      </p:sp>
      <p:pic>
        <p:nvPicPr>
          <p:cNvPr id="18" name="Image 3" descr="/home/claude/build/assets/icons/code_39D98A.png">    </p:cNvPr>
          <p:cNvPicPr>
            <a:picLocks noChangeAspect="1"/>
          </p:cNvPicPr>
          <p:nvPr/>
        </p:nvPicPr>
        <p:blipFill>
          <a:blip r:embed="rId4"/>
          <a:stretch>
            <a:fillRect/>
          </a:stretch>
        </p:blipFill>
        <p:spPr>
          <a:xfrm>
            <a:off x="8384134" y="3245206"/>
            <a:ext cx="221285" cy="221285"/>
          </a:xfrm>
          <a:prstGeom prst="rect">
            <a:avLst/>
          </a:prstGeom>
        </p:spPr>
      </p:pic>
      <p:sp>
        <p:nvSpPr>
          <p:cNvPr id="19" name="Text 13"/>
          <p:cNvSpPr/>
          <p:nvPr/>
        </p:nvSpPr>
        <p:spPr>
          <a:xfrm>
            <a:off x="8823960" y="3127248"/>
            <a:ext cx="2606040" cy="228600"/>
          </a:xfrm>
          <a:prstGeom prst="rect">
            <a:avLst/>
          </a:prstGeom>
          <a:noFill/>
          <a:ln/>
        </p:spPr>
        <p:txBody>
          <a:bodyPr wrap="square" rtlCol="0" anchor="ctr"/>
          <a:lstStyle/>
          <a:p>
            <a:pPr indent="0" marL="0">
              <a:buNone/>
            </a:pPr>
            <a:r>
              <a:rPr lang="en-US" sz="950" b="1" spc="100" kern="0" dirty="0">
                <a:solidFill>
                  <a:srgbClr val="58A6FF"/>
                </a:solidFill>
                <a:latin typeface="Calibri" pitchFamily="34" charset="0"/>
                <a:ea typeface="Calibri" pitchFamily="34" charset="-122"/>
                <a:cs typeface="Calibri" pitchFamily="34" charset="-120"/>
              </a:rPr>
              <a:t>LANGUAGE</a:t>
            </a:r>
            <a:endParaRPr lang="en-US" sz="950" dirty="0"/>
          </a:p>
        </p:txBody>
      </p:sp>
      <p:sp>
        <p:nvSpPr>
          <p:cNvPr id="20" name="Text 14"/>
          <p:cNvSpPr/>
          <p:nvPr/>
        </p:nvSpPr>
        <p:spPr>
          <a:xfrm>
            <a:off x="8823960" y="3337560"/>
            <a:ext cx="2606040" cy="457200"/>
          </a:xfrm>
          <a:prstGeom prst="rect">
            <a:avLst/>
          </a:prstGeom>
          <a:noFill/>
          <a:ln/>
        </p:spPr>
        <p:txBody>
          <a:bodyPr wrap="square" rtlCol="0" anchor="ctr"/>
          <a:lstStyle/>
          <a:p>
            <a:pPr indent="0" marL="0">
              <a:lnSpc>
                <a:spcPct val="110000"/>
              </a:lnSpc>
              <a:buNone/>
            </a:pPr>
            <a:r>
              <a:rPr lang="en-US" sz="1050" dirty="0">
                <a:solidFill>
                  <a:srgbClr val="9BA7B4"/>
                </a:solidFill>
                <a:latin typeface="Calibri" pitchFamily="34" charset="0"/>
                <a:ea typeface="Calibri" pitchFamily="34" charset="-122"/>
                <a:cs typeface="Calibri" pitchFamily="34" charset="-120"/>
              </a:rPr>
              <a:t>C, compiled with GCC</a:t>
            </a:r>
            <a:endParaRPr lang="en-US" sz="1050" dirty="0"/>
          </a:p>
        </p:txBody>
      </p:sp>
      <p:sp>
        <p:nvSpPr>
          <p:cNvPr id="21" name="Shape 15"/>
          <p:cNvSpPr/>
          <p:nvPr/>
        </p:nvSpPr>
        <p:spPr>
          <a:xfrm>
            <a:off x="8293608" y="3931920"/>
            <a:ext cx="402336" cy="402336"/>
          </a:xfrm>
          <a:prstGeom prst="ellipse">
            <a:avLst/>
          </a:prstGeom>
          <a:solidFill>
            <a:srgbClr val="20293A"/>
          </a:solidFill>
          <a:ln w="12700">
            <a:solidFill>
              <a:srgbClr val="2A3441"/>
            </a:solidFill>
            <a:prstDash val="solid"/>
          </a:ln>
        </p:spPr>
      </p:sp>
      <p:pic>
        <p:nvPicPr>
          <p:cNvPr id="22" name="Image 4" descr="/home/claude/build/assets/icons/sync_39D98A.png">    </p:cNvPr>
          <p:cNvPicPr>
            <a:picLocks noChangeAspect="1"/>
          </p:cNvPicPr>
          <p:nvPr/>
        </p:nvPicPr>
        <p:blipFill>
          <a:blip r:embed="rId5"/>
          <a:stretch>
            <a:fillRect/>
          </a:stretch>
        </p:blipFill>
        <p:spPr>
          <a:xfrm>
            <a:off x="8384134" y="4022446"/>
            <a:ext cx="221285" cy="221285"/>
          </a:xfrm>
          <a:prstGeom prst="rect">
            <a:avLst/>
          </a:prstGeom>
        </p:spPr>
      </p:pic>
      <p:sp>
        <p:nvSpPr>
          <p:cNvPr id="23" name="Text 16"/>
          <p:cNvSpPr/>
          <p:nvPr/>
        </p:nvSpPr>
        <p:spPr>
          <a:xfrm>
            <a:off x="8823960" y="3904488"/>
            <a:ext cx="2606040" cy="228600"/>
          </a:xfrm>
          <a:prstGeom prst="rect">
            <a:avLst/>
          </a:prstGeom>
          <a:noFill/>
          <a:ln/>
        </p:spPr>
        <p:txBody>
          <a:bodyPr wrap="square" rtlCol="0" anchor="ctr"/>
          <a:lstStyle/>
          <a:p>
            <a:pPr indent="0" marL="0">
              <a:buNone/>
            </a:pPr>
            <a:r>
              <a:rPr lang="en-US" sz="950" b="1" spc="100" kern="0" dirty="0">
                <a:solidFill>
                  <a:srgbClr val="58A6FF"/>
                </a:solidFill>
                <a:latin typeface="Calibri" pitchFamily="34" charset="0"/>
                <a:ea typeface="Calibri" pitchFamily="34" charset="-122"/>
                <a:cs typeface="Calibri" pitchFamily="34" charset="-120"/>
              </a:rPr>
              <a:t>CORE CALLS</a:t>
            </a:r>
            <a:endParaRPr lang="en-US" sz="950" dirty="0"/>
          </a:p>
        </p:txBody>
      </p:sp>
      <p:sp>
        <p:nvSpPr>
          <p:cNvPr id="24" name="Text 17"/>
          <p:cNvSpPr/>
          <p:nvPr/>
        </p:nvSpPr>
        <p:spPr>
          <a:xfrm>
            <a:off x="8823960" y="4114800"/>
            <a:ext cx="2606040" cy="457200"/>
          </a:xfrm>
          <a:prstGeom prst="rect">
            <a:avLst/>
          </a:prstGeom>
          <a:noFill/>
          <a:ln/>
        </p:spPr>
        <p:txBody>
          <a:bodyPr wrap="square" rtlCol="0" anchor="ctr"/>
          <a:lstStyle/>
          <a:p>
            <a:pPr indent="0" marL="0">
              <a:lnSpc>
                <a:spcPct val="110000"/>
              </a:lnSpc>
              <a:buNone/>
            </a:pPr>
            <a:r>
              <a:rPr lang="en-US" sz="1050" dirty="0">
                <a:solidFill>
                  <a:srgbClr val="9BA7B4"/>
                </a:solidFill>
                <a:latin typeface="Calibri" pitchFamily="34" charset="0"/>
                <a:ea typeface="Calibri" pitchFamily="34" charset="-122"/>
                <a:cs typeface="Calibri" pitchFamily="34" charset="-120"/>
              </a:rPr>
              <a:t>fork(), exec(), wait(), kill(), getpid(), getppid()</a:t>
            </a:r>
            <a:endParaRPr lang="en-US" sz="1050" dirty="0"/>
          </a:p>
        </p:txBody>
      </p:sp>
      <p:sp>
        <p:nvSpPr>
          <p:cNvPr id="25" name="Shape 18"/>
          <p:cNvSpPr/>
          <p:nvPr/>
        </p:nvSpPr>
        <p:spPr>
          <a:xfrm>
            <a:off x="8293608" y="4709160"/>
            <a:ext cx="402336" cy="402336"/>
          </a:xfrm>
          <a:prstGeom prst="ellipse">
            <a:avLst/>
          </a:prstGeom>
          <a:solidFill>
            <a:srgbClr val="20293A"/>
          </a:solidFill>
          <a:ln w="12700">
            <a:solidFill>
              <a:srgbClr val="2A3441"/>
            </a:solidFill>
            <a:prstDash val="solid"/>
          </a:ln>
        </p:spPr>
      </p:sp>
      <p:pic>
        <p:nvPicPr>
          <p:cNvPr id="26" name="Image 5" descr="/home/claude/build/assets/icons/desktop_39D98A.png">    </p:cNvPr>
          <p:cNvPicPr>
            <a:picLocks noChangeAspect="1"/>
          </p:cNvPicPr>
          <p:nvPr/>
        </p:nvPicPr>
        <p:blipFill>
          <a:blip r:embed="rId6"/>
          <a:stretch>
            <a:fillRect/>
          </a:stretch>
        </p:blipFill>
        <p:spPr>
          <a:xfrm>
            <a:off x="8384134" y="4799686"/>
            <a:ext cx="221285" cy="221285"/>
          </a:xfrm>
          <a:prstGeom prst="rect">
            <a:avLst/>
          </a:prstGeom>
        </p:spPr>
      </p:pic>
      <p:sp>
        <p:nvSpPr>
          <p:cNvPr id="27" name="Text 19"/>
          <p:cNvSpPr/>
          <p:nvPr/>
        </p:nvSpPr>
        <p:spPr>
          <a:xfrm>
            <a:off x="8823960" y="4681728"/>
            <a:ext cx="2606040" cy="228600"/>
          </a:xfrm>
          <a:prstGeom prst="rect">
            <a:avLst/>
          </a:prstGeom>
          <a:noFill/>
          <a:ln/>
        </p:spPr>
        <p:txBody>
          <a:bodyPr wrap="square" rtlCol="0" anchor="ctr"/>
          <a:lstStyle/>
          <a:p>
            <a:pPr indent="0" marL="0">
              <a:buNone/>
            </a:pPr>
            <a:r>
              <a:rPr lang="en-US" sz="950" b="1" spc="100" kern="0" dirty="0">
                <a:solidFill>
                  <a:srgbClr val="58A6FF"/>
                </a:solidFill>
                <a:latin typeface="Calibri" pitchFamily="34" charset="0"/>
                <a:ea typeface="Calibri" pitchFamily="34" charset="-122"/>
                <a:cs typeface="Calibri" pitchFamily="34" charset="-120"/>
              </a:rPr>
              <a:t>INTERFACE</a:t>
            </a:r>
            <a:endParaRPr lang="en-US" sz="950" dirty="0"/>
          </a:p>
        </p:txBody>
      </p:sp>
      <p:sp>
        <p:nvSpPr>
          <p:cNvPr id="28" name="Text 20"/>
          <p:cNvSpPr/>
          <p:nvPr/>
        </p:nvSpPr>
        <p:spPr>
          <a:xfrm>
            <a:off x="8823960" y="4892040"/>
            <a:ext cx="2606040" cy="457200"/>
          </a:xfrm>
          <a:prstGeom prst="rect">
            <a:avLst/>
          </a:prstGeom>
          <a:noFill/>
          <a:ln/>
        </p:spPr>
        <p:txBody>
          <a:bodyPr wrap="square" rtlCol="0" anchor="ctr"/>
          <a:lstStyle/>
          <a:p>
            <a:pPr indent="0" marL="0">
              <a:lnSpc>
                <a:spcPct val="110000"/>
              </a:lnSpc>
              <a:buNone/>
            </a:pPr>
            <a:r>
              <a:rPr lang="en-US" sz="1050" dirty="0">
                <a:solidFill>
                  <a:srgbClr val="9BA7B4"/>
                </a:solidFill>
                <a:latin typeface="Calibri" pitchFamily="34" charset="0"/>
                <a:ea typeface="Calibri" pitchFamily="34" charset="-122"/>
                <a:cs typeface="Calibri" pitchFamily="34" charset="-120"/>
              </a:rPr>
              <a:t>Interactive command-line menu system</a:t>
            </a:r>
            <a:endParaRPr lang="en-US" sz="1050" dirty="0"/>
          </a:p>
        </p:txBody>
      </p:sp>
      <p:sp>
        <p:nvSpPr>
          <p:cNvPr id="29" name="Shape 21"/>
          <p:cNvSpPr/>
          <p:nvPr/>
        </p:nvSpPr>
        <p:spPr>
          <a:xfrm>
            <a:off x="8293608" y="5486400"/>
            <a:ext cx="402336" cy="402336"/>
          </a:xfrm>
          <a:prstGeom prst="ellipse">
            <a:avLst/>
          </a:prstGeom>
          <a:solidFill>
            <a:srgbClr val="20293A"/>
          </a:solidFill>
          <a:ln w="12700">
            <a:solidFill>
              <a:srgbClr val="2A3441"/>
            </a:solidFill>
            <a:prstDash val="solid"/>
          </a:ln>
        </p:spPr>
      </p:sp>
      <p:pic>
        <p:nvPicPr>
          <p:cNvPr id="30" name="Image 6" descr="/home/claude/build/assets/icons/bullseye_39D98A.png">    </p:cNvPr>
          <p:cNvPicPr>
            <a:picLocks noChangeAspect="1"/>
          </p:cNvPicPr>
          <p:nvPr/>
        </p:nvPicPr>
        <p:blipFill>
          <a:blip r:embed="rId7"/>
          <a:stretch>
            <a:fillRect/>
          </a:stretch>
        </p:blipFill>
        <p:spPr>
          <a:xfrm>
            <a:off x="8384134" y="5576926"/>
            <a:ext cx="221285" cy="221285"/>
          </a:xfrm>
          <a:prstGeom prst="rect">
            <a:avLst/>
          </a:prstGeom>
        </p:spPr>
      </p:pic>
      <p:sp>
        <p:nvSpPr>
          <p:cNvPr id="31" name="Text 22"/>
          <p:cNvSpPr/>
          <p:nvPr/>
        </p:nvSpPr>
        <p:spPr>
          <a:xfrm>
            <a:off x="8823960" y="5458968"/>
            <a:ext cx="2606040" cy="228600"/>
          </a:xfrm>
          <a:prstGeom prst="rect">
            <a:avLst/>
          </a:prstGeom>
          <a:noFill/>
          <a:ln/>
        </p:spPr>
        <p:txBody>
          <a:bodyPr wrap="square" rtlCol="0" anchor="ctr"/>
          <a:lstStyle/>
          <a:p>
            <a:pPr indent="0" marL="0">
              <a:buNone/>
            </a:pPr>
            <a:r>
              <a:rPr lang="en-US" sz="950" b="1" spc="100" kern="0" dirty="0">
                <a:solidFill>
                  <a:srgbClr val="58A6FF"/>
                </a:solidFill>
                <a:latin typeface="Calibri" pitchFamily="34" charset="0"/>
                <a:ea typeface="Calibri" pitchFamily="34" charset="-122"/>
                <a:cs typeface="Calibri" pitchFamily="34" charset="-120"/>
              </a:rPr>
              <a:t>FOCUS</a:t>
            </a:r>
            <a:endParaRPr lang="en-US" sz="950" dirty="0"/>
          </a:p>
        </p:txBody>
      </p:sp>
      <p:sp>
        <p:nvSpPr>
          <p:cNvPr id="32" name="Text 23"/>
          <p:cNvSpPr/>
          <p:nvPr/>
        </p:nvSpPr>
        <p:spPr>
          <a:xfrm>
            <a:off x="8823960" y="5669280"/>
            <a:ext cx="2606040" cy="457200"/>
          </a:xfrm>
          <a:prstGeom prst="rect">
            <a:avLst/>
          </a:prstGeom>
          <a:noFill/>
          <a:ln/>
        </p:spPr>
        <p:txBody>
          <a:bodyPr wrap="square" rtlCol="0" anchor="ctr"/>
          <a:lstStyle/>
          <a:p>
            <a:pPr indent="0" marL="0">
              <a:lnSpc>
                <a:spcPct val="110000"/>
              </a:lnSpc>
              <a:buNone/>
            </a:pPr>
            <a:r>
              <a:rPr lang="en-US" sz="1050" dirty="0">
                <a:solidFill>
                  <a:srgbClr val="9BA7B4"/>
                </a:solidFill>
                <a:latin typeface="Calibri" pitchFamily="34" charset="0"/>
                <a:ea typeface="Calibri" pitchFamily="34" charset="-122"/>
                <a:cs typeface="Calibri" pitchFamily="34" charset="-120"/>
              </a:rPr>
              <a:t>Bridging OS theory with real kernel behaviour</a:t>
            </a:r>
            <a:endParaRPr lang="en-US" sz="1050" dirty="0"/>
          </a:p>
        </p:txBody>
      </p:sp>
      <p:sp>
        <p:nvSpPr>
          <p:cNvPr id="33" name="Text 24"/>
          <p:cNvSpPr/>
          <p:nvPr/>
        </p:nvSpPr>
        <p:spPr>
          <a:xfrm>
            <a:off x="457200" y="6473952"/>
            <a:ext cx="7315200" cy="274320"/>
          </a:xfrm>
          <a:prstGeom prst="rect">
            <a:avLst/>
          </a:prstGeom>
          <a:noFill/>
          <a:ln/>
        </p:spPr>
        <p:txBody>
          <a:bodyPr wrap="square" rtlCol="0" anchor="ctr"/>
          <a:lstStyle/>
          <a:p>
            <a:pPr algn="l" indent="0" marL="0">
              <a:buNone/>
            </a:pPr>
            <a:r>
              <a:rPr lang="en-US" sz="900" spc="100" kern="0" dirty="0">
                <a:solidFill>
                  <a:srgbClr val="9BA7B4"/>
                </a:solidFill>
                <a:latin typeface="Calibri" pitchFamily="34" charset="0"/>
                <a:ea typeface="Calibri" pitchFamily="34" charset="-122"/>
                <a:cs typeface="Calibri" pitchFamily="34" charset="-120"/>
              </a:rPr>
              <a:t>SMART PROCESS MANAGEMENT  •  LINUX SYSTEM CALLS</a:t>
            </a:r>
            <a:endParaRPr lang="en-US" sz="900" dirty="0"/>
          </a:p>
        </p:txBody>
      </p:sp>
      <p:sp>
        <p:nvSpPr>
          <p:cNvPr id="34" name="Text 25"/>
          <p:cNvSpPr/>
          <p:nvPr/>
        </p:nvSpPr>
        <p:spPr>
          <a:xfrm>
            <a:off x="11277295" y="6473952"/>
            <a:ext cx="457200" cy="274320"/>
          </a:xfrm>
          <a:prstGeom prst="rect">
            <a:avLst/>
          </a:prstGeom>
          <a:noFill/>
          <a:ln/>
        </p:spPr>
        <p:txBody>
          <a:bodyPr wrap="square" rtlCol="0" anchor="ctr"/>
          <a:lstStyle/>
          <a:p>
            <a:pPr algn="r" indent="0" marL="0">
              <a:buNone/>
            </a:pPr>
            <a:r>
              <a:rPr lang="en-US" sz="900" dirty="0">
                <a:solidFill>
                  <a:srgbClr val="9BA7B4"/>
                </a:solidFill>
                <a:latin typeface="Calibri" pitchFamily="34" charset="0"/>
                <a:ea typeface="Calibri" pitchFamily="34" charset="-122"/>
                <a:cs typeface="Calibri" pitchFamily="34" charset="-120"/>
              </a:rPr>
              <a:t>02</a:t>
            </a:r>
            <a:endParaRPr lang="en-US" sz="9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0D1117"/>
        </a:solidFill>
      </p:bgPr>
    </p:bg>
    <p:spTree>
      <p:nvGrpSpPr>
        <p:cNvPr id="1" name=""/>
        <p:cNvGrpSpPr/>
        <p:nvPr/>
      </p:nvGrpSpPr>
      <p:grpSpPr>
        <a:xfrm>
          <a:off x="0" y="0"/>
          <a:ext cx="0" cy="0"/>
          <a:chOff x="0" y="0"/>
          <a:chExt cx="0" cy="0"/>
        </a:xfrm>
      </p:grpSpPr>
      <p:pic>
        <p:nvPicPr>
          <p:cNvPr id="2" name="Image 0" descr="/home/claude/build/assets/bg_panel.png">    </p:cNvPr>
          <p:cNvPicPr>
            <a:picLocks noChangeAspect="1"/>
          </p:cNvPicPr>
          <p:nvPr/>
        </p:nvPicPr>
        <p:blipFill>
          <a:blip r:embed="rId1"/>
          <a:stretch>
            <a:fillRect/>
          </a:stretch>
        </p:blipFill>
        <p:spPr>
          <a:xfrm>
            <a:off x="0" y="0"/>
            <a:ext cx="12191695" cy="6858000"/>
          </a:xfrm>
          <a:prstGeom prst="rect">
            <a:avLst/>
          </a:prstGeom>
        </p:spPr>
      </p:pic>
      <p:sp>
        <p:nvSpPr>
          <p:cNvPr id="3" name="Shape 0"/>
          <p:cNvSpPr/>
          <p:nvPr/>
        </p:nvSpPr>
        <p:spPr>
          <a:xfrm>
            <a:off x="502920" y="457200"/>
            <a:ext cx="128016" cy="128016"/>
          </a:xfrm>
          <a:prstGeom prst="roundRect">
            <a:avLst>
              <a:gd name="adj" fmla="val 50000"/>
            </a:avLst>
          </a:prstGeom>
          <a:solidFill>
            <a:srgbClr val="39D98A"/>
          </a:solidFill>
          <a:ln/>
        </p:spPr>
      </p:sp>
      <p:sp>
        <p:nvSpPr>
          <p:cNvPr id="4" name="Text 1"/>
          <p:cNvSpPr/>
          <p:nvPr/>
        </p:nvSpPr>
        <p:spPr>
          <a:xfrm>
            <a:off x="713232" y="393192"/>
            <a:ext cx="5486400" cy="274320"/>
          </a:xfrm>
          <a:prstGeom prst="rect">
            <a:avLst/>
          </a:prstGeom>
          <a:noFill/>
          <a:ln/>
        </p:spPr>
        <p:txBody>
          <a:bodyPr wrap="square" rtlCol="0" anchor="ctr"/>
          <a:lstStyle/>
          <a:p>
            <a:pPr indent="0" marL="0">
              <a:buNone/>
            </a:pPr>
            <a:r>
              <a:rPr lang="en-US" sz="1250" b="1" spc="200" kern="0" dirty="0">
                <a:solidFill>
                  <a:srgbClr val="39D98A"/>
                </a:solidFill>
                <a:latin typeface="Calibri" pitchFamily="34" charset="0"/>
                <a:ea typeface="Calibri" pitchFamily="34" charset="-122"/>
                <a:cs typeface="Calibri" pitchFamily="34" charset="-120"/>
              </a:rPr>
              <a:t>INTRODUCTION</a:t>
            </a:r>
            <a:endParaRPr lang="en-US" sz="1250" dirty="0"/>
          </a:p>
        </p:txBody>
      </p:sp>
      <p:sp>
        <p:nvSpPr>
          <p:cNvPr id="5" name="Text 2"/>
          <p:cNvSpPr/>
          <p:nvPr/>
        </p:nvSpPr>
        <p:spPr>
          <a:xfrm>
            <a:off x="502920" y="713232"/>
            <a:ext cx="10515600" cy="685800"/>
          </a:xfrm>
          <a:prstGeom prst="rect">
            <a:avLst/>
          </a:prstGeom>
          <a:noFill/>
          <a:ln/>
        </p:spPr>
        <p:txBody>
          <a:bodyPr wrap="square" rtlCol="0" anchor="ctr"/>
          <a:lstStyle/>
          <a:p>
            <a:pPr algn="l" indent="0" marL="0">
              <a:buNone/>
            </a:pPr>
            <a:r>
              <a:rPr lang="en-US" sz="3000" b="1" dirty="0">
                <a:solidFill>
                  <a:srgbClr val="E6EDF3"/>
                </a:solidFill>
                <a:latin typeface="Cambria" pitchFamily="34" charset="0"/>
                <a:ea typeface="Cambria" pitchFamily="34" charset="-122"/>
                <a:cs typeface="Cambria" pitchFamily="34" charset="-120"/>
              </a:rPr>
              <a:t>Why Process Management Matters</a:t>
            </a:r>
            <a:endParaRPr lang="en-US" sz="3000" dirty="0"/>
          </a:p>
        </p:txBody>
      </p:sp>
      <p:sp>
        <p:nvSpPr>
          <p:cNvPr id="6" name="Text 3"/>
          <p:cNvSpPr/>
          <p:nvPr/>
        </p:nvSpPr>
        <p:spPr>
          <a:xfrm>
            <a:off x="502920" y="1645920"/>
            <a:ext cx="6858000" cy="2514600"/>
          </a:xfrm>
          <a:prstGeom prst="rect">
            <a:avLst/>
          </a:prstGeom>
          <a:noFill/>
          <a:ln/>
        </p:spPr>
        <p:txBody>
          <a:bodyPr wrap="square" rtlCol="0" anchor="t"/>
          <a:lstStyle/>
          <a:p>
            <a:pPr indent="0" marL="0">
              <a:lnSpc>
                <a:spcPct val="128000"/>
              </a:lnSpc>
              <a:buNone/>
            </a:pPr>
            <a:r>
              <a:rPr lang="en-US" sz="1200" dirty="0">
                <a:solidFill>
                  <a:srgbClr val="9BA7B4"/>
                </a:solidFill>
                <a:latin typeface="Calibri" pitchFamily="34" charset="0"/>
                <a:ea typeface="Calibri" pitchFamily="34" charset="-122"/>
                <a:cs typeface="Calibri" pitchFamily="34" charset="-120"/>
              </a:rPr>
              <a:t>Every task an operating system performs — from rendering a desktop to serving a web request — ultimately happens inside a process: an executing instance of a program with its own memory space, register state, and set of open resources. Linux, like every modern multitasking kernel, must be able to create processes on demand, run new programs inside them, track when they finish, and clean up after them, all while keeping hundreds of processes isolated from one another and fairly scheduled on a handful of CPU cores. The mechanisms that make this possible are not abstract theory; they are a small, precise set of system calls that any user-space program can invoke directly, and understanding them is what separates a student who has memorised the process-state diagram from one who can actually reason about how a shell, a server, or a scheduler behaves under the hood.</a:t>
            </a:r>
            <a:endParaRPr lang="en-US" sz="1200" dirty="0"/>
          </a:p>
        </p:txBody>
      </p:sp>
      <p:sp>
        <p:nvSpPr>
          <p:cNvPr id="7" name="Text 4"/>
          <p:cNvSpPr/>
          <p:nvPr/>
        </p:nvSpPr>
        <p:spPr>
          <a:xfrm>
            <a:off x="502920" y="4343400"/>
            <a:ext cx="6858000" cy="1828800"/>
          </a:xfrm>
          <a:prstGeom prst="rect">
            <a:avLst/>
          </a:prstGeom>
          <a:noFill/>
          <a:ln/>
        </p:spPr>
        <p:txBody>
          <a:bodyPr wrap="square" rtlCol="0" anchor="t"/>
          <a:lstStyle/>
          <a:p>
            <a:pPr indent="0" marL="0">
              <a:lnSpc>
                <a:spcPct val="128000"/>
              </a:lnSpc>
              <a:buNone/>
            </a:pPr>
            <a:r>
              <a:rPr lang="en-US" sz="1200" dirty="0">
                <a:solidFill>
                  <a:srgbClr val="9BA7B4"/>
                </a:solidFill>
                <a:latin typeface="Calibri" pitchFamily="34" charset="0"/>
                <a:ea typeface="Calibri" pitchFamily="34" charset="-122"/>
                <a:cs typeface="Calibri" pitchFamily="34" charset="-120"/>
              </a:rPr>
              <a:t>This project was motivated by a simple observation from the classroom: process management is usually taught through diagrams of states and queues, but rarely demonstrated as a live, inspectable system. By building an interactive tool directly around fork(), exec(), wait(), kill(), getpid(), and getppid(), the project gives students a sandbox in which the parent-child relationship, signal delivery, and process termination can be triggered on demand and observed immediately — closing the gap between the operating-systems syllabus and the Linux kernel that actually implements it.</a:t>
            </a:r>
            <a:endParaRPr lang="en-US" sz="1200" dirty="0"/>
          </a:p>
        </p:txBody>
      </p:sp>
      <p:sp>
        <p:nvSpPr>
          <p:cNvPr id="8" name="Shape 5"/>
          <p:cNvSpPr/>
          <p:nvPr/>
        </p:nvSpPr>
        <p:spPr>
          <a:xfrm>
            <a:off x="7863840" y="1691640"/>
            <a:ext cx="3840480" cy="1417320"/>
          </a:xfrm>
          <a:prstGeom prst="roundRect">
            <a:avLst>
              <a:gd name="adj" fmla="val 5806"/>
            </a:avLst>
          </a:prstGeom>
          <a:solidFill>
            <a:srgbClr val="1B2430"/>
          </a:solidFill>
          <a:ln w="12700">
            <a:solidFill>
              <a:srgbClr val="2A3441"/>
            </a:solidFill>
            <a:prstDash val="solid"/>
          </a:ln>
          <a:effectLst>
            <a:outerShdw sx="100000" sy="100000" kx="0" ky="0" algn="bl" rotWithShape="0" blurRad="127000" dist="38100" dir="5400000">
              <a:srgbClr val="000000">
                <a:alpha val="35000"/>
              </a:srgbClr>
            </a:outerShdw>
          </a:effectLst>
        </p:spPr>
      </p:sp>
      <p:sp>
        <p:nvSpPr>
          <p:cNvPr id="9" name="Text 6"/>
          <p:cNvSpPr/>
          <p:nvPr/>
        </p:nvSpPr>
        <p:spPr>
          <a:xfrm>
            <a:off x="8138160" y="1801368"/>
            <a:ext cx="1188720" cy="1188720"/>
          </a:xfrm>
          <a:prstGeom prst="rect">
            <a:avLst/>
          </a:prstGeom>
          <a:noFill/>
          <a:ln/>
        </p:spPr>
        <p:txBody>
          <a:bodyPr wrap="square" rtlCol="0" anchor="ctr"/>
          <a:lstStyle/>
          <a:p>
            <a:pPr indent="0" marL="0">
              <a:buNone/>
            </a:pPr>
            <a:r>
              <a:rPr lang="en-US" sz="4400" b="1" dirty="0">
                <a:solidFill>
                  <a:srgbClr val="39D98A"/>
                </a:solidFill>
                <a:latin typeface="Cambria" pitchFamily="34" charset="0"/>
                <a:ea typeface="Cambria" pitchFamily="34" charset="-122"/>
                <a:cs typeface="Cambria" pitchFamily="34" charset="-120"/>
              </a:rPr>
              <a:t>6</a:t>
            </a:r>
            <a:endParaRPr lang="en-US" sz="4400" dirty="0"/>
          </a:p>
        </p:txBody>
      </p:sp>
      <p:sp>
        <p:nvSpPr>
          <p:cNvPr id="10" name="Text 7"/>
          <p:cNvSpPr/>
          <p:nvPr/>
        </p:nvSpPr>
        <p:spPr>
          <a:xfrm>
            <a:off x="9235440" y="1856232"/>
            <a:ext cx="2240280" cy="1097280"/>
          </a:xfrm>
          <a:prstGeom prst="rect">
            <a:avLst/>
          </a:prstGeom>
          <a:noFill/>
          <a:ln/>
        </p:spPr>
        <p:txBody>
          <a:bodyPr wrap="square" rtlCol="0" anchor="ctr"/>
          <a:lstStyle/>
          <a:p>
            <a:pPr indent="0" marL="0">
              <a:lnSpc>
                <a:spcPct val="120000"/>
              </a:lnSpc>
              <a:buNone/>
            </a:pPr>
            <a:r>
              <a:rPr lang="en-US" sz="1150" dirty="0">
                <a:solidFill>
                  <a:srgbClr val="E6EDF3"/>
                </a:solidFill>
                <a:latin typeface="Calibri" pitchFamily="34" charset="0"/>
                <a:ea typeface="Calibri" pitchFamily="34" charset="-122"/>
                <a:cs typeface="Calibri" pitchFamily="34" charset="-120"/>
              </a:rPr>
              <a:t>Core system calls integrated into a single working demo</a:t>
            </a:r>
            <a:endParaRPr lang="en-US" sz="1150" dirty="0"/>
          </a:p>
        </p:txBody>
      </p:sp>
      <p:sp>
        <p:nvSpPr>
          <p:cNvPr id="11" name="Shape 8"/>
          <p:cNvSpPr/>
          <p:nvPr/>
        </p:nvSpPr>
        <p:spPr>
          <a:xfrm>
            <a:off x="7863840" y="3319272"/>
            <a:ext cx="3840480" cy="1417320"/>
          </a:xfrm>
          <a:prstGeom prst="roundRect">
            <a:avLst>
              <a:gd name="adj" fmla="val 5806"/>
            </a:avLst>
          </a:prstGeom>
          <a:solidFill>
            <a:srgbClr val="1B2430"/>
          </a:solidFill>
          <a:ln w="12700">
            <a:solidFill>
              <a:srgbClr val="2A3441"/>
            </a:solidFill>
            <a:prstDash val="solid"/>
          </a:ln>
          <a:effectLst>
            <a:outerShdw sx="100000" sy="100000" kx="0" ky="0" algn="bl" rotWithShape="0" blurRad="127000" dist="38100" dir="5400000">
              <a:srgbClr val="000000">
                <a:alpha val="35000"/>
              </a:srgbClr>
            </a:outerShdw>
          </a:effectLst>
        </p:spPr>
      </p:sp>
      <p:sp>
        <p:nvSpPr>
          <p:cNvPr id="12" name="Text 9"/>
          <p:cNvSpPr/>
          <p:nvPr/>
        </p:nvSpPr>
        <p:spPr>
          <a:xfrm>
            <a:off x="8138160" y="3429000"/>
            <a:ext cx="1188720" cy="1188720"/>
          </a:xfrm>
          <a:prstGeom prst="rect">
            <a:avLst/>
          </a:prstGeom>
          <a:noFill/>
          <a:ln/>
        </p:spPr>
        <p:txBody>
          <a:bodyPr wrap="square" rtlCol="0" anchor="ctr"/>
          <a:lstStyle/>
          <a:p>
            <a:pPr indent="0" marL="0">
              <a:buNone/>
            </a:pPr>
            <a:r>
              <a:rPr lang="en-US" sz="4400" b="1" dirty="0">
                <a:solidFill>
                  <a:srgbClr val="39D98A"/>
                </a:solidFill>
                <a:latin typeface="Cambria" pitchFamily="34" charset="0"/>
                <a:ea typeface="Cambria" pitchFamily="34" charset="-122"/>
                <a:cs typeface="Cambria" pitchFamily="34" charset="-120"/>
              </a:rPr>
              <a:t>5</a:t>
            </a:r>
            <a:endParaRPr lang="en-US" sz="4400" dirty="0"/>
          </a:p>
        </p:txBody>
      </p:sp>
      <p:sp>
        <p:nvSpPr>
          <p:cNvPr id="13" name="Text 10"/>
          <p:cNvSpPr/>
          <p:nvPr/>
        </p:nvSpPr>
        <p:spPr>
          <a:xfrm>
            <a:off x="9235440" y="3483864"/>
            <a:ext cx="2240280" cy="1097280"/>
          </a:xfrm>
          <a:prstGeom prst="rect">
            <a:avLst/>
          </a:prstGeom>
          <a:noFill/>
          <a:ln/>
        </p:spPr>
        <p:txBody>
          <a:bodyPr wrap="square" rtlCol="0" anchor="ctr"/>
          <a:lstStyle/>
          <a:p>
            <a:pPr indent="0" marL="0">
              <a:lnSpc>
                <a:spcPct val="120000"/>
              </a:lnSpc>
              <a:buNone/>
            </a:pPr>
            <a:r>
              <a:rPr lang="en-US" sz="1150" dirty="0">
                <a:solidFill>
                  <a:srgbClr val="E6EDF3"/>
                </a:solidFill>
                <a:latin typeface="Calibri" pitchFamily="34" charset="0"/>
                <a:ea typeface="Calibri" pitchFamily="34" charset="-122"/>
                <a:cs typeface="Calibri" pitchFamily="34" charset="-120"/>
              </a:rPr>
              <a:t>Process lifecycle states made observable end-to-end</a:t>
            </a:r>
            <a:endParaRPr lang="en-US" sz="1150" dirty="0"/>
          </a:p>
        </p:txBody>
      </p:sp>
      <p:sp>
        <p:nvSpPr>
          <p:cNvPr id="14" name="Shape 11"/>
          <p:cNvSpPr/>
          <p:nvPr/>
        </p:nvSpPr>
        <p:spPr>
          <a:xfrm>
            <a:off x="7863840" y="4946904"/>
            <a:ext cx="3840480" cy="1417320"/>
          </a:xfrm>
          <a:prstGeom prst="roundRect">
            <a:avLst>
              <a:gd name="adj" fmla="val 5806"/>
            </a:avLst>
          </a:prstGeom>
          <a:solidFill>
            <a:srgbClr val="1B2430"/>
          </a:solidFill>
          <a:ln w="12700">
            <a:solidFill>
              <a:srgbClr val="2A3441"/>
            </a:solidFill>
            <a:prstDash val="solid"/>
          </a:ln>
          <a:effectLst>
            <a:outerShdw sx="100000" sy="100000" kx="0" ky="0" algn="bl" rotWithShape="0" blurRad="127000" dist="38100" dir="5400000">
              <a:srgbClr val="000000">
                <a:alpha val="35000"/>
              </a:srgbClr>
            </a:outerShdw>
          </a:effectLst>
        </p:spPr>
      </p:sp>
      <p:sp>
        <p:nvSpPr>
          <p:cNvPr id="15" name="Text 12"/>
          <p:cNvSpPr/>
          <p:nvPr/>
        </p:nvSpPr>
        <p:spPr>
          <a:xfrm>
            <a:off x="8138160" y="5056632"/>
            <a:ext cx="1188720" cy="1188720"/>
          </a:xfrm>
          <a:prstGeom prst="rect">
            <a:avLst/>
          </a:prstGeom>
          <a:noFill/>
          <a:ln/>
        </p:spPr>
        <p:txBody>
          <a:bodyPr wrap="square" rtlCol="0" anchor="ctr"/>
          <a:lstStyle/>
          <a:p>
            <a:pPr indent="0" marL="0">
              <a:buNone/>
            </a:pPr>
            <a:r>
              <a:rPr lang="en-US" sz="4400" b="1" dirty="0">
                <a:solidFill>
                  <a:srgbClr val="39D98A"/>
                </a:solidFill>
                <a:latin typeface="Cambria" pitchFamily="34" charset="0"/>
                <a:ea typeface="Cambria" pitchFamily="34" charset="-122"/>
                <a:cs typeface="Cambria" pitchFamily="34" charset="-120"/>
              </a:rPr>
              <a:t>1</a:t>
            </a:r>
            <a:endParaRPr lang="en-US" sz="4400" dirty="0"/>
          </a:p>
        </p:txBody>
      </p:sp>
      <p:sp>
        <p:nvSpPr>
          <p:cNvPr id="16" name="Text 13"/>
          <p:cNvSpPr/>
          <p:nvPr/>
        </p:nvSpPr>
        <p:spPr>
          <a:xfrm>
            <a:off x="9235440" y="5111496"/>
            <a:ext cx="2240280" cy="1097280"/>
          </a:xfrm>
          <a:prstGeom prst="rect">
            <a:avLst/>
          </a:prstGeom>
          <a:noFill/>
          <a:ln/>
        </p:spPr>
        <p:txBody>
          <a:bodyPr wrap="square" rtlCol="0" anchor="ctr"/>
          <a:lstStyle/>
          <a:p>
            <a:pPr indent="0" marL="0">
              <a:lnSpc>
                <a:spcPct val="120000"/>
              </a:lnSpc>
              <a:buNone/>
            </a:pPr>
            <a:r>
              <a:rPr lang="en-US" sz="1150" dirty="0">
                <a:solidFill>
                  <a:srgbClr val="E6EDF3"/>
                </a:solidFill>
                <a:latin typeface="Calibri" pitchFamily="34" charset="0"/>
                <a:ea typeface="Calibri" pitchFamily="34" charset="-122"/>
                <a:cs typeface="Calibri" pitchFamily="34" charset="-120"/>
              </a:rPr>
              <a:t>Unified interactive interface tying every call together</a:t>
            </a:r>
            <a:endParaRPr lang="en-US" sz="1150" dirty="0"/>
          </a:p>
        </p:txBody>
      </p:sp>
      <p:sp>
        <p:nvSpPr>
          <p:cNvPr id="17" name="Text 14"/>
          <p:cNvSpPr/>
          <p:nvPr/>
        </p:nvSpPr>
        <p:spPr>
          <a:xfrm>
            <a:off x="457200" y="6473952"/>
            <a:ext cx="7315200" cy="274320"/>
          </a:xfrm>
          <a:prstGeom prst="rect">
            <a:avLst/>
          </a:prstGeom>
          <a:noFill/>
          <a:ln/>
        </p:spPr>
        <p:txBody>
          <a:bodyPr wrap="square" rtlCol="0" anchor="ctr"/>
          <a:lstStyle/>
          <a:p>
            <a:pPr algn="l" indent="0" marL="0">
              <a:buNone/>
            </a:pPr>
            <a:r>
              <a:rPr lang="en-US" sz="900" spc="100" kern="0" dirty="0">
                <a:solidFill>
                  <a:srgbClr val="9BA7B4"/>
                </a:solidFill>
                <a:latin typeface="Calibri" pitchFamily="34" charset="0"/>
                <a:ea typeface="Calibri" pitchFamily="34" charset="-122"/>
                <a:cs typeface="Calibri" pitchFamily="34" charset="-120"/>
              </a:rPr>
              <a:t>SMART PROCESS MANAGEMENT  •  LINUX SYSTEM CALLS</a:t>
            </a:r>
            <a:endParaRPr lang="en-US" sz="900" dirty="0"/>
          </a:p>
        </p:txBody>
      </p:sp>
      <p:sp>
        <p:nvSpPr>
          <p:cNvPr id="18" name="Text 15"/>
          <p:cNvSpPr/>
          <p:nvPr/>
        </p:nvSpPr>
        <p:spPr>
          <a:xfrm>
            <a:off x="11277295" y="6473952"/>
            <a:ext cx="457200" cy="274320"/>
          </a:xfrm>
          <a:prstGeom prst="rect">
            <a:avLst/>
          </a:prstGeom>
          <a:noFill/>
          <a:ln/>
        </p:spPr>
        <p:txBody>
          <a:bodyPr wrap="square" rtlCol="0" anchor="ctr"/>
          <a:lstStyle/>
          <a:p>
            <a:pPr algn="r" indent="0" marL="0">
              <a:buNone/>
            </a:pPr>
            <a:r>
              <a:rPr lang="en-US" sz="900" dirty="0">
                <a:solidFill>
                  <a:srgbClr val="9BA7B4"/>
                </a:solidFill>
                <a:latin typeface="Calibri" pitchFamily="34" charset="0"/>
                <a:ea typeface="Calibri" pitchFamily="34" charset="-122"/>
                <a:cs typeface="Calibri" pitchFamily="34" charset="-120"/>
              </a:rPr>
              <a:t>03</a:t>
            </a:r>
            <a:endParaRPr lang="en-US" sz="9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0D1117"/>
        </a:solidFill>
      </p:bgPr>
    </p:bg>
    <p:spTree>
      <p:nvGrpSpPr>
        <p:cNvPr id="1" name=""/>
        <p:cNvGrpSpPr/>
        <p:nvPr/>
      </p:nvGrpSpPr>
      <p:grpSpPr>
        <a:xfrm>
          <a:off x="0" y="0"/>
          <a:ext cx="0" cy="0"/>
          <a:chOff x="0" y="0"/>
          <a:chExt cx="0" cy="0"/>
        </a:xfrm>
      </p:grpSpPr>
      <p:pic>
        <p:nvPicPr>
          <p:cNvPr id="2" name="Image 0" descr="/home/claude/build/assets/bg_panel.png">    </p:cNvPr>
          <p:cNvPicPr>
            <a:picLocks noChangeAspect="1"/>
          </p:cNvPicPr>
          <p:nvPr/>
        </p:nvPicPr>
        <p:blipFill>
          <a:blip r:embed="rId1"/>
          <a:stretch>
            <a:fillRect/>
          </a:stretch>
        </p:blipFill>
        <p:spPr>
          <a:xfrm>
            <a:off x="0" y="0"/>
            <a:ext cx="12191695" cy="6858000"/>
          </a:xfrm>
          <a:prstGeom prst="rect">
            <a:avLst/>
          </a:prstGeom>
        </p:spPr>
      </p:pic>
      <p:sp>
        <p:nvSpPr>
          <p:cNvPr id="3" name="Shape 0"/>
          <p:cNvSpPr/>
          <p:nvPr/>
        </p:nvSpPr>
        <p:spPr>
          <a:xfrm>
            <a:off x="502920" y="457200"/>
            <a:ext cx="128016" cy="128016"/>
          </a:xfrm>
          <a:prstGeom prst="roundRect">
            <a:avLst>
              <a:gd name="adj" fmla="val 50000"/>
            </a:avLst>
          </a:prstGeom>
          <a:solidFill>
            <a:srgbClr val="39D98A"/>
          </a:solidFill>
          <a:ln/>
        </p:spPr>
      </p:sp>
      <p:sp>
        <p:nvSpPr>
          <p:cNvPr id="4" name="Text 1"/>
          <p:cNvSpPr/>
          <p:nvPr/>
        </p:nvSpPr>
        <p:spPr>
          <a:xfrm>
            <a:off x="713232" y="393192"/>
            <a:ext cx="5486400" cy="274320"/>
          </a:xfrm>
          <a:prstGeom prst="rect">
            <a:avLst/>
          </a:prstGeom>
          <a:noFill/>
          <a:ln/>
        </p:spPr>
        <p:txBody>
          <a:bodyPr wrap="square" rtlCol="0" anchor="ctr"/>
          <a:lstStyle/>
          <a:p>
            <a:pPr indent="0" marL="0">
              <a:buNone/>
            </a:pPr>
            <a:r>
              <a:rPr lang="en-US" sz="1250" b="1" spc="200" kern="0" dirty="0">
                <a:solidFill>
                  <a:srgbClr val="39D98A"/>
                </a:solidFill>
                <a:latin typeface="Calibri" pitchFamily="34" charset="0"/>
                <a:ea typeface="Calibri" pitchFamily="34" charset="-122"/>
                <a:cs typeface="Calibri" pitchFamily="34" charset="-120"/>
              </a:rPr>
              <a:t>OBJECTIVES</a:t>
            </a:r>
            <a:endParaRPr lang="en-US" sz="1250" dirty="0"/>
          </a:p>
        </p:txBody>
      </p:sp>
      <p:sp>
        <p:nvSpPr>
          <p:cNvPr id="5" name="Text 2"/>
          <p:cNvSpPr/>
          <p:nvPr/>
        </p:nvSpPr>
        <p:spPr>
          <a:xfrm>
            <a:off x="502920" y="713232"/>
            <a:ext cx="10515600" cy="685800"/>
          </a:xfrm>
          <a:prstGeom prst="rect">
            <a:avLst/>
          </a:prstGeom>
          <a:noFill/>
          <a:ln/>
        </p:spPr>
        <p:txBody>
          <a:bodyPr wrap="square" rtlCol="0" anchor="ctr"/>
          <a:lstStyle/>
          <a:p>
            <a:pPr algn="l" indent="0" marL="0">
              <a:buNone/>
            </a:pPr>
            <a:r>
              <a:rPr lang="en-US" sz="3000" b="1" dirty="0">
                <a:solidFill>
                  <a:srgbClr val="E6EDF3"/>
                </a:solidFill>
                <a:latin typeface="Cambria" pitchFamily="34" charset="0"/>
                <a:ea typeface="Cambria" pitchFamily="34" charset="-122"/>
                <a:cs typeface="Cambria" pitchFamily="34" charset="-120"/>
              </a:rPr>
              <a:t>Project Objectives</a:t>
            </a:r>
            <a:endParaRPr lang="en-US" sz="3000" dirty="0"/>
          </a:p>
        </p:txBody>
      </p:sp>
      <p:sp>
        <p:nvSpPr>
          <p:cNvPr id="6" name="Shape 3"/>
          <p:cNvSpPr/>
          <p:nvPr/>
        </p:nvSpPr>
        <p:spPr>
          <a:xfrm>
            <a:off x="502920" y="1627632"/>
            <a:ext cx="5440680" cy="1466088"/>
          </a:xfrm>
          <a:prstGeom prst="roundRect">
            <a:avLst>
              <a:gd name="adj" fmla="val 5613"/>
            </a:avLst>
          </a:prstGeom>
          <a:solidFill>
            <a:srgbClr val="161B22"/>
          </a:solidFill>
          <a:ln w="12700">
            <a:solidFill>
              <a:srgbClr val="2A3441"/>
            </a:solidFill>
            <a:prstDash val="solid"/>
          </a:ln>
          <a:effectLst>
            <a:outerShdw sx="100000" sy="100000" kx="0" ky="0" algn="bl" rotWithShape="0" blurRad="127000" dist="38100" dir="5400000">
              <a:srgbClr val="000000">
                <a:alpha val="35000"/>
              </a:srgbClr>
            </a:outerShdw>
          </a:effectLst>
        </p:spPr>
      </p:sp>
      <p:sp>
        <p:nvSpPr>
          <p:cNvPr id="7" name="Shape 4"/>
          <p:cNvSpPr/>
          <p:nvPr/>
        </p:nvSpPr>
        <p:spPr>
          <a:xfrm>
            <a:off x="740664" y="1810512"/>
            <a:ext cx="475488" cy="475488"/>
          </a:xfrm>
          <a:prstGeom prst="ellipse">
            <a:avLst/>
          </a:prstGeom>
          <a:solidFill>
            <a:srgbClr val="20293A"/>
          </a:solidFill>
          <a:ln w="12700">
            <a:solidFill>
              <a:srgbClr val="2A3441"/>
            </a:solidFill>
            <a:prstDash val="solid"/>
          </a:ln>
        </p:spPr>
      </p:sp>
      <p:pic>
        <p:nvPicPr>
          <p:cNvPr id="8" name="Image 1" descr="/home/claude/build/assets/icons/bullseye_39D98A.png">    </p:cNvPr>
          <p:cNvPicPr>
            <a:picLocks noChangeAspect="1"/>
          </p:cNvPicPr>
          <p:nvPr/>
        </p:nvPicPr>
        <p:blipFill>
          <a:blip r:embed="rId2"/>
          <a:stretch>
            <a:fillRect/>
          </a:stretch>
        </p:blipFill>
        <p:spPr>
          <a:xfrm>
            <a:off x="847649" y="1917497"/>
            <a:ext cx="261518" cy="261518"/>
          </a:xfrm>
          <a:prstGeom prst="rect">
            <a:avLst/>
          </a:prstGeom>
        </p:spPr>
      </p:pic>
      <p:sp>
        <p:nvSpPr>
          <p:cNvPr id="9" name="Text 5"/>
          <p:cNvSpPr/>
          <p:nvPr/>
        </p:nvSpPr>
        <p:spPr>
          <a:xfrm>
            <a:off x="1362456" y="1783080"/>
            <a:ext cx="4343400" cy="502920"/>
          </a:xfrm>
          <a:prstGeom prst="rect">
            <a:avLst/>
          </a:prstGeom>
          <a:noFill/>
          <a:ln/>
        </p:spPr>
        <p:txBody>
          <a:bodyPr wrap="square" rtlCol="0" anchor="t"/>
          <a:lstStyle/>
          <a:p>
            <a:pPr indent="0" marL="0">
              <a:buNone/>
            </a:pPr>
            <a:r>
              <a:rPr lang="en-US" sz="1300" b="1" dirty="0">
                <a:solidFill>
                  <a:srgbClr val="E6EDF3"/>
                </a:solidFill>
                <a:latin typeface="Cambria" pitchFamily="34" charset="0"/>
                <a:ea typeface="Cambria" pitchFamily="34" charset="-122"/>
                <a:cs typeface="Cambria" pitchFamily="34" charset="-120"/>
              </a:rPr>
              <a:t>Understand Process Management</a:t>
            </a:r>
            <a:endParaRPr lang="en-US" sz="1300" dirty="0"/>
          </a:p>
        </p:txBody>
      </p:sp>
      <p:sp>
        <p:nvSpPr>
          <p:cNvPr id="10" name="Text 6"/>
          <p:cNvSpPr/>
          <p:nvPr/>
        </p:nvSpPr>
        <p:spPr>
          <a:xfrm>
            <a:off x="777240" y="2359152"/>
            <a:ext cx="4892040" cy="597408"/>
          </a:xfrm>
          <a:prstGeom prst="rect">
            <a:avLst/>
          </a:prstGeom>
          <a:noFill/>
          <a:ln/>
        </p:spPr>
        <p:txBody>
          <a:bodyPr wrap="square" rtlCol="0" anchor="t"/>
          <a:lstStyle/>
          <a:p>
            <a:pPr indent="0" marL="0">
              <a:lnSpc>
                <a:spcPct val="118000"/>
              </a:lnSpc>
              <a:buNone/>
            </a:pPr>
            <a:r>
              <a:rPr lang="en-US" sz="1000" dirty="0">
                <a:solidFill>
                  <a:srgbClr val="9BA7B4"/>
                </a:solidFill>
                <a:latin typeface="Calibri" pitchFamily="34" charset="0"/>
                <a:ea typeface="Calibri" pitchFamily="34" charset="-122"/>
                <a:cs typeface="Calibri" pitchFamily="34" charset="-120"/>
              </a:rPr>
              <a:t>Build a working, first-hand understanding of how the Linux kernel creates, schedules, and retires processes, moving beyond the textbook state diagram into the behaviour of a real system.</a:t>
            </a:r>
            <a:endParaRPr lang="en-US" sz="1000" dirty="0"/>
          </a:p>
        </p:txBody>
      </p:sp>
      <p:sp>
        <p:nvSpPr>
          <p:cNvPr id="11" name="Shape 7"/>
          <p:cNvSpPr/>
          <p:nvPr/>
        </p:nvSpPr>
        <p:spPr>
          <a:xfrm>
            <a:off x="6263640" y="1627632"/>
            <a:ext cx="5440680" cy="1466088"/>
          </a:xfrm>
          <a:prstGeom prst="roundRect">
            <a:avLst>
              <a:gd name="adj" fmla="val 5613"/>
            </a:avLst>
          </a:prstGeom>
          <a:solidFill>
            <a:srgbClr val="161B22"/>
          </a:solidFill>
          <a:ln w="12700">
            <a:solidFill>
              <a:srgbClr val="2A3441"/>
            </a:solidFill>
            <a:prstDash val="solid"/>
          </a:ln>
          <a:effectLst>
            <a:outerShdw sx="100000" sy="100000" kx="0" ky="0" algn="bl" rotWithShape="0" blurRad="127000" dist="38100" dir="5400000">
              <a:srgbClr val="000000">
                <a:alpha val="35000"/>
              </a:srgbClr>
            </a:outerShdw>
          </a:effectLst>
        </p:spPr>
      </p:sp>
      <p:sp>
        <p:nvSpPr>
          <p:cNvPr id="12" name="Shape 8"/>
          <p:cNvSpPr/>
          <p:nvPr/>
        </p:nvSpPr>
        <p:spPr>
          <a:xfrm>
            <a:off x="6501384" y="1810512"/>
            <a:ext cx="475488" cy="475488"/>
          </a:xfrm>
          <a:prstGeom prst="ellipse">
            <a:avLst/>
          </a:prstGeom>
          <a:solidFill>
            <a:srgbClr val="20293A"/>
          </a:solidFill>
          <a:ln w="12700">
            <a:solidFill>
              <a:srgbClr val="2A3441"/>
            </a:solidFill>
            <a:prstDash val="solid"/>
          </a:ln>
        </p:spPr>
      </p:sp>
      <p:pic>
        <p:nvPicPr>
          <p:cNvPr id="13" name="Image 2" descr="/home/claude/build/assets/icons/cogs_39D98A.png">    </p:cNvPr>
          <p:cNvPicPr>
            <a:picLocks noChangeAspect="1"/>
          </p:cNvPicPr>
          <p:nvPr/>
        </p:nvPicPr>
        <p:blipFill>
          <a:blip r:embed="rId3"/>
          <a:stretch>
            <a:fillRect/>
          </a:stretch>
        </p:blipFill>
        <p:spPr>
          <a:xfrm>
            <a:off x="6608369" y="1917497"/>
            <a:ext cx="261518" cy="261518"/>
          </a:xfrm>
          <a:prstGeom prst="rect">
            <a:avLst/>
          </a:prstGeom>
        </p:spPr>
      </p:pic>
      <p:sp>
        <p:nvSpPr>
          <p:cNvPr id="14" name="Text 9"/>
          <p:cNvSpPr/>
          <p:nvPr/>
        </p:nvSpPr>
        <p:spPr>
          <a:xfrm>
            <a:off x="7123176" y="1783080"/>
            <a:ext cx="4343400" cy="502920"/>
          </a:xfrm>
          <a:prstGeom prst="rect">
            <a:avLst/>
          </a:prstGeom>
          <a:noFill/>
          <a:ln/>
        </p:spPr>
        <p:txBody>
          <a:bodyPr wrap="square" rtlCol="0" anchor="t"/>
          <a:lstStyle/>
          <a:p>
            <a:pPr indent="0" marL="0">
              <a:buNone/>
            </a:pPr>
            <a:r>
              <a:rPr lang="en-US" sz="1300" b="1" dirty="0">
                <a:solidFill>
                  <a:srgbClr val="E6EDF3"/>
                </a:solidFill>
                <a:latin typeface="Cambria" pitchFamily="34" charset="0"/>
                <a:ea typeface="Cambria" pitchFamily="34" charset="-122"/>
                <a:cs typeface="Cambria" pitchFamily="34" charset="-120"/>
              </a:rPr>
              <a:t>Implement Creation &amp; Termination</a:t>
            </a:r>
            <a:endParaRPr lang="en-US" sz="1300" dirty="0"/>
          </a:p>
        </p:txBody>
      </p:sp>
      <p:sp>
        <p:nvSpPr>
          <p:cNvPr id="15" name="Text 10"/>
          <p:cNvSpPr/>
          <p:nvPr/>
        </p:nvSpPr>
        <p:spPr>
          <a:xfrm>
            <a:off x="6537960" y="2359152"/>
            <a:ext cx="4892040" cy="597408"/>
          </a:xfrm>
          <a:prstGeom prst="rect">
            <a:avLst/>
          </a:prstGeom>
          <a:noFill/>
          <a:ln/>
        </p:spPr>
        <p:txBody>
          <a:bodyPr wrap="square" rtlCol="0" anchor="t"/>
          <a:lstStyle/>
          <a:p>
            <a:pPr indent="0" marL="0">
              <a:lnSpc>
                <a:spcPct val="118000"/>
              </a:lnSpc>
              <a:buNone/>
            </a:pPr>
            <a:r>
              <a:rPr lang="en-US" sz="1000" dirty="0">
                <a:solidFill>
                  <a:srgbClr val="9BA7B4"/>
                </a:solidFill>
                <a:latin typeface="Calibri" pitchFamily="34" charset="0"/>
                <a:ea typeface="Calibri" pitchFamily="34" charset="-122"/>
                <a:cs typeface="Calibri" pitchFamily="34" charset="-120"/>
              </a:rPr>
              <a:t>Design and implement reliable process creation and termination logic so that every process the program spawns can also be cleanly identified, monitored, and shut down.</a:t>
            </a:r>
            <a:endParaRPr lang="en-US" sz="1000" dirty="0"/>
          </a:p>
        </p:txBody>
      </p:sp>
      <p:sp>
        <p:nvSpPr>
          <p:cNvPr id="16" name="Shape 11"/>
          <p:cNvSpPr/>
          <p:nvPr/>
        </p:nvSpPr>
        <p:spPr>
          <a:xfrm>
            <a:off x="502920" y="3294888"/>
            <a:ext cx="5440680" cy="1466088"/>
          </a:xfrm>
          <a:prstGeom prst="roundRect">
            <a:avLst>
              <a:gd name="adj" fmla="val 5613"/>
            </a:avLst>
          </a:prstGeom>
          <a:solidFill>
            <a:srgbClr val="161B22"/>
          </a:solidFill>
          <a:ln w="12700">
            <a:solidFill>
              <a:srgbClr val="2A3441"/>
            </a:solidFill>
            <a:prstDash val="solid"/>
          </a:ln>
          <a:effectLst>
            <a:outerShdw sx="100000" sy="100000" kx="0" ky="0" algn="bl" rotWithShape="0" blurRad="127000" dist="38100" dir="5400000">
              <a:srgbClr val="000000">
                <a:alpha val="35000"/>
              </a:srgbClr>
            </a:outerShdw>
          </a:effectLst>
        </p:spPr>
      </p:sp>
      <p:sp>
        <p:nvSpPr>
          <p:cNvPr id="17" name="Shape 12"/>
          <p:cNvSpPr/>
          <p:nvPr/>
        </p:nvSpPr>
        <p:spPr>
          <a:xfrm>
            <a:off x="740664" y="3477768"/>
            <a:ext cx="475488" cy="475488"/>
          </a:xfrm>
          <a:prstGeom prst="ellipse">
            <a:avLst/>
          </a:prstGeom>
          <a:solidFill>
            <a:srgbClr val="20293A"/>
          </a:solidFill>
          <a:ln w="12700">
            <a:solidFill>
              <a:srgbClr val="2A3441"/>
            </a:solidFill>
            <a:prstDash val="solid"/>
          </a:ln>
        </p:spPr>
      </p:sp>
      <p:pic>
        <p:nvPicPr>
          <p:cNvPr id="18" name="Image 3" descr="/home/claude/build/assets/icons/sync_39D98A.png">    </p:cNvPr>
          <p:cNvPicPr>
            <a:picLocks noChangeAspect="1"/>
          </p:cNvPicPr>
          <p:nvPr/>
        </p:nvPicPr>
        <p:blipFill>
          <a:blip r:embed="rId4"/>
          <a:stretch>
            <a:fillRect/>
          </a:stretch>
        </p:blipFill>
        <p:spPr>
          <a:xfrm>
            <a:off x="847649" y="3584753"/>
            <a:ext cx="261518" cy="261518"/>
          </a:xfrm>
          <a:prstGeom prst="rect">
            <a:avLst/>
          </a:prstGeom>
        </p:spPr>
      </p:pic>
      <p:sp>
        <p:nvSpPr>
          <p:cNvPr id="19" name="Text 13"/>
          <p:cNvSpPr/>
          <p:nvPr/>
        </p:nvSpPr>
        <p:spPr>
          <a:xfrm>
            <a:off x="1362456" y="3450336"/>
            <a:ext cx="4343400" cy="502920"/>
          </a:xfrm>
          <a:prstGeom prst="rect">
            <a:avLst/>
          </a:prstGeom>
          <a:noFill/>
          <a:ln/>
        </p:spPr>
        <p:txBody>
          <a:bodyPr wrap="square" rtlCol="0" anchor="t"/>
          <a:lstStyle/>
          <a:p>
            <a:pPr indent="0" marL="0">
              <a:buNone/>
            </a:pPr>
            <a:r>
              <a:rPr lang="en-US" sz="1300" b="1" dirty="0">
                <a:solidFill>
                  <a:srgbClr val="E6EDF3"/>
                </a:solidFill>
                <a:latin typeface="Cambria" pitchFamily="34" charset="0"/>
                <a:ea typeface="Cambria" pitchFamily="34" charset="-122"/>
                <a:cs typeface="Cambria" pitchFamily="34" charset="-120"/>
              </a:rPr>
              <a:t>Apply Core System Calls</a:t>
            </a:r>
            <a:endParaRPr lang="en-US" sz="1300" dirty="0"/>
          </a:p>
        </p:txBody>
      </p:sp>
      <p:sp>
        <p:nvSpPr>
          <p:cNvPr id="20" name="Text 14"/>
          <p:cNvSpPr/>
          <p:nvPr/>
        </p:nvSpPr>
        <p:spPr>
          <a:xfrm>
            <a:off x="777240" y="4026408"/>
            <a:ext cx="4892040" cy="597408"/>
          </a:xfrm>
          <a:prstGeom prst="rect">
            <a:avLst/>
          </a:prstGeom>
          <a:noFill/>
          <a:ln/>
        </p:spPr>
        <p:txBody>
          <a:bodyPr wrap="square" rtlCol="0" anchor="t"/>
          <a:lstStyle/>
          <a:p>
            <a:pPr indent="0" marL="0">
              <a:lnSpc>
                <a:spcPct val="118000"/>
              </a:lnSpc>
              <a:buNone/>
            </a:pPr>
            <a:r>
              <a:rPr lang="en-US" sz="1000" dirty="0">
                <a:solidFill>
                  <a:srgbClr val="9BA7B4"/>
                </a:solidFill>
                <a:latin typeface="Calibri" pitchFamily="34" charset="0"/>
                <a:ea typeface="Calibri" pitchFamily="34" charset="-122"/>
                <a:cs typeface="Calibri" pitchFamily="34" charset="-120"/>
              </a:rPr>
              <a:t>Put fork(), exec(), wait(), and kill() to direct use inside one coherent application, rather than studying each call in isolation through disconnected examples.</a:t>
            </a:r>
            <a:endParaRPr lang="en-US" sz="1000" dirty="0"/>
          </a:p>
        </p:txBody>
      </p:sp>
      <p:sp>
        <p:nvSpPr>
          <p:cNvPr id="21" name="Shape 15"/>
          <p:cNvSpPr/>
          <p:nvPr/>
        </p:nvSpPr>
        <p:spPr>
          <a:xfrm>
            <a:off x="6263640" y="3294888"/>
            <a:ext cx="5440680" cy="1466088"/>
          </a:xfrm>
          <a:prstGeom prst="roundRect">
            <a:avLst>
              <a:gd name="adj" fmla="val 5613"/>
            </a:avLst>
          </a:prstGeom>
          <a:solidFill>
            <a:srgbClr val="161B22"/>
          </a:solidFill>
          <a:ln w="12700">
            <a:solidFill>
              <a:srgbClr val="2A3441"/>
            </a:solidFill>
            <a:prstDash val="solid"/>
          </a:ln>
          <a:effectLst>
            <a:outerShdw sx="100000" sy="100000" kx="0" ky="0" algn="bl" rotWithShape="0" blurRad="127000" dist="38100" dir="5400000">
              <a:srgbClr val="000000">
                <a:alpha val="35000"/>
              </a:srgbClr>
            </a:outerShdw>
          </a:effectLst>
        </p:spPr>
      </p:sp>
      <p:sp>
        <p:nvSpPr>
          <p:cNvPr id="22" name="Shape 16"/>
          <p:cNvSpPr/>
          <p:nvPr/>
        </p:nvSpPr>
        <p:spPr>
          <a:xfrm>
            <a:off x="6501384" y="3477768"/>
            <a:ext cx="475488" cy="475488"/>
          </a:xfrm>
          <a:prstGeom prst="ellipse">
            <a:avLst/>
          </a:prstGeom>
          <a:solidFill>
            <a:srgbClr val="20293A"/>
          </a:solidFill>
          <a:ln w="12700">
            <a:solidFill>
              <a:srgbClr val="2A3441"/>
            </a:solidFill>
            <a:prstDash val="solid"/>
          </a:ln>
        </p:spPr>
      </p:sp>
      <p:pic>
        <p:nvPicPr>
          <p:cNvPr id="23" name="Image 4" descr="/home/claude/build/assets/icons/hashtag_39D98A.png">    </p:cNvPr>
          <p:cNvPicPr>
            <a:picLocks noChangeAspect="1"/>
          </p:cNvPicPr>
          <p:nvPr/>
        </p:nvPicPr>
        <p:blipFill>
          <a:blip r:embed="rId5"/>
          <a:stretch>
            <a:fillRect/>
          </a:stretch>
        </p:blipFill>
        <p:spPr>
          <a:xfrm>
            <a:off x="6608369" y="3584753"/>
            <a:ext cx="261518" cy="261518"/>
          </a:xfrm>
          <a:prstGeom prst="rect">
            <a:avLst/>
          </a:prstGeom>
        </p:spPr>
      </p:pic>
      <p:sp>
        <p:nvSpPr>
          <p:cNvPr id="24" name="Text 17"/>
          <p:cNvSpPr/>
          <p:nvPr/>
        </p:nvSpPr>
        <p:spPr>
          <a:xfrm>
            <a:off x="7123176" y="3450336"/>
            <a:ext cx="4343400" cy="502920"/>
          </a:xfrm>
          <a:prstGeom prst="rect">
            <a:avLst/>
          </a:prstGeom>
          <a:noFill/>
          <a:ln/>
        </p:spPr>
        <p:txBody>
          <a:bodyPr wrap="square" rtlCol="0" anchor="t"/>
          <a:lstStyle/>
          <a:p>
            <a:pPr indent="0" marL="0">
              <a:buNone/>
            </a:pPr>
            <a:r>
              <a:rPr lang="en-US" sz="1300" b="1" dirty="0">
                <a:solidFill>
                  <a:srgbClr val="E6EDF3"/>
                </a:solidFill>
                <a:latin typeface="Cambria" pitchFamily="34" charset="0"/>
                <a:ea typeface="Cambria" pitchFamily="34" charset="-122"/>
                <a:cs typeface="Cambria" pitchFamily="34" charset="-120"/>
              </a:rPr>
              <a:t>Track Identity &amp; State</a:t>
            </a:r>
            <a:endParaRPr lang="en-US" sz="1300" dirty="0"/>
          </a:p>
        </p:txBody>
      </p:sp>
      <p:sp>
        <p:nvSpPr>
          <p:cNvPr id="25" name="Text 18"/>
          <p:cNvSpPr/>
          <p:nvPr/>
        </p:nvSpPr>
        <p:spPr>
          <a:xfrm>
            <a:off x="6537960" y="4026408"/>
            <a:ext cx="4892040" cy="597408"/>
          </a:xfrm>
          <a:prstGeom prst="rect">
            <a:avLst/>
          </a:prstGeom>
          <a:noFill/>
          <a:ln/>
        </p:spPr>
        <p:txBody>
          <a:bodyPr wrap="square" rtlCol="0" anchor="t"/>
          <a:lstStyle/>
          <a:p>
            <a:pPr indent="0" marL="0">
              <a:lnSpc>
                <a:spcPct val="118000"/>
              </a:lnSpc>
              <a:buNone/>
            </a:pPr>
            <a:r>
              <a:rPr lang="en-US" sz="1000" dirty="0">
                <a:solidFill>
                  <a:srgbClr val="9BA7B4"/>
                </a:solidFill>
                <a:latin typeface="Calibri" pitchFamily="34" charset="0"/>
                <a:ea typeface="Calibri" pitchFamily="34" charset="-122"/>
                <a:cs typeface="Calibri" pitchFamily="34" charset="-120"/>
              </a:rPr>
              <a:t>Continuously monitor process IDs and parent IDs so that the parent-child hierarchy the kernel maintains internally becomes visible and traceable to the user.</a:t>
            </a:r>
            <a:endParaRPr lang="en-US" sz="1000" dirty="0"/>
          </a:p>
        </p:txBody>
      </p:sp>
      <p:sp>
        <p:nvSpPr>
          <p:cNvPr id="26" name="Shape 19"/>
          <p:cNvSpPr/>
          <p:nvPr/>
        </p:nvSpPr>
        <p:spPr>
          <a:xfrm>
            <a:off x="502920" y="4962144"/>
            <a:ext cx="5440680" cy="1466088"/>
          </a:xfrm>
          <a:prstGeom prst="roundRect">
            <a:avLst>
              <a:gd name="adj" fmla="val 5613"/>
            </a:avLst>
          </a:prstGeom>
          <a:solidFill>
            <a:srgbClr val="161B22"/>
          </a:solidFill>
          <a:ln w="12700">
            <a:solidFill>
              <a:srgbClr val="2A3441"/>
            </a:solidFill>
            <a:prstDash val="solid"/>
          </a:ln>
          <a:effectLst>
            <a:outerShdw sx="100000" sy="100000" kx="0" ky="0" algn="bl" rotWithShape="0" blurRad="127000" dist="38100" dir="5400000">
              <a:srgbClr val="000000">
                <a:alpha val="35000"/>
              </a:srgbClr>
            </a:outerShdw>
          </a:effectLst>
        </p:spPr>
      </p:sp>
      <p:sp>
        <p:nvSpPr>
          <p:cNvPr id="27" name="Shape 20"/>
          <p:cNvSpPr/>
          <p:nvPr/>
        </p:nvSpPr>
        <p:spPr>
          <a:xfrm>
            <a:off x="740664" y="5145024"/>
            <a:ext cx="475488" cy="475488"/>
          </a:xfrm>
          <a:prstGeom prst="ellipse">
            <a:avLst/>
          </a:prstGeom>
          <a:solidFill>
            <a:srgbClr val="20293A"/>
          </a:solidFill>
          <a:ln w="12700">
            <a:solidFill>
              <a:srgbClr val="2A3441"/>
            </a:solidFill>
            <a:prstDash val="solid"/>
          </a:ln>
        </p:spPr>
      </p:sp>
      <p:pic>
        <p:nvPicPr>
          <p:cNvPr id="28" name="Image 5" descr="/home/claude/build/assets/icons/desktop_39D98A.png">    </p:cNvPr>
          <p:cNvPicPr>
            <a:picLocks noChangeAspect="1"/>
          </p:cNvPicPr>
          <p:nvPr/>
        </p:nvPicPr>
        <p:blipFill>
          <a:blip r:embed="rId6"/>
          <a:stretch>
            <a:fillRect/>
          </a:stretch>
        </p:blipFill>
        <p:spPr>
          <a:xfrm>
            <a:off x="847649" y="5252009"/>
            <a:ext cx="261518" cy="261518"/>
          </a:xfrm>
          <a:prstGeom prst="rect">
            <a:avLst/>
          </a:prstGeom>
        </p:spPr>
      </p:pic>
      <p:sp>
        <p:nvSpPr>
          <p:cNvPr id="29" name="Text 21"/>
          <p:cNvSpPr/>
          <p:nvPr/>
        </p:nvSpPr>
        <p:spPr>
          <a:xfrm>
            <a:off x="1362456" y="5117592"/>
            <a:ext cx="4343400" cy="502920"/>
          </a:xfrm>
          <a:prstGeom prst="rect">
            <a:avLst/>
          </a:prstGeom>
          <a:noFill/>
          <a:ln/>
        </p:spPr>
        <p:txBody>
          <a:bodyPr wrap="square" rtlCol="0" anchor="t"/>
          <a:lstStyle/>
          <a:p>
            <a:pPr indent="0" marL="0">
              <a:buNone/>
            </a:pPr>
            <a:r>
              <a:rPr lang="en-US" sz="1300" b="1" dirty="0">
                <a:solidFill>
                  <a:srgbClr val="E6EDF3"/>
                </a:solidFill>
                <a:latin typeface="Cambria" pitchFamily="34" charset="0"/>
                <a:ea typeface="Cambria" pitchFamily="34" charset="-122"/>
                <a:cs typeface="Cambria" pitchFamily="34" charset="-120"/>
              </a:rPr>
              <a:t>Build an Interactive System</a:t>
            </a:r>
            <a:endParaRPr lang="en-US" sz="1300" dirty="0"/>
          </a:p>
        </p:txBody>
      </p:sp>
      <p:sp>
        <p:nvSpPr>
          <p:cNvPr id="30" name="Text 22"/>
          <p:cNvSpPr/>
          <p:nvPr/>
        </p:nvSpPr>
        <p:spPr>
          <a:xfrm>
            <a:off x="777240" y="5693664"/>
            <a:ext cx="4892040" cy="597408"/>
          </a:xfrm>
          <a:prstGeom prst="rect">
            <a:avLst/>
          </a:prstGeom>
          <a:noFill/>
          <a:ln/>
        </p:spPr>
        <p:txBody>
          <a:bodyPr wrap="square" rtlCol="0" anchor="t"/>
          <a:lstStyle/>
          <a:p>
            <a:pPr indent="0" marL="0">
              <a:lnSpc>
                <a:spcPct val="118000"/>
              </a:lnSpc>
              <a:buNone/>
            </a:pPr>
            <a:r>
              <a:rPr lang="en-US" sz="1000" dirty="0">
                <a:solidFill>
                  <a:srgbClr val="9BA7B4"/>
                </a:solidFill>
                <a:latin typeface="Calibri" pitchFamily="34" charset="0"/>
                <a:ea typeface="Calibri" pitchFamily="34" charset="-122"/>
                <a:cs typeface="Calibri" pitchFamily="34" charset="-120"/>
              </a:rPr>
              <a:t>Wrap all of the above inside a menu-driven, interactive management console so operations can be triggered on demand rather than only observed as static output.</a:t>
            </a:r>
            <a:endParaRPr lang="en-US" sz="1000" dirty="0"/>
          </a:p>
        </p:txBody>
      </p:sp>
      <p:sp>
        <p:nvSpPr>
          <p:cNvPr id="31" name="Shape 23"/>
          <p:cNvSpPr/>
          <p:nvPr/>
        </p:nvSpPr>
        <p:spPr>
          <a:xfrm>
            <a:off x="6263640" y="4962144"/>
            <a:ext cx="5440680" cy="1466088"/>
          </a:xfrm>
          <a:prstGeom prst="roundRect">
            <a:avLst>
              <a:gd name="adj" fmla="val 5613"/>
            </a:avLst>
          </a:prstGeom>
          <a:solidFill>
            <a:srgbClr val="161B22"/>
          </a:solidFill>
          <a:ln w="12700">
            <a:solidFill>
              <a:srgbClr val="2A3441"/>
            </a:solidFill>
            <a:prstDash val="solid"/>
          </a:ln>
          <a:effectLst>
            <a:outerShdw sx="100000" sy="100000" kx="0" ky="0" algn="bl" rotWithShape="0" blurRad="127000" dist="38100" dir="5400000">
              <a:srgbClr val="000000">
                <a:alpha val="35000"/>
              </a:srgbClr>
            </a:outerShdw>
          </a:effectLst>
        </p:spPr>
      </p:sp>
      <p:sp>
        <p:nvSpPr>
          <p:cNvPr id="32" name="Shape 24"/>
          <p:cNvSpPr/>
          <p:nvPr/>
        </p:nvSpPr>
        <p:spPr>
          <a:xfrm>
            <a:off x="6501384" y="5145024"/>
            <a:ext cx="475488" cy="475488"/>
          </a:xfrm>
          <a:prstGeom prst="ellipse">
            <a:avLst/>
          </a:prstGeom>
          <a:solidFill>
            <a:srgbClr val="20293A"/>
          </a:solidFill>
          <a:ln w="12700">
            <a:solidFill>
              <a:srgbClr val="2A3441"/>
            </a:solidFill>
            <a:prstDash val="solid"/>
          </a:ln>
        </p:spPr>
      </p:sp>
      <p:pic>
        <p:nvPicPr>
          <p:cNvPr id="33" name="Image 6" descr="/home/claude/build/assets/icons/bulb_39D98A.png">    </p:cNvPr>
          <p:cNvPicPr>
            <a:picLocks noChangeAspect="1"/>
          </p:cNvPicPr>
          <p:nvPr/>
        </p:nvPicPr>
        <p:blipFill>
          <a:blip r:embed="rId7"/>
          <a:stretch>
            <a:fillRect/>
          </a:stretch>
        </p:blipFill>
        <p:spPr>
          <a:xfrm>
            <a:off x="6608369" y="5252009"/>
            <a:ext cx="261518" cy="261518"/>
          </a:xfrm>
          <a:prstGeom prst="rect">
            <a:avLst/>
          </a:prstGeom>
        </p:spPr>
      </p:pic>
      <p:sp>
        <p:nvSpPr>
          <p:cNvPr id="34" name="Text 25"/>
          <p:cNvSpPr/>
          <p:nvPr/>
        </p:nvSpPr>
        <p:spPr>
          <a:xfrm>
            <a:off x="7123176" y="5117592"/>
            <a:ext cx="4343400" cy="502920"/>
          </a:xfrm>
          <a:prstGeom prst="rect">
            <a:avLst/>
          </a:prstGeom>
          <a:noFill/>
          <a:ln/>
        </p:spPr>
        <p:txBody>
          <a:bodyPr wrap="square" rtlCol="0" anchor="t"/>
          <a:lstStyle/>
          <a:p>
            <a:pPr indent="0" marL="0">
              <a:buNone/>
            </a:pPr>
            <a:r>
              <a:rPr lang="en-US" sz="1300" b="1" dirty="0">
                <a:solidFill>
                  <a:srgbClr val="E6EDF3"/>
                </a:solidFill>
                <a:latin typeface="Cambria" pitchFamily="34" charset="0"/>
                <a:ea typeface="Cambria" pitchFamily="34" charset="-122"/>
                <a:cs typeface="Cambria" pitchFamily="34" charset="-120"/>
              </a:rPr>
              <a:t>Demonstrate Practical OS Concepts</a:t>
            </a:r>
            <a:endParaRPr lang="en-US" sz="1300" dirty="0"/>
          </a:p>
        </p:txBody>
      </p:sp>
      <p:sp>
        <p:nvSpPr>
          <p:cNvPr id="35" name="Text 26"/>
          <p:cNvSpPr/>
          <p:nvPr/>
        </p:nvSpPr>
        <p:spPr>
          <a:xfrm>
            <a:off x="6537960" y="5693664"/>
            <a:ext cx="4892040" cy="597408"/>
          </a:xfrm>
          <a:prstGeom prst="rect">
            <a:avLst/>
          </a:prstGeom>
          <a:noFill/>
          <a:ln/>
        </p:spPr>
        <p:txBody>
          <a:bodyPr wrap="square" rtlCol="0" anchor="t"/>
          <a:lstStyle/>
          <a:p>
            <a:pPr indent="0" marL="0">
              <a:lnSpc>
                <a:spcPct val="118000"/>
              </a:lnSpc>
              <a:buNone/>
            </a:pPr>
            <a:r>
              <a:rPr lang="en-US" sz="1000" dirty="0">
                <a:solidFill>
                  <a:srgbClr val="9BA7B4"/>
                </a:solidFill>
                <a:latin typeface="Calibri" pitchFamily="34" charset="0"/>
                <a:ea typeface="Calibri" pitchFamily="34" charset="-122"/>
                <a:cs typeface="Calibri" pitchFamily="34" charset="-120"/>
              </a:rPr>
              <a:t>Produce a tangible, demonstrable artefact that connects the operating-systems syllabus to genuine Linux kernel functionality for future reference and extension.</a:t>
            </a:r>
            <a:endParaRPr lang="en-US" sz="1000" dirty="0"/>
          </a:p>
        </p:txBody>
      </p:sp>
      <p:sp>
        <p:nvSpPr>
          <p:cNvPr id="36" name="Text 27"/>
          <p:cNvSpPr/>
          <p:nvPr/>
        </p:nvSpPr>
        <p:spPr>
          <a:xfrm>
            <a:off x="457200" y="6473952"/>
            <a:ext cx="7315200" cy="274320"/>
          </a:xfrm>
          <a:prstGeom prst="rect">
            <a:avLst/>
          </a:prstGeom>
          <a:noFill/>
          <a:ln/>
        </p:spPr>
        <p:txBody>
          <a:bodyPr wrap="square" rtlCol="0" anchor="ctr"/>
          <a:lstStyle/>
          <a:p>
            <a:pPr algn="l" indent="0" marL="0">
              <a:buNone/>
            </a:pPr>
            <a:r>
              <a:rPr lang="en-US" sz="900" spc="100" kern="0" dirty="0">
                <a:solidFill>
                  <a:srgbClr val="9BA7B4"/>
                </a:solidFill>
                <a:latin typeface="Calibri" pitchFamily="34" charset="0"/>
                <a:ea typeface="Calibri" pitchFamily="34" charset="-122"/>
                <a:cs typeface="Calibri" pitchFamily="34" charset="-120"/>
              </a:rPr>
              <a:t>SMART PROCESS MANAGEMENT  •  LINUX SYSTEM CALLS</a:t>
            </a:r>
            <a:endParaRPr lang="en-US" sz="900" dirty="0"/>
          </a:p>
        </p:txBody>
      </p:sp>
      <p:sp>
        <p:nvSpPr>
          <p:cNvPr id="37" name="Text 28"/>
          <p:cNvSpPr/>
          <p:nvPr/>
        </p:nvSpPr>
        <p:spPr>
          <a:xfrm>
            <a:off x="11277295" y="6473952"/>
            <a:ext cx="457200" cy="274320"/>
          </a:xfrm>
          <a:prstGeom prst="rect">
            <a:avLst/>
          </a:prstGeom>
          <a:noFill/>
          <a:ln/>
        </p:spPr>
        <p:txBody>
          <a:bodyPr wrap="square" rtlCol="0" anchor="ctr"/>
          <a:lstStyle/>
          <a:p>
            <a:pPr algn="r" indent="0" marL="0">
              <a:buNone/>
            </a:pPr>
            <a:r>
              <a:rPr lang="en-US" sz="900" dirty="0">
                <a:solidFill>
                  <a:srgbClr val="9BA7B4"/>
                </a:solidFill>
                <a:latin typeface="Calibri" pitchFamily="34" charset="0"/>
                <a:ea typeface="Calibri" pitchFamily="34" charset="-122"/>
                <a:cs typeface="Calibri" pitchFamily="34" charset="-120"/>
              </a:rPr>
              <a:t>04</a:t>
            </a:r>
            <a:endParaRPr lang="en-US" sz="9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0D1117"/>
        </a:solidFill>
      </p:bgPr>
    </p:bg>
    <p:spTree>
      <p:nvGrpSpPr>
        <p:cNvPr id="1" name=""/>
        <p:cNvGrpSpPr/>
        <p:nvPr/>
      </p:nvGrpSpPr>
      <p:grpSpPr>
        <a:xfrm>
          <a:off x="0" y="0"/>
          <a:ext cx="0" cy="0"/>
          <a:chOff x="0" y="0"/>
          <a:chExt cx="0" cy="0"/>
        </a:xfrm>
      </p:grpSpPr>
      <p:pic>
        <p:nvPicPr>
          <p:cNvPr id="2" name="Image 0" descr="/home/claude/build/assets/bg_panel.png">    </p:cNvPr>
          <p:cNvPicPr>
            <a:picLocks noChangeAspect="1"/>
          </p:cNvPicPr>
          <p:nvPr/>
        </p:nvPicPr>
        <p:blipFill>
          <a:blip r:embed="rId1"/>
          <a:stretch>
            <a:fillRect/>
          </a:stretch>
        </p:blipFill>
        <p:spPr>
          <a:xfrm>
            <a:off x="0" y="0"/>
            <a:ext cx="12191695" cy="6858000"/>
          </a:xfrm>
          <a:prstGeom prst="rect">
            <a:avLst/>
          </a:prstGeom>
        </p:spPr>
      </p:pic>
      <p:sp>
        <p:nvSpPr>
          <p:cNvPr id="3" name="Shape 0"/>
          <p:cNvSpPr/>
          <p:nvPr/>
        </p:nvSpPr>
        <p:spPr>
          <a:xfrm>
            <a:off x="502920" y="457200"/>
            <a:ext cx="128016" cy="128016"/>
          </a:xfrm>
          <a:prstGeom prst="roundRect">
            <a:avLst>
              <a:gd name="adj" fmla="val 50000"/>
            </a:avLst>
          </a:prstGeom>
          <a:solidFill>
            <a:srgbClr val="39D98A"/>
          </a:solidFill>
          <a:ln/>
        </p:spPr>
      </p:sp>
      <p:sp>
        <p:nvSpPr>
          <p:cNvPr id="4" name="Text 1"/>
          <p:cNvSpPr/>
          <p:nvPr/>
        </p:nvSpPr>
        <p:spPr>
          <a:xfrm>
            <a:off x="713232" y="393192"/>
            <a:ext cx="5486400" cy="274320"/>
          </a:xfrm>
          <a:prstGeom prst="rect">
            <a:avLst/>
          </a:prstGeom>
          <a:noFill/>
          <a:ln/>
        </p:spPr>
        <p:txBody>
          <a:bodyPr wrap="square" rtlCol="0" anchor="ctr"/>
          <a:lstStyle/>
          <a:p>
            <a:pPr indent="0" marL="0">
              <a:buNone/>
            </a:pPr>
            <a:r>
              <a:rPr lang="en-US" sz="1250" b="1" spc="200" kern="0" dirty="0">
                <a:solidFill>
                  <a:srgbClr val="39D98A"/>
                </a:solidFill>
                <a:latin typeface="Calibri" pitchFamily="34" charset="0"/>
                <a:ea typeface="Calibri" pitchFamily="34" charset="-122"/>
                <a:cs typeface="Calibri" pitchFamily="34" charset="-120"/>
              </a:rPr>
              <a:t>ARCHITECTURE</a:t>
            </a:r>
            <a:endParaRPr lang="en-US" sz="1250" dirty="0"/>
          </a:p>
        </p:txBody>
      </p:sp>
      <p:sp>
        <p:nvSpPr>
          <p:cNvPr id="5" name="Text 2"/>
          <p:cNvSpPr/>
          <p:nvPr/>
        </p:nvSpPr>
        <p:spPr>
          <a:xfrm>
            <a:off x="502920" y="713232"/>
            <a:ext cx="10515600" cy="685800"/>
          </a:xfrm>
          <a:prstGeom prst="rect">
            <a:avLst/>
          </a:prstGeom>
          <a:noFill/>
          <a:ln/>
        </p:spPr>
        <p:txBody>
          <a:bodyPr wrap="square" rtlCol="0" anchor="ctr"/>
          <a:lstStyle/>
          <a:p>
            <a:pPr algn="l" indent="0" marL="0">
              <a:buNone/>
            </a:pPr>
            <a:r>
              <a:rPr lang="en-US" sz="3000" b="1" dirty="0">
                <a:solidFill>
                  <a:srgbClr val="E6EDF3"/>
                </a:solidFill>
                <a:latin typeface="Cambria" pitchFamily="34" charset="0"/>
                <a:ea typeface="Cambria" pitchFamily="34" charset="-122"/>
                <a:cs typeface="Cambria" pitchFamily="34" charset="-120"/>
              </a:rPr>
              <a:t>System Architecture</a:t>
            </a:r>
            <a:endParaRPr lang="en-US" sz="3000" dirty="0"/>
          </a:p>
        </p:txBody>
      </p:sp>
      <p:sp>
        <p:nvSpPr>
          <p:cNvPr id="6" name="Text 3"/>
          <p:cNvSpPr/>
          <p:nvPr/>
        </p:nvSpPr>
        <p:spPr>
          <a:xfrm>
            <a:off x="502920" y="1645920"/>
            <a:ext cx="4160520" cy="4572000"/>
          </a:xfrm>
          <a:prstGeom prst="rect">
            <a:avLst/>
          </a:prstGeom>
          <a:noFill/>
          <a:ln/>
        </p:spPr>
        <p:txBody>
          <a:bodyPr wrap="square" rtlCol="0" anchor="t"/>
          <a:lstStyle/>
          <a:p>
            <a:pPr indent="0" marL="0">
              <a:lnSpc>
                <a:spcPct val="132000"/>
              </a:lnSpc>
              <a:buNone/>
            </a:pPr>
            <a:r>
              <a:rPr lang="en-US" sz="1250" dirty="0">
                <a:solidFill>
                  <a:srgbClr val="9BA7B4"/>
                </a:solidFill>
                <a:latin typeface="Calibri" pitchFamily="34" charset="0"/>
                <a:ea typeface="Calibri" pitchFamily="34" charset="-122"/>
                <a:cs typeface="Calibri" pitchFamily="34" charset="-120"/>
              </a:rPr>
              <a:t>The system is organised as a layered pipeline that mirrors how a real operating system separates user intent from kernel execution. A lightweight user interface captures the operator's chosen action; the process-management module translates that action into the correct sequence of system calls; the Linux kernel executes the request against the machine's actual hardware resources; and the result is returned back up the stack for display. Every layer has a single, well-defined responsibility, which keeps the system easy to reason about, extend, and debug — and mirrors the same separation of concerns that governs production operating-system design.</a:t>
            </a:r>
            <a:endParaRPr lang="en-US" sz="1250" dirty="0"/>
          </a:p>
        </p:txBody>
      </p:sp>
      <p:sp>
        <p:nvSpPr>
          <p:cNvPr id="7" name="Shape 4"/>
          <p:cNvSpPr/>
          <p:nvPr/>
        </p:nvSpPr>
        <p:spPr>
          <a:xfrm>
            <a:off x="5029200" y="1691640"/>
            <a:ext cx="6675120" cy="841248"/>
          </a:xfrm>
          <a:prstGeom prst="roundRect">
            <a:avLst>
              <a:gd name="adj" fmla="val 9783"/>
            </a:avLst>
          </a:prstGeom>
          <a:solidFill>
            <a:srgbClr val="1B2430"/>
          </a:solidFill>
          <a:ln w="12700">
            <a:solidFill>
              <a:srgbClr val="2A3441"/>
            </a:solidFill>
            <a:prstDash val="solid"/>
          </a:ln>
          <a:effectLst>
            <a:outerShdw sx="100000" sy="100000" kx="0" ky="0" algn="bl" rotWithShape="0" blurRad="127000" dist="38100" dir="5400000">
              <a:srgbClr val="000000">
                <a:alpha val="35000"/>
              </a:srgbClr>
            </a:outerShdw>
          </a:effectLst>
        </p:spPr>
      </p:sp>
      <p:sp>
        <p:nvSpPr>
          <p:cNvPr id="8" name="Shape 5"/>
          <p:cNvSpPr/>
          <p:nvPr/>
        </p:nvSpPr>
        <p:spPr>
          <a:xfrm>
            <a:off x="5230368" y="1856232"/>
            <a:ext cx="512064" cy="512064"/>
          </a:xfrm>
          <a:prstGeom prst="ellipse">
            <a:avLst/>
          </a:prstGeom>
          <a:solidFill>
            <a:srgbClr val="0D1117"/>
          </a:solidFill>
          <a:ln w="12700">
            <a:solidFill>
              <a:srgbClr val="2A3441"/>
            </a:solidFill>
            <a:prstDash val="solid"/>
          </a:ln>
        </p:spPr>
      </p:sp>
      <p:pic>
        <p:nvPicPr>
          <p:cNvPr id="9" name="Image 1" descr="/home/claude/build/assets/icons/desktop_39D98A.png">    </p:cNvPr>
          <p:cNvPicPr>
            <a:picLocks noChangeAspect="1"/>
          </p:cNvPicPr>
          <p:nvPr/>
        </p:nvPicPr>
        <p:blipFill>
          <a:blip r:embed="rId2"/>
          <a:stretch>
            <a:fillRect/>
          </a:stretch>
        </p:blipFill>
        <p:spPr>
          <a:xfrm>
            <a:off x="5345582" y="1971446"/>
            <a:ext cx="281635" cy="281635"/>
          </a:xfrm>
          <a:prstGeom prst="rect">
            <a:avLst/>
          </a:prstGeom>
        </p:spPr>
      </p:pic>
      <p:sp>
        <p:nvSpPr>
          <p:cNvPr id="10" name="Text 6"/>
          <p:cNvSpPr/>
          <p:nvPr/>
        </p:nvSpPr>
        <p:spPr>
          <a:xfrm>
            <a:off x="5897880" y="1783080"/>
            <a:ext cx="5577840" cy="384048"/>
          </a:xfrm>
          <a:prstGeom prst="rect">
            <a:avLst/>
          </a:prstGeom>
          <a:noFill/>
          <a:ln/>
        </p:spPr>
        <p:txBody>
          <a:bodyPr wrap="square" rtlCol="0" anchor="ctr"/>
          <a:lstStyle/>
          <a:p>
            <a:pPr indent="0" marL="0">
              <a:buNone/>
            </a:pPr>
            <a:r>
              <a:rPr lang="en-US" sz="1450" b="1" dirty="0">
                <a:solidFill>
                  <a:srgbClr val="E6EDF3"/>
                </a:solidFill>
                <a:latin typeface="Cambria" pitchFamily="34" charset="0"/>
                <a:ea typeface="Cambria" pitchFamily="34" charset="-122"/>
                <a:cs typeface="Cambria" pitchFamily="34" charset="-120"/>
              </a:rPr>
              <a:t>User Interface</a:t>
            </a:r>
            <a:endParaRPr lang="en-US" sz="1450" dirty="0"/>
          </a:p>
        </p:txBody>
      </p:sp>
      <p:sp>
        <p:nvSpPr>
          <p:cNvPr id="11" name="Text 7"/>
          <p:cNvSpPr/>
          <p:nvPr/>
        </p:nvSpPr>
        <p:spPr>
          <a:xfrm>
            <a:off x="5897880" y="2148840"/>
            <a:ext cx="5577840" cy="320040"/>
          </a:xfrm>
          <a:prstGeom prst="rect">
            <a:avLst/>
          </a:prstGeom>
          <a:noFill/>
          <a:ln/>
        </p:spPr>
        <p:txBody>
          <a:bodyPr wrap="square" rtlCol="0" anchor="ctr"/>
          <a:lstStyle/>
          <a:p>
            <a:pPr indent="0" marL="0">
              <a:buNone/>
            </a:pPr>
            <a:r>
              <a:rPr lang="en-US" sz="1000" dirty="0">
                <a:solidFill>
                  <a:srgbClr val="9BA7B4"/>
                </a:solidFill>
                <a:latin typeface="Calibri" pitchFamily="34" charset="0"/>
                <a:ea typeface="Calibri" pitchFamily="34" charset="-122"/>
                <a:cs typeface="Calibri" pitchFamily="34" charset="-120"/>
              </a:rPr>
              <a:t>Captures operator input and displays results</a:t>
            </a:r>
            <a:endParaRPr lang="en-US" sz="1000" dirty="0"/>
          </a:p>
        </p:txBody>
      </p:sp>
      <p:pic>
        <p:nvPicPr>
          <p:cNvPr id="12" name="Image 2" descr="/home/claude/build/assets/icons/arrowRight_39D98A.png">    </p:cNvPr>
          <p:cNvPicPr>
            <a:picLocks noChangeAspect="1"/>
          </p:cNvPicPr>
          <p:nvPr/>
        </p:nvPicPr>
        <p:blipFill>
          <a:blip r:embed="rId3"/>
          <a:stretch>
            <a:fillRect/>
          </a:stretch>
        </p:blipFill>
        <p:spPr>
          <a:xfrm rot="5400000">
            <a:off x="8266176" y="2537460"/>
            <a:ext cx="201168" cy="201168"/>
          </a:xfrm>
          <a:prstGeom prst="rect">
            <a:avLst/>
          </a:prstGeom>
        </p:spPr>
      </p:pic>
      <p:sp>
        <p:nvSpPr>
          <p:cNvPr id="13" name="Shape 8"/>
          <p:cNvSpPr/>
          <p:nvPr/>
        </p:nvSpPr>
        <p:spPr>
          <a:xfrm>
            <a:off x="5029200" y="2656332"/>
            <a:ext cx="6675120" cy="841248"/>
          </a:xfrm>
          <a:prstGeom prst="roundRect">
            <a:avLst>
              <a:gd name="adj" fmla="val 9783"/>
            </a:avLst>
          </a:prstGeom>
          <a:solidFill>
            <a:srgbClr val="20293A"/>
          </a:solidFill>
          <a:ln w="12700">
            <a:solidFill>
              <a:srgbClr val="2A3441"/>
            </a:solidFill>
            <a:prstDash val="solid"/>
          </a:ln>
          <a:effectLst>
            <a:outerShdw sx="100000" sy="100000" kx="0" ky="0" algn="bl" rotWithShape="0" blurRad="127000" dist="38100" dir="5400000">
              <a:srgbClr val="000000">
                <a:alpha val="35000"/>
              </a:srgbClr>
            </a:outerShdw>
          </a:effectLst>
        </p:spPr>
      </p:sp>
      <p:sp>
        <p:nvSpPr>
          <p:cNvPr id="14" name="Shape 9"/>
          <p:cNvSpPr/>
          <p:nvPr/>
        </p:nvSpPr>
        <p:spPr>
          <a:xfrm>
            <a:off x="5230368" y="2820924"/>
            <a:ext cx="512064" cy="512064"/>
          </a:xfrm>
          <a:prstGeom prst="ellipse">
            <a:avLst/>
          </a:prstGeom>
          <a:solidFill>
            <a:srgbClr val="0D1117"/>
          </a:solidFill>
          <a:ln w="12700">
            <a:solidFill>
              <a:srgbClr val="2A3441"/>
            </a:solidFill>
            <a:prstDash val="solid"/>
          </a:ln>
        </p:spPr>
      </p:sp>
      <p:pic>
        <p:nvPicPr>
          <p:cNvPr id="15" name="Image 3" descr="/home/claude/build/assets/icons/cogs_39D98A.png">    </p:cNvPr>
          <p:cNvPicPr>
            <a:picLocks noChangeAspect="1"/>
          </p:cNvPicPr>
          <p:nvPr/>
        </p:nvPicPr>
        <p:blipFill>
          <a:blip r:embed="rId4"/>
          <a:stretch>
            <a:fillRect/>
          </a:stretch>
        </p:blipFill>
        <p:spPr>
          <a:xfrm>
            <a:off x="5345582" y="2936138"/>
            <a:ext cx="281635" cy="281635"/>
          </a:xfrm>
          <a:prstGeom prst="rect">
            <a:avLst/>
          </a:prstGeom>
        </p:spPr>
      </p:pic>
      <p:sp>
        <p:nvSpPr>
          <p:cNvPr id="16" name="Text 10"/>
          <p:cNvSpPr/>
          <p:nvPr/>
        </p:nvSpPr>
        <p:spPr>
          <a:xfrm>
            <a:off x="5897880" y="2747772"/>
            <a:ext cx="5577840" cy="384048"/>
          </a:xfrm>
          <a:prstGeom prst="rect">
            <a:avLst/>
          </a:prstGeom>
          <a:noFill/>
          <a:ln/>
        </p:spPr>
        <p:txBody>
          <a:bodyPr wrap="square" rtlCol="0" anchor="ctr"/>
          <a:lstStyle/>
          <a:p>
            <a:pPr indent="0" marL="0">
              <a:buNone/>
            </a:pPr>
            <a:r>
              <a:rPr lang="en-US" sz="1450" b="1" dirty="0">
                <a:solidFill>
                  <a:srgbClr val="E6EDF3"/>
                </a:solidFill>
                <a:latin typeface="Cambria" pitchFamily="34" charset="0"/>
                <a:ea typeface="Cambria" pitchFamily="34" charset="-122"/>
                <a:cs typeface="Cambria" pitchFamily="34" charset="-120"/>
              </a:rPr>
              <a:t>Process Management Module</a:t>
            </a:r>
            <a:endParaRPr lang="en-US" sz="1450" dirty="0"/>
          </a:p>
        </p:txBody>
      </p:sp>
      <p:sp>
        <p:nvSpPr>
          <p:cNvPr id="17" name="Text 11"/>
          <p:cNvSpPr/>
          <p:nvPr/>
        </p:nvSpPr>
        <p:spPr>
          <a:xfrm>
            <a:off x="5897880" y="3113532"/>
            <a:ext cx="5577840" cy="320040"/>
          </a:xfrm>
          <a:prstGeom prst="rect">
            <a:avLst/>
          </a:prstGeom>
          <a:noFill/>
          <a:ln/>
        </p:spPr>
        <p:txBody>
          <a:bodyPr wrap="square" rtlCol="0" anchor="ctr"/>
          <a:lstStyle/>
          <a:p>
            <a:pPr indent="0" marL="0">
              <a:buNone/>
            </a:pPr>
            <a:r>
              <a:rPr lang="en-US" sz="1000" dirty="0">
                <a:solidFill>
                  <a:srgbClr val="9BA7B4"/>
                </a:solidFill>
                <a:latin typeface="Calibri" pitchFamily="34" charset="0"/>
                <a:ea typeface="Calibri" pitchFamily="34" charset="-122"/>
                <a:cs typeface="Calibri" pitchFamily="34" charset="-120"/>
              </a:rPr>
              <a:t>Maps requests to system-call sequences</a:t>
            </a:r>
            <a:endParaRPr lang="en-US" sz="1000" dirty="0"/>
          </a:p>
        </p:txBody>
      </p:sp>
      <p:pic>
        <p:nvPicPr>
          <p:cNvPr id="18" name="Image 4" descr="/home/claude/build/assets/icons/arrowRight_39D98A.png">    </p:cNvPr>
          <p:cNvPicPr>
            <a:picLocks noChangeAspect="1"/>
          </p:cNvPicPr>
          <p:nvPr/>
        </p:nvPicPr>
        <p:blipFill>
          <a:blip r:embed="rId5"/>
          <a:stretch>
            <a:fillRect/>
          </a:stretch>
        </p:blipFill>
        <p:spPr>
          <a:xfrm rot="5400000">
            <a:off x="8266176" y="3502152"/>
            <a:ext cx="201168" cy="201168"/>
          </a:xfrm>
          <a:prstGeom prst="rect">
            <a:avLst/>
          </a:prstGeom>
        </p:spPr>
      </p:pic>
      <p:sp>
        <p:nvSpPr>
          <p:cNvPr id="19" name="Shape 12"/>
          <p:cNvSpPr/>
          <p:nvPr/>
        </p:nvSpPr>
        <p:spPr>
          <a:xfrm>
            <a:off x="5029200" y="3621024"/>
            <a:ext cx="6675120" cy="841248"/>
          </a:xfrm>
          <a:prstGeom prst="roundRect">
            <a:avLst>
              <a:gd name="adj" fmla="val 9783"/>
            </a:avLst>
          </a:prstGeom>
          <a:solidFill>
            <a:srgbClr val="1B2430"/>
          </a:solidFill>
          <a:ln w="12700">
            <a:solidFill>
              <a:srgbClr val="2A3441"/>
            </a:solidFill>
            <a:prstDash val="solid"/>
          </a:ln>
          <a:effectLst>
            <a:outerShdw sx="100000" sy="100000" kx="0" ky="0" algn="bl" rotWithShape="0" blurRad="127000" dist="38100" dir="5400000">
              <a:srgbClr val="000000">
                <a:alpha val="35000"/>
              </a:srgbClr>
            </a:outerShdw>
          </a:effectLst>
        </p:spPr>
      </p:sp>
      <p:sp>
        <p:nvSpPr>
          <p:cNvPr id="20" name="Shape 13"/>
          <p:cNvSpPr/>
          <p:nvPr/>
        </p:nvSpPr>
        <p:spPr>
          <a:xfrm>
            <a:off x="5230368" y="3785616"/>
            <a:ext cx="512064" cy="512064"/>
          </a:xfrm>
          <a:prstGeom prst="ellipse">
            <a:avLst/>
          </a:prstGeom>
          <a:solidFill>
            <a:srgbClr val="0D1117"/>
          </a:solidFill>
          <a:ln w="12700">
            <a:solidFill>
              <a:srgbClr val="2A3441"/>
            </a:solidFill>
            <a:prstDash val="solid"/>
          </a:ln>
        </p:spPr>
      </p:sp>
      <p:pic>
        <p:nvPicPr>
          <p:cNvPr id="21" name="Image 5" descr="/home/claude/build/assets/icons/terminal_39D98A.png">    </p:cNvPr>
          <p:cNvPicPr>
            <a:picLocks noChangeAspect="1"/>
          </p:cNvPicPr>
          <p:nvPr/>
        </p:nvPicPr>
        <p:blipFill>
          <a:blip r:embed="rId6"/>
          <a:stretch>
            <a:fillRect/>
          </a:stretch>
        </p:blipFill>
        <p:spPr>
          <a:xfrm>
            <a:off x="5345582" y="3900830"/>
            <a:ext cx="281635" cy="281635"/>
          </a:xfrm>
          <a:prstGeom prst="rect">
            <a:avLst/>
          </a:prstGeom>
        </p:spPr>
      </p:pic>
      <p:sp>
        <p:nvSpPr>
          <p:cNvPr id="22" name="Text 14"/>
          <p:cNvSpPr/>
          <p:nvPr/>
        </p:nvSpPr>
        <p:spPr>
          <a:xfrm>
            <a:off x="5897880" y="3712464"/>
            <a:ext cx="5577840" cy="384048"/>
          </a:xfrm>
          <a:prstGeom prst="rect">
            <a:avLst/>
          </a:prstGeom>
          <a:noFill/>
          <a:ln/>
        </p:spPr>
        <p:txBody>
          <a:bodyPr wrap="square" rtlCol="0" anchor="ctr"/>
          <a:lstStyle/>
          <a:p>
            <a:pPr indent="0" marL="0">
              <a:buNone/>
            </a:pPr>
            <a:r>
              <a:rPr lang="en-US" sz="1450" b="1" dirty="0">
                <a:solidFill>
                  <a:srgbClr val="39D98A"/>
                </a:solidFill>
                <a:latin typeface="Cambria" pitchFamily="34" charset="0"/>
                <a:ea typeface="Cambria" pitchFamily="34" charset="-122"/>
                <a:cs typeface="Cambria" pitchFamily="34" charset="-120"/>
              </a:rPr>
              <a:t>Linux System Calls</a:t>
            </a:r>
            <a:endParaRPr lang="en-US" sz="1450" dirty="0"/>
          </a:p>
        </p:txBody>
      </p:sp>
      <p:sp>
        <p:nvSpPr>
          <p:cNvPr id="23" name="Text 15"/>
          <p:cNvSpPr/>
          <p:nvPr/>
        </p:nvSpPr>
        <p:spPr>
          <a:xfrm>
            <a:off x="5897880" y="4078224"/>
            <a:ext cx="5577840" cy="320040"/>
          </a:xfrm>
          <a:prstGeom prst="rect">
            <a:avLst/>
          </a:prstGeom>
          <a:noFill/>
          <a:ln/>
        </p:spPr>
        <p:txBody>
          <a:bodyPr wrap="square" rtlCol="0" anchor="ctr"/>
          <a:lstStyle/>
          <a:p>
            <a:pPr indent="0" marL="0">
              <a:buNone/>
            </a:pPr>
            <a:r>
              <a:rPr lang="en-US" sz="1000" dirty="0">
                <a:solidFill>
                  <a:srgbClr val="9BA7B4"/>
                </a:solidFill>
                <a:latin typeface="Calibri" pitchFamily="34" charset="0"/>
                <a:ea typeface="Calibri" pitchFamily="34" charset="-122"/>
                <a:cs typeface="Calibri" pitchFamily="34" charset="-120"/>
              </a:rPr>
              <a:t>fork · exec · wait · kill · getpid · getppid</a:t>
            </a:r>
            <a:endParaRPr lang="en-US" sz="1000" dirty="0"/>
          </a:p>
        </p:txBody>
      </p:sp>
      <p:pic>
        <p:nvPicPr>
          <p:cNvPr id="24" name="Image 6" descr="/home/claude/build/assets/icons/arrowRight_39D98A.png">    </p:cNvPr>
          <p:cNvPicPr>
            <a:picLocks noChangeAspect="1"/>
          </p:cNvPicPr>
          <p:nvPr/>
        </p:nvPicPr>
        <p:blipFill>
          <a:blip r:embed="rId7"/>
          <a:stretch>
            <a:fillRect/>
          </a:stretch>
        </p:blipFill>
        <p:spPr>
          <a:xfrm rot="5400000">
            <a:off x="8266176" y="4466844"/>
            <a:ext cx="201168" cy="201168"/>
          </a:xfrm>
          <a:prstGeom prst="rect">
            <a:avLst/>
          </a:prstGeom>
        </p:spPr>
      </p:pic>
      <p:sp>
        <p:nvSpPr>
          <p:cNvPr id="25" name="Shape 16"/>
          <p:cNvSpPr/>
          <p:nvPr/>
        </p:nvSpPr>
        <p:spPr>
          <a:xfrm>
            <a:off x="5029200" y="4585716"/>
            <a:ext cx="6675120" cy="841248"/>
          </a:xfrm>
          <a:prstGeom prst="roundRect">
            <a:avLst>
              <a:gd name="adj" fmla="val 9783"/>
            </a:avLst>
          </a:prstGeom>
          <a:solidFill>
            <a:srgbClr val="20293A"/>
          </a:solidFill>
          <a:ln w="12700">
            <a:solidFill>
              <a:srgbClr val="2A3441"/>
            </a:solidFill>
            <a:prstDash val="solid"/>
          </a:ln>
          <a:effectLst>
            <a:outerShdw sx="100000" sy="100000" kx="0" ky="0" algn="bl" rotWithShape="0" blurRad="127000" dist="38100" dir="5400000">
              <a:srgbClr val="000000">
                <a:alpha val="35000"/>
              </a:srgbClr>
            </a:outerShdw>
          </a:effectLst>
        </p:spPr>
      </p:sp>
      <p:sp>
        <p:nvSpPr>
          <p:cNvPr id="26" name="Shape 17"/>
          <p:cNvSpPr/>
          <p:nvPr/>
        </p:nvSpPr>
        <p:spPr>
          <a:xfrm>
            <a:off x="5230368" y="4750308"/>
            <a:ext cx="512064" cy="512064"/>
          </a:xfrm>
          <a:prstGeom prst="ellipse">
            <a:avLst/>
          </a:prstGeom>
          <a:solidFill>
            <a:srgbClr val="0D1117"/>
          </a:solidFill>
          <a:ln w="12700">
            <a:solidFill>
              <a:srgbClr val="2A3441"/>
            </a:solidFill>
            <a:prstDash val="solid"/>
          </a:ln>
        </p:spPr>
      </p:sp>
      <p:pic>
        <p:nvPicPr>
          <p:cNvPr id="27" name="Image 7" descr="/home/claude/build/assets/icons/chip_39D98A.png">    </p:cNvPr>
          <p:cNvPicPr>
            <a:picLocks noChangeAspect="1"/>
          </p:cNvPicPr>
          <p:nvPr/>
        </p:nvPicPr>
        <p:blipFill>
          <a:blip r:embed="rId8"/>
          <a:stretch>
            <a:fillRect/>
          </a:stretch>
        </p:blipFill>
        <p:spPr>
          <a:xfrm>
            <a:off x="5345582" y="4865522"/>
            <a:ext cx="281635" cy="281635"/>
          </a:xfrm>
          <a:prstGeom prst="rect">
            <a:avLst/>
          </a:prstGeom>
        </p:spPr>
      </p:pic>
      <p:sp>
        <p:nvSpPr>
          <p:cNvPr id="28" name="Text 18"/>
          <p:cNvSpPr/>
          <p:nvPr/>
        </p:nvSpPr>
        <p:spPr>
          <a:xfrm>
            <a:off x="5897880" y="4677156"/>
            <a:ext cx="5577840" cy="384048"/>
          </a:xfrm>
          <a:prstGeom prst="rect">
            <a:avLst/>
          </a:prstGeom>
          <a:noFill/>
          <a:ln/>
        </p:spPr>
        <p:txBody>
          <a:bodyPr wrap="square" rtlCol="0" anchor="ctr"/>
          <a:lstStyle/>
          <a:p>
            <a:pPr indent="0" marL="0">
              <a:buNone/>
            </a:pPr>
            <a:r>
              <a:rPr lang="en-US" sz="1450" b="1" dirty="0">
                <a:solidFill>
                  <a:srgbClr val="E6EDF3"/>
                </a:solidFill>
                <a:latin typeface="Cambria" pitchFamily="34" charset="0"/>
                <a:ea typeface="Cambria" pitchFamily="34" charset="-122"/>
                <a:cs typeface="Cambria" pitchFamily="34" charset="-120"/>
              </a:rPr>
              <a:t>Linux Kernel</a:t>
            </a:r>
            <a:endParaRPr lang="en-US" sz="1450" dirty="0"/>
          </a:p>
        </p:txBody>
      </p:sp>
      <p:sp>
        <p:nvSpPr>
          <p:cNvPr id="29" name="Text 19"/>
          <p:cNvSpPr/>
          <p:nvPr/>
        </p:nvSpPr>
        <p:spPr>
          <a:xfrm>
            <a:off x="5897880" y="5042916"/>
            <a:ext cx="5577840" cy="320040"/>
          </a:xfrm>
          <a:prstGeom prst="rect">
            <a:avLst/>
          </a:prstGeom>
          <a:noFill/>
          <a:ln/>
        </p:spPr>
        <p:txBody>
          <a:bodyPr wrap="square" rtlCol="0" anchor="ctr"/>
          <a:lstStyle/>
          <a:p>
            <a:pPr indent="0" marL="0">
              <a:buNone/>
            </a:pPr>
            <a:r>
              <a:rPr lang="en-US" sz="1000" dirty="0">
                <a:solidFill>
                  <a:srgbClr val="9BA7B4"/>
                </a:solidFill>
                <a:latin typeface="Calibri" pitchFamily="34" charset="0"/>
                <a:ea typeface="Calibri" pitchFamily="34" charset="-122"/>
                <a:cs typeface="Calibri" pitchFamily="34" charset="-120"/>
              </a:rPr>
              <a:t>Schedules, isolates, and executes processes</a:t>
            </a:r>
            <a:endParaRPr lang="en-US" sz="1000" dirty="0"/>
          </a:p>
        </p:txBody>
      </p:sp>
      <p:pic>
        <p:nvPicPr>
          <p:cNvPr id="30" name="Image 8" descr="/home/claude/build/assets/icons/arrowRight_39D98A.png">    </p:cNvPr>
          <p:cNvPicPr>
            <a:picLocks noChangeAspect="1"/>
          </p:cNvPicPr>
          <p:nvPr/>
        </p:nvPicPr>
        <p:blipFill>
          <a:blip r:embed="rId9"/>
          <a:stretch>
            <a:fillRect/>
          </a:stretch>
        </p:blipFill>
        <p:spPr>
          <a:xfrm rot="5400000">
            <a:off x="8266176" y="5431536"/>
            <a:ext cx="201168" cy="201168"/>
          </a:xfrm>
          <a:prstGeom prst="rect">
            <a:avLst/>
          </a:prstGeom>
        </p:spPr>
      </p:pic>
      <p:sp>
        <p:nvSpPr>
          <p:cNvPr id="31" name="Shape 20"/>
          <p:cNvSpPr/>
          <p:nvPr/>
        </p:nvSpPr>
        <p:spPr>
          <a:xfrm>
            <a:off x="5029200" y="5550408"/>
            <a:ext cx="6675120" cy="841248"/>
          </a:xfrm>
          <a:prstGeom prst="roundRect">
            <a:avLst>
              <a:gd name="adj" fmla="val 9783"/>
            </a:avLst>
          </a:prstGeom>
          <a:solidFill>
            <a:srgbClr val="1B2430"/>
          </a:solidFill>
          <a:ln w="12700">
            <a:solidFill>
              <a:srgbClr val="2A3441"/>
            </a:solidFill>
            <a:prstDash val="solid"/>
          </a:ln>
          <a:effectLst>
            <a:outerShdw sx="100000" sy="100000" kx="0" ky="0" algn="bl" rotWithShape="0" blurRad="127000" dist="38100" dir="5400000">
              <a:srgbClr val="000000">
                <a:alpha val="35000"/>
              </a:srgbClr>
            </a:outerShdw>
          </a:effectLst>
        </p:spPr>
      </p:sp>
      <p:sp>
        <p:nvSpPr>
          <p:cNvPr id="32" name="Shape 21"/>
          <p:cNvSpPr/>
          <p:nvPr/>
        </p:nvSpPr>
        <p:spPr>
          <a:xfrm>
            <a:off x="5230368" y="5715000"/>
            <a:ext cx="512064" cy="512064"/>
          </a:xfrm>
          <a:prstGeom prst="ellipse">
            <a:avLst/>
          </a:prstGeom>
          <a:solidFill>
            <a:srgbClr val="0D1117"/>
          </a:solidFill>
          <a:ln w="12700">
            <a:solidFill>
              <a:srgbClr val="2A3441"/>
            </a:solidFill>
            <a:prstDash val="solid"/>
          </a:ln>
        </p:spPr>
      </p:sp>
      <p:pic>
        <p:nvPicPr>
          <p:cNvPr id="33" name="Image 9" descr="/home/claude/build/assets/icons/server_39D98A.png">    </p:cNvPr>
          <p:cNvPicPr>
            <a:picLocks noChangeAspect="1"/>
          </p:cNvPicPr>
          <p:nvPr/>
        </p:nvPicPr>
        <p:blipFill>
          <a:blip r:embed="rId10"/>
          <a:stretch>
            <a:fillRect/>
          </a:stretch>
        </p:blipFill>
        <p:spPr>
          <a:xfrm>
            <a:off x="5345582" y="5830214"/>
            <a:ext cx="281635" cy="281635"/>
          </a:xfrm>
          <a:prstGeom prst="rect">
            <a:avLst/>
          </a:prstGeom>
        </p:spPr>
      </p:pic>
      <p:sp>
        <p:nvSpPr>
          <p:cNvPr id="34" name="Text 22"/>
          <p:cNvSpPr/>
          <p:nvPr/>
        </p:nvSpPr>
        <p:spPr>
          <a:xfrm>
            <a:off x="5897880" y="5641848"/>
            <a:ext cx="5577840" cy="384048"/>
          </a:xfrm>
          <a:prstGeom prst="rect">
            <a:avLst/>
          </a:prstGeom>
          <a:noFill/>
          <a:ln/>
        </p:spPr>
        <p:txBody>
          <a:bodyPr wrap="square" rtlCol="0" anchor="ctr"/>
          <a:lstStyle/>
          <a:p>
            <a:pPr indent="0" marL="0">
              <a:buNone/>
            </a:pPr>
            <a:r>
              <a:rPr lang="en-US" sz="1450" b="1" dirty="0">
                <a:solidFill>
                  <a:srgbClr val="E6EDF3"/>
                </a:solidFill>
                <a:latin typeface="Cambria" pitchFamily="34" charset="0"/>
                <a:ea typeface="Cambria" pitchFamily="34" charset="-122"/>
                <a:cs typeface="Cambria" pitchFamily="34" charset="-120"/>
              </a:rPr>
              <a:t>Hardware Resources</a:t>
            </a:r>
            <a:endParaRPr lang="en-US" sz="1450" dirty="0"/>
          </a:p>
        </p:txBody>
      </p:sp>
      <p:sp>
        <p:nvSpPr>
          <p:cNvPr id="35" name="Text 23"/>
          <p:cNvSpPr/>
          <p:nvPr/>
        </p:nvSpPr>
        <p:spPr>
          <a:xfrm>
            <a:off x="5897880" y="6007608"/>
            <a:ext cx="5577840" cy="320040"/>
          </a:xfrm>
          <a:prstGeom prst="rect">
            <a:avLst/>
          </a:prstGeom>
          <a:noFill/>
          <a:ln/>
        </p:spPr>
        <p:txBody>
          <a:bodyPr wrap="square" rtlCol="0" anchor="ctr"/>
          <a:lstStyle/>
          <a:p>
            <a:pPr indent="0" marL="0">
              <a:buNone/>
            </a:pPr>
            <a:r>
              <a:rPr lang="en-US" sz="1000" dirty="0">
                <a:solidFill>
                  <a:srgbClr val="9BA7B4"/>
                </a:solidFill>
                <a:latin typeface="Calibri" pitchFamily="34" charset="0"/>
                <a:ea typeface="Calibri" pitchFamily="34" charset="-122"/>
                <a:cs typeface="Calibri" pitchFamily="34" charset="-120"/>
              </a:rPr>
              <a:t>CPU, memory, and I/O the kernel manages</a:t>
            </a:r>
            <a:endParaRPr lang="en-US" sz="1000" dirty="0"/>
          </a:p>
        </p:txBody>
      </p:sp>
      <p:sp>
        <p:nvSpPr>
          <p:cNvPr id="36" name="Text 24"/>
          <p:cNvSpPr/>
          <p:nvPr/>
        </p:nvSpPr>
        <p:spPr>
          <a:xfrm>
            <a:off x="457200" y="6473952"/>
            <a:ext cx="7315200" cy="274320"/>
          </a:xfrm>
          <a:prstGeom prst="rect">
            <a:avLst/>
          </a:prstGeom>
          <a:noFill/>
          <a:ln/>
        </p:spPr>
        <p:txBody>
          <a:bodyPr wrap="square" rtlCol="0" anchor="ctr"/>
          <a:lstStyle/>
          <a:p>
            <a:pPr algn="l" indent="0" marL="0">
              <a:buNone/>
            </a:pPr>
            <a:r>
              <a:rPr lang="en-US" sz="900" spc="100" kern="0" dirty="0">
                <a:solidFill>
                  <a:srgbClr val="9BA7B4"/>
                </a:solidFill>
                <a:latin typeface="Calibri" pitchFamily="34" charset="0"/>
                <a:ea typeface="Calibri" pitchFamily="34" charset="-122"/>
                <a:cs typeface="Calibri" pitchFamily="34" charset="-120"/>
              </a:rPr>
              <a:t>SMART PROCESS MANAGEMENT  •  LINUX SYSTEM CALLS</a:t>
            </a:r>
            <a:endParaRPr lang="en-US" sz="900" dirty="0"/>
          </a:p>
        </p:txBody>
      </p:sp>
      <p:sp>
        <p:nvSpPr>
          <p:cNvPr id="37" name="Text 25"/>
          <p:cNvSpPr/>
          <p:nvPr/>
        </p:nvSpPr>
        <p:spPr>
          <a:xfrm>
            <a:off x="11277295" y="6473952"/>
            <a:ext cx="457200" cy="274320"/>
          </a:xfrm>
          <a:prstGeom prst="rect">
            <a:avLst/>
          </a:prstGeom>
          <a:noFill/>
          <a:ln/>
        </p:spPr>
        <p:txBody>
          <a:bodyPr wrap="square" rtlCol="0" anchor="ctr"/>
          <a:lstStyle/>
          <a:p>
            <a:pPr algn="r" indent="0" marL="0">
              <a:buNone/>
            </a:pPr>
            <a:r>
              <a:rPr lang="en-US" sz="900" dirty="0">
                <a:solidFill>
                  <a:srgbClr val="9BA7B4"/>
                </a:solidFill>
                <a:latin typeface="Calibri" pitchFamily="34" charset="0"/>
                <a:ea typeface="Calibri" pitchFamily="34" charset="-122"/>
                <a:cs typeface="Calibri" pitchFamily="34" charset="-120"/>
              </a:rPr>
              <a:t>05</a:t>
            </a:r>
            <a:endParaRPr lang="en-US" sz="9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0D1117"/>
        </a:solidFill>
      </p:bgPr>
    </p:bg>
    <p:spTree>
      <p:nvGrpSpPr>
        <p:cNvPr id="1" name=""/>
        <p:cNvGrpSpPr/>
        <p:nvPr/>
      </p:nvGrpSpPr>
      <p:grpSpPr>
        <a:xfrm>
          <a:off x="0" y="0"/>
          <a:ext cx="0" cy="0"/>
          <a:chOff x="0" y="0"/>
          <a:chExt cx="0" cy="0"/>
        </a:xfrm>
      </p:grpSpPr>
      <p:pic>
        <p:nvPicPr>
          <p:cNvPr id="2" name="Image 0" descr="/home/claude/build/assets/bg_panel.png">    </p:cNvPr>
          <p:cNvPicPr>
            <a:picLocks noChangeAspect="1"/>
          </p:cNvPicPr>
          <p:nvPr/>
        </p:nvPicPr>
        <p:blipFill>
          <a:blip r:embed="rId1"/>
          <a:stretch>
            <a:fillRect/>
          </a:stretch>
        </p:blipFill>
        <p:spPr>
          <a:xfrm>
            <a:off x="0" y="0"/>
            <a:ext cx="12191695" cy="6858000"/>
          </a:xfrm>
          <a:prstGeom prst="rect">
            <a:avLst/>
          </a:prstGeom>
        </p:spPr>
      </p:pic>
      <p:sp>
        <p:nvSpPr>
          <p:cNvPr id="3" name="Shape 0"/>
          <p:cNvSpPr/>
          <p:nvPr/>
        </p:nvSpPr>
        <p:spPr>
          <a:xfrm>
            <a:off x="502920" y="457200"/>
            <a:ext cx="128016" cy="128016"/>
          </a:xfrm>
          <a:prstGeom prst="roundRect">
            <a:avLst>
              <a:gd name="adj" fmla="val 50000"/>
            </a:avLst>
          </a:prstGeom>
          <a:solidFill>
            <a:srgbClr val="39D98A"/>
          </a:solidFill>
          <a:ln/>
        </p:spPr>
      </p:sp>
      <p:sp>
        <p:nvSpPr>
          <p:cNvPr id="4" name="Text 1"/>
          <p:cNvSpPr/>
          <p:nvPr/>
        </p:nvSpPr>
        <p:spPr>
          <a:xfrm>
            <a:off x="713232" y="393192"/>
            <a:ext cx="5486400" cy="274320"/>
          </a:xfrm>
          <a:prstGeom prst="rect">
            <a:avLst/>
          </a:prstGeom>
          <a:noFill/>
          <a:ln/>
        </p:spPr>
        <p:txBody>
          <a:bodyPr wrap="square" rtlCol="0" anchor="ctr"/>
          <a:lstStyle/>
          <a:p>
            <a:pPr indent="0" marL="0">
              <a:buNone/>
            </a:pPr>
            <a:r>
              <a:rPr lang="en-US" sz="1250" b="1" spc="200" kern="0" dirty="0">
                <a:solidFill>
                  <a:srgbClr val="39D98A"/>
                </a:solidFill>
                <a:latin typeface="Calibri" pitchFamily="34" charset="0"/>
                <a:ea typeface="Calibri" pitchFamily="34" charset="-122"/>
                <a:cs typeface="Calibri" pitchFamily="34" charset="-120"/>
              </a:rPr>
              <a:t>DEEP DIVE</a:t>
            </a:r>
            <a:endParaRPr lang="en-US" sz="1250" dirty="0"/>
          </a:p>
        </p:txBody>
      </p:sp>
      <p:sp>
        <p:nvSpPr>
          <p:cNvPr id="5" name="Text 2"/>
          <p:cNvSpPr/>
          <p:nvPr/>
        </p:nvSpPr>
        <p:spPr>
          <a:xfrm>
            <a:off x="502920" y="713232"/>
            <a:ext cx="10515600" cy="685800"/>
          </a:xfrm>
          <a:prstGeom prst="rect">
            <a:avLst/>
          </a:prstGeom>
          <a:noFill/>
          <a:ln/>
        </p:spPr>
        <p:txBody>
          <a:bodyPr wrap="square" rtlCol="0" anchor="ctr"/>
          <a:lstStyle/>
          <a:p>
            <a:pPr algn="l" indent="0" marL="0">
              <a:buNone/>
            </a:pPr>
            <a:r>
              <a:rPr lang="en-US" sz="3000" b="1" dirty="0">
                <a:solidFill>
                  <a:srgbClr val="E6EDF3"/>
                </a:solidFill>
                <a:latin typeface="Cambria" pitchFamily="34" charset="0"/>
                <a:ea typeface="Cambria" pitchFamily="34" charset="-122"/>
                <a:cs typeface="Cambria" pitchFamily="34" charset="-120"/>
              </a:rPr>
              <a:t>Linux System Calls Overview</a:t>
            </a:r>
            <a:endParaRPr lang="en-US" sz="3000" dirty="0"/>
          </a:p>
        </p:txBody>
      </p:sp>
      <p:sp>
        <p:nvSpPr>
          <p:cNvPr id="6" name="Shape 3"/>
          <p:cNvSpPr/>
          <p:nvPr/>
        </p:nvSpPr>
        <p:spPr>
          <a:xfrm>
            <a:off x="502920" y="1691640"/>
            <a:ext cx="3550920" cy="2194560"/>
          </a:xfrm>
          <a:prstGeom prst="roundRect">
            <a:avLst>
              <a:gd name="adj" fmla="val 3750"/>
            </a:avLst>
          </a:prstGeom>
          <a:solidFill>
            <a:srgbClr val="161B22"/>
          </a:solidFill>
          <a:ln w="12700">
            <a:solidFill>
              <a:srgbClr val="2A3441"/>
            </a:solidFill>
            <a:prstDash val="solid"/>
          </a:ln>
          <a:effectLst>
            <a:outerShdw sx="100000" sy="100000" kx="0" ky="0" algn="bl" rotWithShape="0" blurRad="127000" dist="38100" dir="5400000">
              <a:srgbClr val="000000">
                <a:alpha val="35000"/>
              </a:srgbClr>
            </a:outerShdw>
          </a:effectLst>
        </p:spPr>
      </p:sp>
      <p:sp>
        <p:nvSpPr>
          <p:cNvPr id="7" name="Shape 4"/>
          <p:cNvSpPr/>
          <p:nvPr/>
        </p:nvSpPr>
        <p:spPr>
          <a:xfrm>
            <a:off x="758952" y="1929384"/>
            <a:ext cx="566928" cy="566928"/>
          </a:xfrm>
          <a:prstGeom prst="ellipse">
            <a:avLst/>
          </a:prstGeom>
          <a:solidFill>
            <a:srgbClr val="20293A"/>
          </a:solidFill>
          <a:ln w="12700">
            <a:solidFill>
              <a:srgbClr val="2A3441"/>
            </a:solidFill>
            <a:prstDash val="solid"/>
          </a:ln>
        </p:spPr>
      </p:sp>
      <p:pic>
        <p:nvPicPr>
          <p:cNvPr id="8" name="Image 1" descr="/home/claude/build/assets/icons/sync_39D98A.png">    </p:cNvPr>
          <p:cNvPicPr>
            <a:picLocks noChangeAspect="1"/>
          </p:cNvPicPr>
          <p:nvPr/>
        </p:nvPicPr>
        <p:blipFill>
          <a:blip r:embed="rId2"/>
          <a:stretch>
            <a:fillRect/>
          </a:stretch>
        </p:blipFill>
        <p:spPr>
          <a:xfrm>
            <a:off x="895015" y="2065447"/>
            <a:ext cx="294803" cy="294803"/>
          </a:xfrm>
          <a:prstGeom prst="rect">
            <a:avLst/>
          </a:prstGeom>
        </p:spPr>
      </p:pic>
      <p:sp>
        <p:nvSpPr>
          <p:cNvPr id="9" name="Text 5"/>
          <p:cNvSpPr/>
          <p:nvPr/>
        </p:nvSpPr>
        <p:spPr>
          <a:xfrm>
            <a:off x="758952" y="2624328"/>
            <a:ext cx="3038856" cy="365760"/>
          </a:xfrm>
          <a:prstGeom prst="rect">
            <a:avLst/>
          </a:prstGeom>
          <a:noFill/>
          <a:ln/>
        </p:spPr>
        <p:txBody>
          <a:bodyPr wrap="square" rtlCol="0" anchor="ctr"/>
          <a:lstStyle/>
          <a:p>
            <a:pPr indent="0" marL="0">
              <a:buNone/>
            </a:pPr>
            <a:r>
              <a:rPr lang="en-US" sz="1700" b="1" dirty="0">
                <a:solidFill>
                  <a:srgbClr val="39D98A"/>
                </a:solidFill>
                <a:latin typeface="Courier New" pitchFamily="34" charset="0"/>
                <a:ea typeface="Courier New" pitchFamily="34" charset="-122"/>
                <a:cs typeface="Courier New" pitchFamily="34" charset="-120"/>
              </a:rPr>
              <a:t>fork()</a:t>
            </a:r>
            <a:endParaRPr lang="en-US" sz="1700" dirty="0"/>
          </a:p>
        </p:txBody>
      </p:sp>
      <p:sp>
        <p:nvSpPr>
          <p:cNvPr id="10" name="Text 6"/>
          <p:cNvSpPr/>
          <p:nvPr/>
        </p:nvSpPr>
        <p:spPr>
          <a:xfrm>
            <a:off x="758952" y="3017520"/>
            <a:ext cx="3038856" cy="685800"/>
          </a:xfrm>
          <a:prstGeom prst="rect">
            <a:avLst/>
          </a:prstGeom>
          <a:noFill/>
          <a:ln/>
        </p:spPr>
        <p:txBody>
          <a:bodyPr wrap="square" rtlCol="0" anchor="t"/>
          <a:lstStyle/>
          <a:p>
            <a:pPr indent="0" marL="0">
              <a:lnSpc>
                <a:spcPct val="120000"/>
              </a:lnSpc>
              <a:buNone/>
            </a:pPr>
            <a:r>
              <a:rPr lang="en-US" sz="1000" dirty="0">
                <a:solidFill>
                  <a:srgbClr val="9BA7B4"/>
                </a:solidFill>
                <a:latin typeface="Calibri" pitchFamily="34" charset="0"/>
                <a:ea typeface="Calibri" pitchFamily="34" charset="-122"/>
                <a:cs typeface="Calibri" pitchFamily="34" charset="-120"/>
              </a:rPr>
              <a:t>Spawns a near-identical duplicate of the calling process, giving the operating system two independently scheduled processes that briefly share the same code and data before diverging.</a:t>
            </a:r>
            <a:endParaRPr lang="en-US" sz="1000" dirty="0"/>
          </a:p>
        </p:txBody>
      </p:sp>
      <p:sp>
        <p:nvSpPr>
          <p:cNvPr id="11" name="Shape 7"/>
          <p:cNvSpPr/>
          <p:nvPr/>
        </p:nvSpPr>
        <p:spPr>
          <a:xfrm>
            <a:off x="4328160" y="1691640"/>
            <a:ext cx="3550920" cy="2194560"/>
          </a:xfrm>
          <a:prstGeom prst="roundRect">
            <a:avLst>
              <a:gd name="adj" fmla="val 3750"/>
            </a:avLst>
          </a:prstGeom>
          <a:solidFill>
            <a:srgbClr val="161B22"/>
          </a:solidFill>
          <a:ln w="12700">
            <a:solidFill>
              <a:srgbClr val="2A3441"/>
            </a:solidFill>
            <a:prstDash val="solid"/>
          </a:ln>
          <a:effectLst>
            <a:outerShdw sx="100000" sy="100000" kx="0" ky="0" algn="bl" rotWithShape="0" blurRad="127000" dist="38100" dir="5400000">
              <a:srgbClr val="000000">
                <a:alpha val="35000"/>
              </a:srgbClr>
            </a:outerShdw>
          </a:effectLst>
        </p:spPr>
      </p:sp>
      <p:sp>
        <p:nvSpPr>
          <p:cNvPr id="12" name="Shape 8"/>
          <p:cNvSpPr/>
          <p:nvPr/>
        </p:nvSpPr>
        <p:spPr>
          <a:xfrm>
            <a:off x="4584192" y="1929384"/>
            <a:ext cx="566928" cy="566928"/>
          </a:xfrm>
          <a:prstGeom prst="ellipse">
            <a:avLst/>
          </a:prstGeom>
          <a:solidFill>
            <a:srgbClr val="20293A"/>
          </a:solidFill>
          <a:ln w="12700">
            <a:solidFill>
              <a:srgbClr val="2A3441"/>
            </a:solidFill>
            <a:prstDash val="solid"/>
          </a:ln>
        </p:spPr>
      </p:sp>
      <p:pic>
        <p:nvPicPr>
          <p:cNvPr id="13" name="Image 2" descr="/home/claude/build/assets/icons/arrowRight_39D98A.png">    </p:cNvPr>
          <p:cNvPicPr>
            <a:picLocks noChangeAspect="1"/>
          </p:cNvPicPr>
          <p:nvPr/>
        </p:nvPicPr>
        <p:blipFill>
          <a:blip r:embed="rId3"/>
          <a:stretch>
            <a:fillRect/>
          </a:stretch>
        </p:blipFill>
        <p:spPr>
          <a:xfrm>
            <a:off x="4720255" y="2065447"/>
            <a:ext cx="294803" cy="294803"/>
          </a:xfrm>
          <a:prstGeom prst="rect">
            <a:avLst/>
          </a:prstGeom>
        </p:spPr>
      </p:pic>
      <p:sp>
        <p:nvSpPr>
          <p:cNvPr id="14" name="Text 9"/>
          <p:cNvSpPr/>
          <p:nvPr/>
        </p:nvSpPr>
        <p:spPr>
          <a:xfrm>
            <a:off x="4584192" y="2624328"/>
            <a:ext cx="3038856" cy="365760"/>
          </a:xfrm>
          <a:prstGeom prst="rect">
            <a:avLst/>
          </a:prstGeom>
          <a:noFill/>
          <a:ln/>
        </p:spPr>
        <p:txBody>
          <a:bodyPr wrap="square" rtlCol="0" anchor="ctr"/>
          <a:lstStyle/>
          <a:p>
            <a:pPr indent="0" marL="0">
              <a:buNone/>
            </a:pPr>
            <a:r>
              <a:rPr lang="en-US" sz="1700" b="1" dirty="0">
                <a:solidFill>
                  <a:srgbClr val="39D98A"/>
                </a:solidFill>
                <a:latin typeface="Courier New" pitchFamily="34" charset="0"/>
                <a:ea typeface="Courier New" pitchFamily="34" charset="-122"/>
                <a:cs typeface="Courier New" pitchFamily="34" charset="-120"/>
              </a:rPr>
              <a:t>exec()</a:t>
            </a:r>
            <a:endParaRPr lang="en-US" sz="1700" dirty="0"/>
          </a:p>
        </p:txBody>
      </p:sp>
      <p:sp>
        <p:nvSpPr>
          <p:cNvPr id="15" name="Text 10"/>
          <p:cNvSpPr/>
          <p:nvPr/>
        </p:nvSpPr>
        <p:spPr>
          <a:xfrm>
            <a:off x="4584192" y="3017520"/>
            <a:ext cx="3038856" cy="685800"/>
          </a:xfrm>
          <a:prstGeom prst="rect">
            <a:avLst/>
          </a:prstGeom>
          <a:noFill/>
          <a:ln/>
        </p:spPr>
        <p:txBody>
          <a:bodyPr wrap="square" rtlCol="0" anchor="t"/>
          <a:lstStyle/>
          <a:p>
            <a:pPr indent="0" marL="0">
              <a:lnSpc>
                <a:spcPct val="120000"/>
              </a:lnSpc>
              <a:buNone/>
            </a:pPr>
            <a:r>
              <a:rPr lang="en-US" sz="1000" dirty="0">
                <a:solidFill>
                  <a:srgbClr val="9BA7B4"/>
                </a:solidFill>
                <a:latin typeface="Calibri" pitchFamily="34" charset="0"/>
                <a:ea typeface="Calibri" pitchFamily="34" charset="-122"/>
                <a:cs typeface="Calibri" pitchFamily="34" charset="-120"/>
              </a:rPr>
              <a:t>Replaces the calling process's memory image in place with a new executable, letting a freshly forked child transform itself into an entirely different program without creating another process.</a:t>
            </a:r>
            <a:endParaRPr lang="en-US" sz="1000" dirty="0"/>
          </a:p>
        </p:txBody>
      </p:sp>
      <p:sp>
        <p:nvSpPr>
          <p:cNvPr id="16" name="Shape 11"/>
          <p:cNvSpPr/>
          <p:nvPr/>
        </p:nvSpPr>
        <p:spPr>
          <a:xfrm>
            <a:off x="8153400" y="1691640"/>
            <a:ext cx="3550920" cy="2194560"/>
          </a:xfrm>
          <a:prstGeom prst="roundRect">
            <a:avLst>
              <a:gd name="adj" fmla="val 3750"/>
            </a:avLst>
          </a:prstGeom>
          <a:solidFill>
            <a:srgbClr val="161B22"/>
          </a:solidFill>
          <a:ln w="12700">
            <a:solidFill>
              <a:srgbClr val="2A3441"/>
            </a:solidFill>
            <a:prstDash val="solid"/>
          </a:ln>
          <a:effectLst>
            <a:outerShdw sx="100000" sy="100000" kx="0" ky="0" algn="bl" rotWithShape="0" blurRad="127000" dist="38100" dir="5400000">
              <a:srgbClr val="000000">
                <a:alpha val="35000"/>
              </a:srgbClr>
            </a:outerShdw>
          </a:effectLst>
        </p:spPr>
      </p:sp>
      <p:sp>
        <p:nvSpPr>
          <p:cNvPr id="17" name="Shape 12"/>
          <p:cNvSpPr/>
          <p:nvPr/>
        </p:nvSpPr>
        <p:spPr>
          <a:xfrm>
            <a:off x="8409432" y="1929384"/>
            <a:ext cx="566928" cy="566928"/>
          </a:xfrm>
          <a:prstGeom prst="ellipse">
            <a:avLst/>
          </a:prstGeom>
          <a:solidFill>
            <a:srgbClr val="20293A"/>
          </a:solidFill>
          <a:ln w="12700">
            <a:solidFill>
              <a:srgbClr val="2A3441"/>
            </a:solidFill>
            <a:prstDash val="solid"/>
          </a:ln>
        </p:spPr>
      </p:sp>
      <p:pic>
        <p:nvPicPr>
          <p:cNvPr id="18" name="Image 3" descr="/home/claude/build/assets/icons/hourglass_39D98A.png">    </p:cNvPr>
          <p:cNvPicPr>
            <a:picLocks noChangeAspect="1"/>
          </p:cNvPicPr>
          <p:nvPr/>
        </p:nvPicPr>
        <p:blipFill>
          <a:blip r:embed="rId4"/>
          <a:stretch>
            <a:fillRect/>
          </a:stretch>
        </p:blipFill>
        <p:spPr>
          <a:xfrm>
            <a:off x="8545495" y="2065447"/>
            <a:ext cx="294803" cy="294803"/>
          </a:xfrm>
          <a:prstGeom prst="rect">
            <a:avLst/>
          </a:prstGeom>
        </p:spPr>
      </p:pic>
      <p:sp>
        <p:nvSpPr>
          <p:cNvPr id="19" name="Text 13"/>
          <p:cNvSpPr/>
          <p:nvPr/>
        </p:nvSpPr>
        <p:spPr>
          <a:xfrm>
            <a:off x="8409432" y="2624328"/>
            <a:ext cx="3038856" cy="365760"/>
          </a:xfrm>
          <a:prstGeom prst="rect">
            <a:avLst/>
          </a:prstGeom>
          <a:noFill/>
          <a:ln/>
        </p:spPr>
        <p:txBody>
          <a:bodyPr wrap="square" rtlCol="0" anchor="ctr"/>
          <a:lstStyle/>
          <a:p>
            <a:pPr indent="0" marL="0">
              <a:buNone/>
            </a:pPr>
            <a:r>
              <a:rPr lang="en-US" sz="1700" b="1" dirty="0">
                <a:solidFill>
                  <a:srgbClr val="39D98A"/>
                </a:solidFill>
                <a:latin typeface="Courier New" pitchFamily="34" charset="0"/>
                <a:ea typeface="Courier New" pitchFamily="34" charset="-122"/>
                <a:cs typeface="Courier New" pitchFamily="34" charset="-120"/>
              </a:rPr>
              <a:t>wait()</a:t>
            </a:r>
            <a:endParaRPr lang="en-US" sz="1700" dirty="0"/>
          </a:p>
        </p:txBody>
      </p:sp>
      <p:sp>
        <p:nvSpPr>
          <p:cNvPr id="20" name="Text 14"/>
          <p:cNvSpPr/>
          <p:nvPr/>
        </p:nvSpPr>
        <p:spPr>
          <a:xfrm>
            <a:off x="8409432" y="3017520"/>
            <a:ext cx="3038856" cy="685800"/>
          </a:xfrm>
          <a:prstGeom prst="rect">
            <a:avLst/>
          </a:prstGeom>
          <a:noFill/>
          <a:ln/>
        </p:spPr>
        <p:txBody>
          <a:bodyPr wrap="square" rtlCol="0" anchor="t"/>
          <a:lstStyle/>
          <a:p>
            <a:pPr indent="0" marL="0">
              <a:lnSpc>
                <a:spcPct val="120000"/>
              </a:lnSpc>
              <a:buNone/>
            </a:pPr>
            <a:r>
              <a:rPr lang="en-US" sz="1000" dirty="0">
                <a:solidFill>
                  <a:srgbClr val="9BA7B4"/>
                </a:solidFill>
                <a:latin typeface="Calibri" pitchFamily="34" charset="0"/>
                <a:ea typeface="Calibri" pitchFamily="34" charset="-122"/>
                <a:cs typeface="Calibri" pitchFamily="34" charset="-120"/>
              </a:rPr>
              <a:t>Suspends the parent process until a specified child terminates, allowing the parent to collect the child's exit status and preventing orphaned or zombie processes from lingering.</a:t>
            </a:r>
            <a:endParaRPr lang="en-US" sz="1000" dirty="0"/>
          </a:p>
        </p:txBody>
      </p:sp>
      <p:sp>
        <p:nvSpPr>
          <p:cNvPr id="21" name="Shape 15"/>
          <p:cNvSpPr/>
          <p:nvPr/>
        </p:nvSpPr>
        <p:spPr>
          <a:xfrm>
            <a:off x="502920" y="4160520"/>
            <a:ext cx="3550920" cy="2194560"/>
          </a:xfrm>
          <a:prstGeom prst="roundRect">
            <a:avLst>
              <a:gd name="adj" fmla="val 3750"/>
            </a:avLst>
          </a:prstGeom>
          <a:solidFill>
            <a:srgbClr val="161B22"/>
          </a:solidFill>
          <a:ln w="12700">
            <a:solidFill>
              <a:srgbClr val="2A3441"/>
            </a:solidFill>
            <a:prstDash val="solid"/>
          </a:ln>
          <a:effectLst>
            <a:outerShdw sx="100000" sy="100000" kx="0" ky="0" algn="bl" rotWithShape="0" blurRad="127000" dist="38100" dir="5400000">
              <a:srgbClr val="000000">
                <a:alpha val="35000"/>
              </a:srgbClr>
            </a:outerShdw>
          </a:effectLst>
        </p:spPr>
      </p:sp>
      <p:sp>
        <p:nvSpPr>
          <p:cNvPr id="22" name="Shape 16"/>
          <p:cNvSpPr/>
          <p:nvPr/>
        </p:nvSpPr>
        <p:spPr>
          <a:xfrm>
            <a:off x="758952" y="4398264"/>
            <a:ext cx="566928" cy="566928"/>
          </a:xfrm>
          <a:prstGeom prst="ellipse">
            <a:avLst/>
          </a:prstGeom>
          <a:solidFill>
            <a:srgbClr val="20293A"/>
          </a:solidFill>
          <a:ln w="12700">
            <a:solidFill>
              <a:srgbClr val="2A3441"/>
            </a:solidFill>
            <a:prstDash val="solid"/>
          </a:ln>
        </p:spPr>
      </p:sp>
      <p:pic>
        <p:nvPicPr>
          <p:cNvPr id="23" name="Image 4" descr="/home/claude/build/assets/icons/ban_39D98A.png">    </p:cNvPr>
          <p:cNvPicPr>
            <a:picLocks noChangeAspect="1"/>
          </p:cNvPicPr>
          <p:nvPr/>
        </p:nvPicPr>
        <p:blipFill>
          <a:blip r:embed="rId5"/>
          <a:stretch>
            <a:fillRect/>
          </a:stretch>
        </p:blipFill>
        <p:spPr>
          <a:xfrm>
            <a:off x="895015" y="4534327"/>
            <a:ext cx="294803" cy="294803"/>
          </a:xfrm>
          <a:prstGeom prst="rect">
            <a:avLst/>
          </a:prstGeom>
        </p:spPr>
      </p:pic>
      <p:sp>
        <p:nvSpPr>
          <p:cNvPr id="24" name="Text 17"/>
          <p:cNvSpPr/>
          <p:nvPr/>
        </p:nvSpPr>
        <p:spPr>
          <a:xfrm>
            <a:off x="758952" y="5093208"/>
            <a:ext cx="3038856" cy="365760"/>
          </a:xfrm>
          <a:prstGeom prst="rect">
            <a:avLst/>
          </a:prstGeom>
          <a:noFill/>
          <a:ln/>
        </p:spPr>
        <p:txBody>
          <a:bodyPr wrap="square" rtlCol="0" anchor="ctr"/>
          <a:lstStyle/>
          <a:p>
            <a:pPr indent="0" marL="0">
              <a:buNone/>
            </a:pPr>
            <a:r>
              <a:rPr lang="en-US" sz="1700" b="1" dirty="0">
                <a:solidFill>
                  <a:srgbClr val="39D98A"/>
                </a:solidFill>
                <a:latin typeface="Courier New" pitchFamily="34" charset="0"/>
                <a:ea typeface="Courier New" pitchFamily="34" charset="-122"/>
                <a:cs typeface="Courier New" pitchFamily="34" charset="-120"/>
              </a:rPr>
              <a:t>kill()</a:t>
            </a:r>
            <a:endParaRPr lang="en-US" sz="1700" dirty="0"/>
          </a:p>
        </p:txBody>
      </p:sp>
      <p:sp>
        <p:nvSpPr>
          <p:cNvPr id="25" name="Text 18"/>
          <p:cNvSpPr/>
          <p:nvPr/>
        </p:nvSpPr>
        <p:spPr>
          <a:xfrm>
            <a:off x="758952" y="5486400"/>
            <a:ext cx="3038856" cy="685800"/>
          </a:xfrm>
          <a:prstGeom prst="rect">
            <a:avLst/>
          </a:prstGeom>
          <a:noFill/>
          <a:ln/>
        </p:spPr>
        <p:txBody>
          <a:bodyPr wrap="square" rtlCol="0" anchor="t"/>
          <a:lstStyle/>
          <a:p>
            <a:pPr indent="0" marL="0">
              <a:lnSpc>
                <a:spcPct val="120000"/>
              </a:lnSpc>
              <a:buNone/>
            </a:pPr>
            <a:r>
              <a:rPr lang="en-US" sz="1000" dirty="0">
                <a:solidFill>
                  <a:srgbClr val="9BA7B4"/>
                </a:solidFill>
                <a:latin typeface="Calibri" pitchFamily="34" charset="0"/>
                <a:ea typeface="Calibri" pitchFamily="34" charset="-122"/>
                <a:cs typeface="Calibri" pitchFamily="34" charset="-120"/>
              </a:rPr>
              <a:t>Sends a specified signal to a target process or process group, most commonly used here to request graceful termination or to interrupt a runaway child process.</a:t>
            </a:r>
            <a:endParaRPr lang="en-US" sz="1000" dirty="0"/>
          </a:p>
        </p:txBody>
      </p:sp>
      <p:sp>
        <p:nvSpPr>
          <p:cNvPr id="26" name="Shape 19"/>
          <p:cNvSpPr/>
          <p:nvPr/>
        </p:nvSpPr>
        <p:spPr>
          <a:xfrm>
            <a:off x="4328160" y="4160520"/>
            <a:ext cx="3550920" cy="2194560"/>
          </a:xfrm>
          <a:prstGeom prst="roundRect">
            <a:avLst>
              <a:gd name="adj" fmla="val 3750"/>
            </a:avLst>
          </a:prstGeom>
          <a:solidFill>
            <a:srgbClr val="161B22"/>
          </a:solidFill>
          <a:ln w="12700">
            <a:solidFill>
              <a:srgbClr val="2A3441"/>
            </a:solidFill>
            <a:prstDash val="solid"/>
          </a:ln>
          <a:effectLst>
            <a:outerShdw sx="100000" sy="100000" kx="0" ky="0" algn="bl" rotWithShape="0" blurRad="127000" dist="38100" dir="5400000">
              <a:srgbClr val="000000">
                <a:alpha val="35000"/>
              </a:srgbClr>
            </a:outerShdw>
          </a:effectLst>
        </p:spPr>
      </p:sp>
      <p:sp>
        <p:nvSpPr>
          <p:cNvPr id="27" name="Shape 20"/>
          <p:cNvSpPr/>
          <p:nvPr/>
        </p:nvSpPr>
        <p:spPr>
          <a:xfrm>
            <a:off x="4584192" y="4398264"/>
            <a:ext cx="566928" cy="566928"/>
          </a:xfrm>
          <a:prstGeom prst="ellipse">
            <a:avLst/>
          </a:prstGeom>
          <a:solidFill>
            <a:srgbClr val="20293A"/>
          </a:solidFill>
          <a:ln w="12700">
            <a:solidFill>
              <a:srgbClr val="2A3441"/>
            </a:solidFill>
            <a:prstDash val="solid"/>
          </a:ln>
        </p:spPr>
      </p:sp>
      <p:pic>
        <p:nvPicPr>
          <p:cNvPr id="28" name="Image 5" descr="/home/claude/build/assets/icons/hashtag_39D98A.png">    </p:cNvPr>
          <p:cNvPicPr>
            <a:picLocks noChangeAspect="1"/>
          </p:cNvPicPr>
          <p:nvPr/>
        </p:nvPicPr>
        <p:blipFill>
          <a:blip r:embed="rId6"/>
          <a:stretch>
            <a:fillRect/>
          </a:stretch>
        </p:blipFill>
        <p:spPr>
          <a:xfrm>
            <a:off x="4720255" y="4534327"/>
            <a:ext cx="294803" cy="294803"/>
          </a:xfrm>
          <a:prstGeom prst="rect">
            <a:avLst/>
          </a:prstGeom>
        </p:spPr>
      </p:pic>
      <p:sp>
        <p:nvSpPr>
          <p:cNvPr id="29" name="Text 21"/>
          <p:cNvSpPr/>
          <p:nvPr/>
        </p:nvSpPr>
        <p:spPr>
          <a:xfrm>
            <a:off x="4584192" y="5093208"/>
            <a:ext cx="3038856" cy="365760"/>
          </a:xfrm>
          <a:prstGeom prst="rect">
            <a:avLst/>
          </a:prstGeom>
          <a:noFill/>
          <a:ln/>
        </p:spPr>
        <p:txBody>
          <a:bodyPr wrap="square" rtlCol="0" anchor="ctr"/>
          <a:lstStyle/>
          <a:p>
            <a:pPr indent="0" marL="0">
              <a:buNone/>
            </a:pPr>
            <a:r>
              <a:rPr lang="en-US" sz="1700" b="1" dirty="0">
                <a:solidFill>
                  <a:srgbClr val="39D98A"/>
                </a:solidFill>
                <a:latin typeface="Courier New" pitchFamily="34" charset="0"/>
                <a:ea typeface="Courier New" pitchFamily="34" charset="-122"/>
                <a:cs typeface="Courier New" pitchFamily="34" charset="-120"/>
              </a:rPr>
              <a:t>getpid()</a:t>
            </a:r>
            <a:endParaRPr lang="en-US" sz="1700" dirty="0"/>
          </a:p>
        </p:txBody>
      </p:sp>
      <p:sp>
        <p:nvSpPr>
          <p:cNvPr id="30" name="Text 22"/>
          <p:cNvSpPr/>
          <p:nvPr/>
        </p:nvSpPr>
        <p:spPr>
          <a:xfrm>
            <a:off x="4584192" y="5486400"/>
            <a:ext cx="3038856" cy="685800"/>
          </a:xfrm>
          <a:prstGeom prst="rect">
            <a:avLst/>
          </a:prstGeom>
          <a:noFill/>
          <a:ln/>
        </p:spPr>
        <p:txBody>
          <a:bodyPr wrap="square" rtlCol="0" anchor="t"/>
          <a:lstStyle/>
          <a:p>
            <a:pPr indent="0" marL="0">
              <a:lnSpc>
                <a:spcPct val="120000"/>
              </a:lnSpc>
              <a:buNone/>
            </a:pPr>
            <a:r>
              <a:rPr lang="en-US" sz="1000" dirty="0">
                <a:solidFill>
                  <a:srgbClr val="9BA7B4"/>
                </a:solidFill>
                <a:latin typeface="Calibri" pitchFamily="34" charset="0"/>
                <a:ea typeface="Calibri" pitchFamily="34" charset="-122"/>
                <a:cs typeface="Calibri" pitchFamily="34" charset="-120"/>
              </a:rPr>
              <a:t>Returns the unique process identifier the kernel has assigned to the calling process, the primary handle used to track and reference it throughout its lifecycle.</a:t>
            </a:r>
            <a:endParaRPr lang="en-US" sz="1000" dirty="0"/>
          </a:p>
        </p:txBody>
      </p:sp>
      <p:sp>
        <p:nvSpPr>
          <p:cNvPr id="31" name="Shape 23"/>
          <p:cNvSpPr/>
          <p:nvPr/>
        </p:nvSpPr>
        <p:spPr>
          <a:xfrm>
            <a:off x="8153400" y="4160520"/>
            <a:ext cx="3550920" cy="2194560"/>
          </a:xfrm>
          <a:prstGeom prst="roundRect">
            <a:avLst>
              <a:gd name="adj" fmla="val 3750"/>
            </a:avLst>
          </a:prstGeom>
          <a:solidFill>
            <a:srgbClr val="161B22"/>
          </a:solidFill>
          <a:ln w="12700">
            <a:solidFill>
              <a:srgbClr val="2A3441"/>
            </a:solidFill>
            <a:prstDash val="solid"/>
          </a:ln>
          <a:effectLst>
            <a:outerShdw sx="100000" sy="100000" kx="0" ky="0" algn="bl" rotWithShape="0" blurRad="127000" dist="38100" dir="5400000">
              <a:srgbClr val="000000">
                <a:alpha val="35000"/>
              </a:srgbClr>
            </a:outerShdw>
          </a:effectLst>
        </p:spPr>
      </p:sp>
      <p:sp>
        <p:nvSpPr>
          <p:cNvPr id="32" name="Shape 24"/>
          <p:cNvSpPr/>
          <p:nvPr/>
        </p:nvSpPr>
        <p:spPr>
          <a:xfrm>
            <a:off x="8409432" y="4398264"/>
            <a:ext cx="566928" cy="566928"/>
          </a:xfrm>
          <a:prstGeom prst="ellipse">
            <a:avLst/>
          </a:prstGeom>
          <a:solidFill>
            <a:srgbClr val="20293A"/>
          </a:solidFill>
          <a:ln w="12700">
            <a:solidFill>
              <a:srgbClr val="2A3441"/>
            </a:solidFill>
            <a:prstDash val="solid"/>
          </a:ln>
        </p:spPr>
      </p:sp>
      <p:pic>
        <p:nvPicPr>
          <p:cNvPr id="33" name="Image 6" descr="/home/claude/build/assets/icons/user_39D98A.png">    </p:cNvPr>
          <p:cNvPicPr>
            <a:picLocks noChangeAspect="1"/>
          </p:cNvPicPr>
          <p:nvPr/>
        </p:nvPicPr>
        <p:blipFill>
          <a:blip r:embed="rId7"/>
          <a:stretch>
            <a:fillRect/>
          </a:stretch>
        </p:blipFill>
        <p:spPr>
          <a:xfrm>
            <a:off x="8545495" y="4534327"/>
            <a:ext cx="294803" cy="294803"/>
          </a:xfrm>
          <a:prstGeom prst="rect">
            <a:avLst/>
          </a:prstGeom>
        </p:spPr>
      </p:pic>
      <p:sp>
        <p:nvSpPr>
          <p:cNvPr id="34" name="Text 25"/>
          <p:cNvSpPr/>
          <p:nvPr/>
        </p:nvSpPr>
        <p:spPr>
          <a:xfrm>
            <a:off x="8409432" y="5093208"/>
            <a:ext cx="3038856" cy="365760"/>
          </a:xfrm>
          <a:prstGeom prst="rect">
            <a:avLst/>
          </a:prstGeom>
          <a:noFill/>
          <a:ln/>
        </p:spPr>
        <p:txBody>
          <a:bodyPr wrap="square" rtlCol="0" anchor="ctr"/>
          <a:lstStyle/>
          <a:p>
            <a:pPr indent="0" marL="0">
              <a:buNone/>
            </a:pPr>
            <a:r>
              <a:rPr lang="en-US" sz="1700" b="1" dirty="0">
                <a:solidFill>
                  <a:srgbClr val="39D98A"/>
                </a:solidFill>
                <a:latin typeface="Courier New" pitchFamily="34" charset="0"/>
                <a:ea typeface="Courier New" pitchFamily="34" charset="-122"/>
                <a:cs typeface="Courier New" pitchFamily="34" charset="-120"/>
              </a:rPr>
              <a:t>getppid()</a:t>
            </a:r>
            <a:endParaRPr lang="en-US" sz="1700" dirty="0"/>
          </a:p>
        </p:txBody>
      </p:sp>
      <p:sp>
        <p:nvSpPr>
          <p:cNvPr id="35" name="Text 26"/>
          <p:cNvSpPr/>
          <p:nvPr/>
        </p:nvSpPr>
        <p:spPr>
          <a:xfrm>
            <a:off x="8409432" y="5486400"/>
            <a:ext cx="3038856" cy="685800"/>
          </a:xfrm>
          <a:prstGeom prst="rect">
            <a:avLst/>
          </a:prstGeom>
          <a:noFill/>
          <a:ln/>
        </p:spPr>
        <p:txBody>
          <a:bodyPr wrap="square" rtlCol="0" anchor="t"/>
          <a:lstStyle/>
          <a:p>
            <a:pPr indent="0" marL="0">
              <a:lnSpc>
                <a:spcPct val="120000"/>
              </a:lnSpc>
              <a:buNone/>
            </a:pPr>
            <a:r>
              <a:rPr lang="en-US" sz="1000" dirty="0">
                <a:solidFill>
                  <a:srgbClr val="9BA7B4"/>
                </a:solidFill>
                <a:latin typeface="Calibri" pitchFamily="34" charset="0"/>
                <a:ea typeface="Calibri" pitchFamily="34" charset="-122"/>
                <a:cs typeface="Calibri" pitchFamily="34" charset="-120"/>
              </a:rPr>
              <a:t>Returns the process identifier of the calling process's parent, making the hierarchical, tree-shaped relationship between processes visible and traceable at runtime.</a:t>
            </a:r>
            <a:endParaRPr lang="en-US" sz="1000" dirty="0"/>
          </a:p>
        </p:txBody>
      </p:sp>
      <p:sp>
        <p:nvSpPr>
          <p:cNvPr id="36" name="Text 27"/>
          <p:cNvSpPr/>
          <p:nvPr/>
        </p:nvSpPr>
        <p:spPr>
          <a:xfrm>
            <a:off x="457200" y="6473952"/>
            <a:ext cx="7315200" cy="274320"/>
          </a:xfrm>
          <a:prstGeom prst="rect">
            <a:avLst/>
          </a:prstGeom>
          <a:noFill/>
          <a:ln/>
        </p:spPr>
        <p:txBody>
          <a:bodyPr wrap="square" rtlCol="0" anchor="ctr"/>
          <a:lstStyle/>
          <a:p>
            <a:pPr algn="l" indent="0" marL="0">
              <a:buNone/>
            </a:pPr>
            <a:r>
              <a:rPr lang="en-US" sz="900" spc="100" kern="0" dirty="0">
                <a:solidFill>
                  <a:srgbClr val="9BA7B4"/>
                </a:solidFill>
                <a:latin typeface="Calibri" pitchFamily="34" charset="0"/>
                <a:ea typeface="Calibri" pitchFamily="34" charset="-122"/>
                <a:cs typeface="Calibri" pitchFamily="34" charset="-120"/>
              </a:rPr>
              <a:t>SMART PROCESS MANAGEMENT  •  LINUX SYSTEM CALLS</a:t>
            </a:r>
            <a:endParaRPr lang="en-US" sz="900" dirty="0"/>
          </a:p>
        </p:txBody>
      </p:sp>
      <p:sp>
        <p:nvSpPr>
          <p:cNvPr id="37" name="Text 28"/>
          <p:cNvSpPr/>
          <p:nvPr/>
        </p:nvSpPr>
        <p:spPr>
          <a:xfrm>
            <a:off x="11277295" y="6473952"/>
            <a:ext cx="457200" cy="274320"/>
          </a:xfrm>
          <a:prstGeom prst="rect">
            <a:avLst/>
          </a:prstGeom>
          <a:noFill/>
          <a:ln/>
        </p:spPr>
        <p:txBody>
          <a:bodyPr wrap="square" rtlCol="0" anchor="ctr"/>
          <a:lstStyle/>
          <a:p>
            <a:pPr algn="r" indent="0" marL="0">
              <a:buNone/>
            </a:pPr>
            <a:r>
              <a:rPr lang="en-US" sz="900" dirty="0">
                <a:solidFill>
                  <a:srgbClr val="9BA7B4"/>
                </a:solidFill>
                <a:latin typeface="Calibri" pitchFamily="34" charset="0"/>
                <a:ea typeface="Calibri" pitchFamily="34" charset="-122"/>
                <a:cs typeface="Calibri" pitchFamily="34" charset="-120"/>
              </a:rPr>
              <a:t>06</a:t>
            </a:r>
            <a:endParaRPr lang="en-US" sz="9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0D1117"/>
        </a:solidFill>
      </p:bgPr>
    </p:bg>
    <p:spTree>
      <p:nvGrpSpPr>
        <p:cNvPr id="1" name=""/>
        <p:cNvGrpSpPr/>
        <p:nvPr/>
      </p:nvGrpSpPr>
      <p:grpSpPr>
        <a:xfrm>
          <a:off x="0" y="0"/>
          <a:ext cx="0" cy="0"/>
          <a:chOff x="0" y="0"/>
          <a:chExt cx="0" cy="0"/>
        </a:xfrm>
      </p:grpSpPr>
      <p:pic>
        <p:nvPicPr>
          <p:cNvPr id="2" name="Image 0" descr="/home/claude/build/assets/bg_panel.png">    </p:cNvPr>
          <p:cNvPicPr>
            <a:picLocks noChangeAspect="1"/>
          </p:cNvPicPr>
          <p:nvPr/>
        </p:nvPicPr>
        <p:blipFill>
          <a:blip r:embed="rId1"/>
          <a:stretch>
            <a:fillRect/>
          </a:stretch>
        </p:blipFill>
        <p:spPr>
          <a:xfrm>
            <a:off x="0" y="0"/>
            <a:ext cx="12191695" cy="6858000"/>
          </a:xfrm>
          <a:prstGeom prst="rect">
            <a:avLst/>
          </a:prstGeom>
        </p:spPr>
      </p:pic>
      <p:sp>
        <p:nvSpPr>
          <p:cNvPr id="3" name="Shape 0"/>
          <p:cNvSpPr/>
          <p:nvPr/>
        </p:nvSpPr>
        <p:spPr>
          <a:xfrm>
            <a:off x="502920" y="457200"/>
            <a:ext cx="128016" cy="128016"/>
          </a:xfrm>
          <a:prstGeom prst="roundRect">
            <a:avLst>
              <a:gd name="adj" fmla="val 50000"/>
            </a:avLst>
          </a:prstGeom>
          <a:solidFill>
            <a:srgbClr val="39D98A"/>
          </a:solidFill>
          <a:ln/>
        </p:spPr>
      </p:sp>
      <p:sp>
        <p:nvSpPr>
          <p:cNvPr id="4" name="Text 1"/>
          <p:cNvSpPr/>
          <p:nvPr/>
        </p:nvSpPr>
        <p:spPr>
          <a:xfrm>
            <a:off x="713232" y="393192"/>
            <a:ext cx="5486400" cy="274320"/>
          </a:xfrm>
          <a:prstGeom prst="rect">
            <a:avLst/>
          </a:prstGeom>
          <a:noFill/>
          <a:ln/>
        </p:spPr>
        <p:txBody>
          <a:bodyPr wrap="square" rtlCol="0" anchor="ctr"/>
          <a:lstStyle/>
          <a:p>
            <a:pPr indent="0" marL="0">
              <a:buNone/>
            </a:pPr>
            <a:r>
              <a:rPr lang="en-US" sz="1250" b="1" spc="200" kern="0" dirty="0">
                <a:solidFill>
                  <a:srgbClr val="39D98A"/>
                </a:solidFill>
                <a:latin typeface="Calibri" pitchFamily="34" charset="0"/>
                <a:ea typeface="Calibri" pitchFamily="34" charset="-122"/>
                <a:cs typeface="Calibri" pitchFamily="34" charset="-120"/>
              </a:rPr>
              <a:t>IMPLEMENTATION</a:t>
            </a:r>
            <a:endParaRPr lang="en-US" sz="1250" dirty="0"/>
          </a:p>
        </p:txBody>
      </p:sp>
      <p:sp>
        <p:nvSpPr>
          <p:cNvPr id="5" name="Text 2"/>
          <p:cNvSpPr/>
          <p:nvPr/>
        </p:nvSpPr>
        <p:spPr>
          <a:xfrm>
            <a:off x="502920" y="713232"/>
            <a:ext cx="10515600" cy="685800"/>
          </a:xfrm>
          <a:prstGeom prst="rect">
            <a:avLst/>
          </a:prstGeom>
          <a:noFill/>
          <a:ln/>
        </p:spPr>
        <p:txBody>
          <a:bodyPr wrap="square" rtlCol="0" anchor="ctr"/>
          <a:lstStyle/>
          <a:p>
            <a:pPr algn="l" indent="0" marL="0">
              <a:buNone/>
            </a:pPr>
            <a:r>
              <a:rPr lang="en-US" sz="3000" b="1" dirty="0">
                <a:solidFill>
                  <a:srgbClr val="E6EDF3"/>
                </a:solidFill>
                <a:latin typeface="Cambria" pitchFamily="34" charset="0"/>
                <a:ea typeface="Cambria" pitchFamily="34" charset="-122"/>
                <a:cs typeface="Cambria" pitchFamily="34" charset="-120"/>
              </a:rPr>
              <a:t>Process Creation in Practice: fork() &amp; exec()</a:t>
            </a:r>
            <a:endParaRPr lang="en-US" sz="3000" dirty="0"/>
          </a:p>
        </p:txBody>
      </p:sp>
      <p:sp>
        <p:nvSpPr>
          <p:cNvPr id="6" name="Text 3"/>
          <p:cNvSpPr/>
          <p:nvPr/>
        </p:nvSpPr>
        <p:spPr>
          <a:xfrm>
            <a:off x="502920" y="1645920"/>
            <a:ext cx="5577840" cy="4023360"/>
          </a:xfrm>
          <a:prstGeom prst="rect">
            <a:avLst/>
          </a:prstGeom>
          <a:noFill/>
          <a:ln/>
        </p:spPr>
        <p:txBody>
          <a:bodyPr wrap="square" rtlCol="0" anchor="t"/>
          <a:lstStyle/>
          <a:p>
            <a:pPr indent="0" marL="0">
              <a:lnSpc>
                <a:spcPct val="132000"/>
              </a:lnSpc>
              <a:buNone/>
            </a:pPr>
            <a:r>
              <a:rPr lang="en-US" sz="1250" dirty="0">
                <a:solidFill>
                  <a:srgbClr val="9BA7B4"/>
                </a:solidFill>
                <a:latin typeface="Calibri" pitchFamily="34" charset="0"/>
                <a:ea typeface="Calibri" pitchFamily="34" charset="-122"/>
                <a:cs typeface="Calibri" pitchFamily="34" charset="-120"/>
              </a:rPr>
              <a:t>The heart of the system is a single call to fork(), which duplicates the calling process and returns two different values on either side of the split: zero inside the newly created child, and the child's process ID inside the parent. That single return value is enough to let the program branch into two completely different execution paths from one line of code. In the child branch, the program can immediately call a member of the exec() family to overwrite its own memory image with a new executable — effectively turning a clone of the parent into an entirely independent program while keeping the same process ID, open file descriptors, and process ID assigned by fork(). This fork-then-exec pattern is the same mechanism a Unix shell uses every time it launches a command, which makes it one of the most important idioms in all of Linux systems programming.</a:t>
            </a:r>
            <a:endParaRPr lang="en-US" sz="1250" dirty="0"/>
          </a:p>
        </p:txBody>
      </p:sp>
      <p:sp>
        <p:nvSpPr>
          <p:cNvPr id="7" name="Shape 4"/>
          <p:cNvSpPr/>
          <p:nvPr/>
        </p:nvSpPr>
        <p:spPr>
          <a:xfrm>
            <a:off x="502920" y="5623560"/>
            <a:ext cx="5577840" cy="640080"/>
          </a:xfrm>
          <a:prstGeom prst="roundRect">
            <a:avLst>
              <a:gd name="adj" fmla="val 12857"/>
            </a:avLst>
          </a:prstGeom>
          <a:solidFill>
            <a:srgbClr val="1B2430"/>
          </a:solidFill>
          <a:ln w="12700">
            <a:solidFill>
              <a:srgbClr val="2A3441"/>
            </a:solidFill>
            <a:prstDash val="solid"/>
          </a:ln>
          <a:effectLst>
            <a:outerShdw sx="100000" sy="100000" kx="0" ky="0" algn="bl" rotWithShape="0" blurRad="127000" dist="38100" dir="5400000">
              <a:srgbClr val="000000">
                <a:alpha val="35000"/>
              </a:srgbClr>
            </a:outerShdw>
          </a:effectLst>
        </p:spPr>
      </p:sp>
      <p:sp>
        <p:nvSpPr>
          <p:cNvPr id="8" name="Shape 5"/>
          <p:cNvSpPr/>
          <p:nvPr/>
        </p:nvSpPr>
        <p:spPr>
          <a:xfrm>
            <a:off x="685800" y="5742432"/>
            <a:ext cx="402336" cy="402336"/>
          </a:xfrm>
          <a:prstGeom prst="ellipse">
            <a:avLst/>
          </a:prstGeom>
          <a:solidFill>
            <a:srgbClr val="0D1117"/>
          </a:solidFill>
          <a:ln w="12700">
            <a:solidFill>
              <a:srgbClr val="2A3441"/>
            </a:solidFill>
            <a:prstDash val="solid"/>
          </a:ln>
        </p:spPr>
      </p:sp>
      <p:pic>
        <p:nvPicPr>
          <p:cNvPr id="9" name="Image 1" descr="/home/claude/build/assets/icons/bulb_39D98A.png">    </p:cNvPr>
          <p:cNvPicPr>
            <a:picLocks noChangeAspect="1"/>
          </p:cNvPicPr>
          <p:nvPr/>
        </p:nvPicPr>
        <p:blipFill>
          <a:blip r:embed="rId2"/>
          <a:stretch>
            <a:fillRect/>
          </a:stretch>
        </p:blipFill>
        <p:spPr>
          <a:xfrm>
            <a:off x="776326" y="5832958"/>
            <a:ext cx="221285" cy="221285"/>
          </a:xfrm>
          <a:prstGeom prst="rect">
            <a:avLst/>
          </a:prstGeom>
        </p:spPr>
      </p:pic>
      <p:sp>
        <p:nvSpPr>
          <p:cNvPr id="10" name="Text 6"/>
          <p:cNvSpPr/>
          <p:nvPr/>
        </p:nvSpPr>
        <p:spPr>
          <a:xfrm>
            <a:off x="1234440" y="5669280"/>
            <a:ext cx="4663440" cy="566928"/>
          </a:xfrm>
          <a:prstGeom prst="rect">
            <a:avLst/>
          </a:prstGeom>
          <a:noFill/>
          <a:ln/>
        </p:spPr>
        <p:txBody>
          <a:bodyPr wrap="square" rtlCol="0" anchor="ctr"/>
          <a:lstStyle/>
          <a:p>
            <a:pPr indent="0" marL="0">
              <a:buNone/>
            </a:pPr>
            <a:r>
              <a:rPr lang="en-US" sz="980" i="1" dirty="0">
                <a:solidFill>
                  <a:srgbClr val="E6EDF3"/>
                </a:solidFill>
                <a:latin typeface="Calibri" pitchFamily="34" charset="0"/>
                <a:ea typeface="Calibri" pitchFamily="34" charset="-122"/>
                <a:cs typeface="Calibri" pitchFamily="34" charset="-120"/>
              </a:rPr>
              <a:t>Because pid is checked with a simple if/else, one code path deterministically becomes the parent and the other the child — no race condition required.</a:t>
            </a:r>
            <a:endParaRPr lang="en-US" sz="980" dirty="0"/>
          </a:p>
        </p:txBody>
      </p:sp>
      <p:sp>
        <p:nvSpPr>
          <p:cNvPr id="11" name="Shape 7"/>
          <p:cNvSpPr/>
          <p:nvPr/>
        </p:nvSpPr>
        <p:spPr>
          <a:xfrm>
            <a:off x="6400800" y="1600200"/>
            <a:ext cx="5303520" cy="4663440"/>
          </a:xfrm>
          <a:prstGeom prst="roundRect">
            <a:avLst>
              <a:gd name="adj" fmla="val 1765"/>
            </a:avLst>
          </a:prstGeom>
          <a:solidFill>
            <a:srgbClr val="0B0F14"/>
          </a:solidFill>
          <a:ln w="12700">
            <a:solidFill>
              <a:srgbClr val="2A3441"/>
            </a:solidFill>
            <a:prstDash val="solid"/>
          </a:ln>
          <a:effectLst>
            <a:outerShdw sx="100000" sy="100000" kx="0" ky="0" algn="bl" rotWithShape="0" blurRad="127000" dist="38100" dir="5400000">
              <a:srgbClr val="000000">
                <a:alpha val="35000"/>
              </a:srgbClr>
            </a:outerShdw>
          </a:effectLst>
        </p:spPr>
      </p:sp>
      <p:sp>
        <p:nvSpPr>
          <p:cNvPr id="12" name="Shape 8"/>
          <p:cNvSpPr/>
          <p:nvPr/>
        </p:nvSpPr>
        <p:spPr>
          <a:xfrm>
            <a:off x="6656832" y="1810512"/>
            <a:ext cx="128016" cy="128016"/>
          </a:xfrm>
          <a:prstGeom prst="ellipse">
            <a:avLst/>
          </a:prstGeom>
          <a:solidFill>
            <a:srgbClr val="FF5F56"/>
          </a:solidFill>
          <a:ln/>
        </p:spPr>
      </p:sp>
      <p:sp>
        <p:nvSpPr>
          <p:cNvPr id="13" name="Shape 9"/>
          <p:cNvSpPr/>
          <p:nvPr/>
        </p:nvSpPr>
        <p:spPr>
          <a:xfrm>
            <a:off x="6858000" y="1810512"/>
            <a:ext cx="128016" cy="128016"/>
          </a:xfrm>
          <a:prstGeom prst="ellipse">
            <a:avLst/>
          </a:prstGeom>
          <a:solidFill>
            <a:srgbClr val="FFBD2E"/>
          </a:solidFill>
          <a:ln/>
        </p:spPr>
      </p:sp>
      <p:sp>
        <p:nvSpPr>
          <p:cNvPr id="14" name="Shape 10"/>
          <p:cNvSpPr/>
          <p:nvPr/>
        </p:nvSpPr>
        <p:spPr>
          <a:xfrm>
            <a:off x="7059168" y="1810512"/>
            <a:ext cx="128016" cy="128016"/>
          </a:xfrm>
          <a:prstGeom prst="ellipse">
            <a:avLst/>
          </a:prstGeom>
          <a:solidFill>
            <a:srgbClr val="27C93F"/>
          </a:solidFill>
          <a:ln/>
        </p:spPr>
      </p:sp>
      <p:sp>
        <p:nvSpPr>
          <p:cNvPr id="15" name="Text 11"/>
          <p:cNvSpPr/>
          <p:nvPr/>
        </p:nvSpPr>
        <p:spPr>
          <a:xfrm>
            <a:off x="7315200" y="1755648"/>
            <a:ext cx="2743200" cy="256032"/>
          </a:xfrm>
          <a:prstGeom prst="rect">
            <a:avLst/>
          </a:prstGeom>
          <a:noFill/>
          <a:ln/>
        </p:spPr>
        <p:txBody>
          <a:bodyPr wrap="square" rtlCol="0" anchor="ctr"/>
          <a:lstStyle/>
          <a:p>
            <a:pPr indent="0" marL="0">
              <a:buNone/>
            </a:pPr>
            <a:r>
              <a:rPr lang="en-US" sz="1000" dirty="0">
                <a:solidFill>
                  <a:srgbClr val="9BA7B4"/>
                </a:solidFill>
                <a:latin typeface="Courier New" pitchFamily="34" charset="0"/>
                <a:ea typeface="Courier New" pitchFamily="34" charset="-122"/>
                <a:cs typeface="Courier New" pitchFamily="34" charset="-120"/>
              </a:rPr>
              <a:t>process_creation.c</a:t>
            </a:r>
            <a:endParaRPr lang="en-US" sz="1000" dirty="0"/>
          </a:p>
        </p:txBody>
      </p:sp>
      <p:sp>
        <p:nvSpPr>
          <p:cNvPr id="16" name="Text 12"/>
          <p:cNvSpPr/>
          <p:nvPr/>
        </p:nvSpPr>
        <p:spPr>
          <a:xfrm>
            <a:off x="6720840" y="2148840"/>
            <a:ext cx="4663440" cy="4023360"/>
          </a:xfrm>
          <a:prstGeom prst="rect">
            <a:avLst/>
          </a:prstGeom>
          <a:noFill/>
          <a:ln/>
        </p:spPr>
        <p:txBody>
          <a:bodyPr wrap="square" rtlCol="0" anchor="t"/>
          <a:lstStyle/>
          <a:p>
            <a:pPr indent="0" marL="0">
              <a:lnSpc>
                <a:spcPct val="120000"/>
              </a:lnSpc>
              <a:buNone/>
            </a:pPr>
            <a:r>
              <a:rPr lang="en-US" sz="1000" dirty="0">
                <a:solidFill>
                  <a:srgbClr val="9BA7B4"/>
                </a:solidFill>
                <a:latin typeface="Courier New" pitchFamily="34" charset="0"/>
                <a:ea typeface="Courier New" pitchFamily="34" charset="-122"/>
                <a:cs typeface="Courier New" pitchFamily="34" charset="-120"/>
              </a:rPr>
              <a:t>#include &lt;stdio.h&gt;</a:t>
            </a:r>
            <a:endParaRPr lang="en-US" sz="1000" dirty="0"/>
          </a:p>
          <a:p>
            <a:pPr indent="0" marL="0">
              <a:lnSpc>
                <a:spcPct val="120000"/>
              </a:lnSpc>
              <a:buNone/>
            </a:pPr>
            <a:r>
              <a:rPr lang="en-US" sz="1000" dirty="0">
                <a:solidFill>
                  <a:srgbClr val="9BA7B4"/>
                </a:solidFill>
                <a:latin typeface="Courier New" pitchFamily="34" charset="0"/>
                <a:ea typeface="Courier New" pitchFamily="34" charset="-122"/>
                <a:cs typeface="Courier New" pitchFamily="34" charset="-120"/>
              </a:rPr>
              <a:t>#include &lt;unistd.h&gt;</a:t>
            </a:r>
            <a:endParaRPr lang="en-US" sz="1000" dirty="0"/>
          </a:p>
          <a:p>
            <a:pPr indent="0" marL="0">
              <a:lnSpc>
                <a:spcPct val="120000"/>
              </a:lnSpc>
              <a:buNone/>
            </a:pPr>
            <a:r>
              <a:rPr lang="en-US" sz="1000" dirty="0">
                <a:solidFill>
                  <a:srgbClr val="9BA7B4"/>
                </a:solidFill>
                <a:latin typeface="Courier New" pitchFamily="34" charset="0"/>
                <a:ea typeface="Courier New" pitchFamily="34" charset="-122"/>
                <a:cs typeface="Courier New" pitchFamily="34" charset="-120"/>
              </a:rPr>
              <a:t>#include &lt;sys/wait.h&gt;</a:t>
            </a:r>
            <a:endParaRPr lang="en-US" sz="1000" dirty="0"/>
          </a:p>
          <a:p>
            <a:pPr indent="0" marL="0">
              <a:lnSpc>
                <a:spcPct val="120000"/>
              </a:lnSpc>
              <a:buNone/>
            </a:pPr>
            <a:endParaRPr lang="en-US" sz="1000" dirty="0"/>
          </a:p>
          <a:p>
            <a:pPr indent="0" marL="0">
              <a:lnSpc>
                <a:spcPct val="120000"/>
              </a:lnSpc>
              <a:buNone/>
            </a:pPr>
            <a:r>
              <a:rPr lang="en-US" sz="1000" dirty="0">
                <a:solidFill>
                  <a:srgbClr val="E6EDF3"/>
                </a:solidFill>
                <a:latin typeface="Courier New" pitchFamily="34" charset="0"/>
                <a:ea typeface="Courier New" pitchFamily="34" charset="-122"/>
                <a:cs typeface="Courier New" pitchFamily="34" charset="-120"/>
              </a:rPr>
              <a:t>int main() {</a:t>
            </a:r>
            <a:endParaRPr lang="en-US" sz="1000" dirty="0"/>
          </a:p>
          <a:p>
            <a:pPr indent="0" marL="0">
              <a:lnSpc>
                <a:spcPct val="120000"/>
              </a:lnSpc>
              <a:buNone/>
            </a:pPr>
            <a:r>
              <a:rPr lang="en-US" sz="1000" dirty="0">
                <a:solidFill>
                  <a:srgbClr val="39D98A"/>
                </a:solidFill>
                <a:latin typeface="Courier New" pitchFamily="34" charset="0"/>
                <a:ea typeface="Courier New" pitchFamily="34" charset="-122"/>
                <a:cs typeface="Courier New" pitchFamily="34" charset="-120"/>
              </a:rPr>
              <a:t>    pid_t pid = fork();</a:t>
            </a:r>
            <a:endParaRPr lang="en-US" sz="1000" dirty="0"/>
          </a:p>
          <a:p>
            <a:pPr indent="0" marL="0">
              <a:lnSpc>
                <a:spcPct val="120000"/>
              </a:lnSpc>
              <a:buNone/>
            </a:pPr>
            <a:endParaRPr lang="en-US" sz="1000" dirty="0"/>
          </a:p>
          <a:p>
            <a:pPr indent="0" marL="0">
              <a:lnSpc>
                <a:spcPct val="120000"/>
              </a:lnSpc>
              <a:buNone/>
            </a:pPr>
            <a:r>
              <a:rPr lang="en-US" sz="1000" dirty="0">
                <a:solidFill>
                  <a:srgbClr val="58A6FF"/>
                </a:solidFill>
                <a:latin typeface="Courier New" pitchFamily="34" charset="0"/>
                <a:ea typeface="Courier New" pitchFamily="34" charset="-122"/>
                <a:cs typeface="Courier New" pitchFamily="34" charset="-120"/>
              </a:rPr>
              <a:t>    if (pid == 0) {</a:t>
            </a:r>
            <a:endParaRPr lang="en-US" sz="1000" dirty="0"/>
          </a:p>
          <a:p>
            <a:pPr indent="0" marL="0">
              <a:lnSpc>
                <a:spcPct val="120000"/>
              </a:lnSpc>
              <a:buNone/>
            </a:pPr>
            <a:r>
              <a:rPr lang="en-US" sz="1000" dirty="0">
                <a:solidFill>
                  <a:srgbClr val="9BA7B4"/>
                </a:solidFill>
                <a:latin typeface="Courier New" pitchFamily="34" charset="0"/>
                <a:ea typeface="Courier New" pitchFamily="34" charset="-122"/>
                <a:cs typeface="Courier New" pitchFamily="34" charset="-120"/>
              </a:rPr>
              <a:t>        // Child process</a:t>
            </a:r>
            <a:endParaRPr lang="en-US" sz="1000" dirty="0"/>
          </a:p>
          <a:p>
            <a:pPr indent="0" marL="0">
              <a:lnSpc>
                <a:spcPct val="120000"/>
              </a:lnSpc>
              <a:buNone/>
            </a:pPr>
            <a:r>
              <a:rPr lang="en-US" sz="1000" dirty="0">
                <a:solidFill>
                  <a:srgbClr val="E6EDF3"/>
                </a:solidFill>
                <a:latin typeface="Courier New" pitchFamily="34" charset="0"/>
                <a:ea typeface="Courier New" pitchFamily="34" charset="-122"/>
                <a:cs typeface="Courier New" pitchFamily="34" charset="-120"/>
              </a:rPr>
              <a:t>        execlp("/bin/ls",</a:t>
            </a:r>
            <a:endParaRPr lang="en-US" sz="1000" dirty="0"/>
          </a:p>
          <a:p>
            <a:pPr indent="0" marL="0">
              <a:lnSpc>
                <a:spcPct val="120000"/>
              </a:lnSpc>
              <a:buNone/>
            </a:pPr>
            <a:r>
              <a:rPr lang="en-US" sz="1000" dirty="0">
                <a:solidFill>
                  <a:srgbClr val="E6EDF3"/>
                </a:solidFill>
                <a:latin typeface="Courier New" pitchFamily="34" charset="0"/>
                <a:ea typeface="Courier New" pitchFamily="34" charset="-122"/>
                <a:cs typeface="Courier New" pitchFamily="34" charset="-120"/>
              </a:rPr>
              <a:t>               "ls", "-l", NULL);</a:t>
            </a:r>
            <a:endParaRPr lang="en-US" sz="1000" dirty="0"/>
          </a:p>
          <a:p>
            <a:pPr indent="0" marL="0">
              <a:lnSpc>
                <a:spcPct val="120000"/>
              </a:lnSpc>
              <a:buNone/>
            </a:pPr>
            <a:r>
              <a:rPr lang="en-US" sz="1000" dirty="0">
                <a:solidFill>
                  <a:srgbClr val="58A6FF"/>
                </a:solidFill>
                <a:latin typeface="Courier New" pitchFamily="34" charset="0"/>
                <a:ea typeface="Courier New" pitchFamily="34" charset="-122"/>
                <a:cs typeface="Courier New" pitchFamily="34" charset="-120"/>
              </a:rPr>
              <a:t>    } else if (pid &gt; 0) {</a:t>
            </a:r>
            <a:endParaRPr lang="en-US" sz="1000" dirty="0"/>
          </a:p>
          <a:p>
            <a:pPr indent="0" marL="0">
              <a:lnSpc>
                <a:spcPct val="120000"/>
              </a:lnSpc>
              <a:buNone/>
            </a:pPr>
            <a:r>
              <a:rPr lang="en-US" sz="1000" dirty="0">
                <a:solidFill>
                  <a:srgbClr val="9BA7B4"/>
                </a:solidFill>
                <a:latin typeface="Courier New" pitchFamily="34" charset="0"/>
                <a:ea typeface="Courier New" pitchFamily="34" charset="-122"/>
                <a:cs typeface="Courier New" pitchFamily="34" charset="-120"/>
              </a:rPr>
              <a:t>        // Parent process</a:t>
            </a:r>
            <a:endParaRPr lang="en-US" sz="1000" dirty="0"/>
          </a:p>
          <a:p>
            <a:pPr indent="0" marL="0">
              <a:lnSpc>
                <a:spcPct val="120000"/>
              </a:lnSpc>
              <a:buNone/>
            </a:pPr>
            <a:r>
              <a:rPr lang="en-US" sz="1000" dirty="0">
                <a:solidFill>
                  <a:srgbClr val="E6EDF3"/>
                </a:solidFill>
                <a:latin typeface="Courier New" pitchFamily="34" charset="0"/>
                <a:ea typeface="Courier New" pitchFamily="34" charset="-122"/>
                <a:cs typeface="Courier New" pitchFamily="34" charset="-120"/>
              </a:rPr>
              <a:t>        int status;</a:t>
            </a:r>
            <a:endParaRPr lang="en-US" sz="1000" dirty="0"/>
          </a:p>
          <a:p>
            <a:pPr indent="0" marL="0">
              <a:lnSpc>
                <a:spcPct val="120000"/>
              </a:lnSpc>
              <a:buNone/>
            </a:pPr>
            <a:r>
              <a:rPr lang="en-US" sz="1000" dirty="0">
                <a:solidFill>
                  <a:srgbClr val="39D98A"/>
                </a:solidFill>
                <a:latin typeface="Courier New" pitchFamily="34" charset="0"/>
                <a:ea typeface="Courier New" pitchFamily="34" charset="-122"/>
                <a:cs typeface="Courier New" pitchFamily="34" charset="-120"/>
              </a:rPr>
              <a:t>        wait(&amp;status);</a:t>
            </a:r>
            <a:endParaRPr lang="en-US" sz="1000" dirty="0"/>
          </a:p>
          <a:p>
            <a:pPr indent="0" marL="0">
              <a:lnSpc>
                <a:spcPct val="120000"/>
              </a:lnSpc>
              <a:buNone/>
            </a:pPr>
            <a:r>
              <a:rPr lang="en-US" sz="1000" dirty="0">
                <a:solidFill>
                  <a:srgbClr val="E6EDF3"/>
                </a:solidFill>
                <a:latin typeface="Courier New" pitchFamily="34" charset="0"/>
                <a:ea typeface="Courier New" pitchFamily="34" charset="-122"/>
                <a:cs typeface="Courier New" pitchFamily="34" charset="-120"/>
              </a:rPr>
              <a:t>        printf("Child %d done\n",</a:t>
            </a:r>
            <a:endParaRPr lang="en-US" sz="1000" dirty="0"/>
          </a:p>
          <a:p>
            <a:pPr indent="0" marL="0">
              <a:lnSpc>
                <a:spcPct val="120000"/>
              </a:lnSpc>
              <a:buNone/>
            </a:pPr>
            <a:r>
              <a:rPr lang="en-US" sz="1000" dirty="0">
                <a:solidFill>
                  <a:srgbClr val="E6EDF3"/>
                </a:solidFill>
                <a:latin typeface="Courier New" pitchFamily="34" charset="0"/>
                <a:ea typeface="Courier New" pitchFamily="34" charset="-122"/>
                <a:cs typeface="Courier New" pitchFamily="34" charset="-120"/>
              </a:rPr>
              <a:t>               pid);</a:t>
            </a:r>
            <a:endParaRPr lang="en-US" sz="1000" dirty="0"/>
          </a:p>
          <a:p>
            <a:pPr indent="0" marL="0">
              <a:lnSpc>
                <a:spcPct val="120000"/>
              </a:lnSpc>
              <a:buNone/>
            </a:pPr>
            <a:r>
              <a:rPr lang="en-US" sz="1000" dirty="0">
                <a:solidFill>
                  <a:srgbClr val="58A6FF"/>
                </a:solidFill>
                <a:latin typeface="Courier New" pitchFamily="34" charset="0"/>
                <a:ea typeface="Courier New" pitchFamily="34" charset="-122"/>
                <a:cs typeface="Courier New" pitchFamily="34" charset="-120"/>
              </a:rPr>
              <a:t>    } else {</a:t>
            </a:r>
            <a:endParaRPr lang="en-US" sz="1000" dirty="0"/>
          </a:p>
          <a:p>
            <a:pPr indent="0" marL="0">
              <a:lnSpc>
                <a:spcPct val="120000"/>
              </a:lnSpc>
              <a:buNone/>
            </a:pPr>
            <a:r>
              <a:rPr lang="en-US" sz="1000" dirty="0">
                <a:solidFill>
                  <a:srgbClr val="F87171"/>
                </a:solidFill>
                <a:latin typeface="Courier New" pitchFamily="34" charset="0"/>
                <a:ea typeface="Courier New" pitchFamily="34" charset="-122"/>
                <a:cs typeface="Courier New" pitchFamily="34" charset="-120"/>
              </a:rPr>
              <a:t>        perror("fork failed");</a:t>
            </a:r>
            <a:endParaRPr lang="en-US" sz="1000" dirty="0"/>
          </a:p>
          <a:p>
            <a:pPr indent="0" marL="0">
              <a:lnSpc>
                <a:spcPct val="120000"/>
              </a:lnSpc>
              <a:buNone/>
            </a:pPr>
            <a:r>
              <a:rPr lang="en-US" sz="1000" dirty="0">
                <a:solidFill>
                  <a:srgbClr val="58A6FF"/>
                </a:solidFill>
                <a:latin typeface="Courier New" pitchFamily="34" charset="0"/>
                <a:ea typeface="Courier New" pitchFamily="34" charset="-122"/>
                <a:cs typeface="Courier New" pitchFamily="34" charset="-120"/>
              </a:rPr>
              <a:t>    }</a:t>
            </a:r>
            <a:endParaRPr lang="en-US" sz="1000" dirty="0"/>
          </a:p>
          <a:p>
            <a:pPr indent="0" marL="0">
              <a:lnSpc>
                <a:spcPct val="120000"/>
              </a:lnSpc>
              <a:buNone/>
            </a:pPr>
            <a:r>
              <a:rPr lang="en-US" sz="1000" dirty="0">
                <a:solidFill>
                  <a:srgbClr val="E6EDF3"/>
                </a:solidFill>
                <a:latin typeface="Courier New" pitchFamily="34" charset="0"/>
                <a:ea typeface="Courier New" pitchFamily="34" charset="-122"/>
                <a:cs typeface="Courier New" pitchFamily="34" charset="-120"/>
              </a:rPr>
              <a:t>    return 0;</a:t>
            </a:r>
            <a:endParaRPr lang="en-US" sz="1000" dirty="0"/>
          </a:p>
          <a:p>
            <a:pPr indent="0" marL="0">
              <a:lnSpc>
                <a:spcPct val="120000"/>
              </a:lnSpc>
              <a:buNone/>
            </a:pPr>
            <a:r>
              <a:rPr lang="en-US" sz="1000" dirty="0">
                <a:solidFill>
                  <a:srgbClr val="E6EDF3"/>
                </a:solidFill>
                <a:latin typeface="Courier New" pitchFamily="34" charset="0"/>
                <a:ea typeface="Courier New" pitchFamily="34" charset="-122"/>
                <a:cs typeface="Courier New" pitchFamily="34" charset="-120"/>
              </a:rPr>
              <a:t>}</a:t>
            </a:r>
            <a:endParaRPr lang="en-US" sz="1000" dirty="0"/>
          </a:p>
        </p:txBody>
      </p:sp>
      <p:sp>
        <p:nvSpPr>
          <p:cNvPr id="17" name="Text 13"/>
          <p:cNvSpPr/>
          <p:nvPr/>
        </p:nvSpPr>
        <p:spPr>
          <a:xfrm>
            <a:off x="457200" y="6473952"/>
            <a:ext cx="7315200" cy="274320"/>
          </a:xfrm>
          <a:prstGeom prst="rect">
            <a:avLst/>
          </a:prstGeom>
          <a:noFill/>
          <a:ln/>
        </p:spPr>
        <p:txBody>
          <a:bodyPr wrap="square" rtlCol="0" anchor="ctr"/>
          <a:lstStyle/>
          <a:p>
            <a:pPr algn="l" indent="0" marL="0">
              <a:buNone/>
            </a:pPr>
            <a:r>
              <a:rPr lang="en-US" sz="900" spc="100" kern="0" dirty="0">
                <a:solidFill>
                  <a:srgbClr val="9BA7B4"/>
                </a:solidFill>
                <a:latin typeface="Calibri" pitchFamily="34" charset="0"/>
                <a:ea typeface="Calibri" pitchFamily="34" charset="-122"/>
                <a:cs typeface="Calibri" pitchFamily="34" charset="-120"/>
              </a:rPr>
              <a:t>SMART PROCESS MANAGEMENT  •  LINUX SYSTEM CALLS</a:t>
            </a:r>
            <a:endParaRPr lang="en-US" sz="900" dirty="0"/>
          </a:p>
        </p:txBody>
      </p:sp>
      <p:sp>
        <p:nvSpPr>
          <p:cNvPr id="18" name="Text 14"/>
          <p:cNvSpPr/>
          <p:nvPr/>
        </p:nvSpPr>
        <p:spPr>
          <a:xfrm>
            <a:off x="11277295" y="6473952"/>
            <a:ext cx="457200" cy="274320"/>
          </a:xfrm>
          <a:prstGeom prst="rect">
            <a:avLst/>
          </a:prstGeom>
          <a:noFill/>
          <a:ln/>
        </p:spPr>
        <p:txBody>
          <a:bodyPr wrap="square" rtlCol="0" anchor="ctr"/>
          <a:lstStyle/>
          <a:p>
            <a:pPr algn="r" indent="0" marL="0">
              <a:buNone/>
            </a:pPr>
            <a:r>
              <a:rPr lang="en-US" sz="900" dirty="0">
                <a:solidFill>
                  <a:srgbClr val="9BA7B4"/>
                </a:solidFill>
                <a:latin typeface="Calibri" pitchFamily="34" charset="0"/>
                <a:ea typeface="Calibri" pitchFamily="34" charset="-122"/>
                <a:cs typeface="Calibri" pitchFamily="34" charset="-120"/>
              </a:rPr>
              <a:t>07</a:t>
            </a:r>
            <a:endParaRPr lang="en-US" sz="9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0D1117"/>
        </a:solidFill>
      </p:bgPr>
    </p:bg>
    <p:spTree>
      <p:nvGrpSpPr>
        <p:cNvPr id="1" name=""/>
        <p:cNvGrpSpPr/>
        <p:nvPr/>
      </p:nvGrpSpPr>
      <p:grpSpPr>
        <a:xfrm>
          <a:off x="0" y="0"/>
          <a:ext cx="0" cy="0"/>
          <a:chOff x="0" y="0"/>
          <a:chExt cx="0" cy="0"/>
        </a:xfrm>
      </p:grpSpPr>
      <p:pic>
        <p:nvPicPr>
          <p:cNvPr id="2" name="Image 0" descr="/home/claude/build/assets/bg_panel.png">    </p:cNvPr>
          <p:cNvPicPr>
            <a:picLocks noChangeAspect="1"/>
          </p:cNvPicPr>
          <p:nvPr/>
        </p:nvPicPr>
        <p:blipFill>
          <a:blip r:embed="rId1"/>
          <a:stretch>
            <a:fillRect/>
          </a:stretch>
        </p:blipFill>
        <p:spPr>
          <a:xfrm>
            <a:off x="0" y="0"/>
            <a:ext cx="12191695" cy="6858000"/>
          </a:xfrm>
          <a:prstGeom prst="rect">
            <a:avLst/>
          </a:prstGeom>
        </p:spPr>
      </p:pic>
      <p:sp>
        <p:nvSpPr>
          <p:cNvPr id="3" name="Shape 0"/>
          <p:cNvSpPr/>
          <p:nvPr/>
        </p:nvSpPr>
        <p:spPr>
          <a:xfrm>
            <a:off x="502920" y="457200"/>
            <a:ext cx="128016" cy="128016"/>
          </a:xfrm>
          <a:prstGeom prst="roundRect">
            <a:avLst>
              <a:gd name="adj" fmla="val 50000"/>
            </a:avLst>
          </a:prstGeom>
          <a:solidFill>
            <a:srgbClr val="39D98A"/>
          </a:solidFill>
          <a:ln/>
        </p:spPr>
      </p:sp>
      <p:sp>
        <p:nvSpPr>
          <p:cNvPr id="4" name="Text 1"/>
          <p:cNvSpPr/>
          <p:nvPr/>
        </p:nvSpPr>
        <p:spPr>
          <a:xfrm>
            <a:off x="713232" y="393192"/>
            <a:ext cx="5486400" cy="274320"/>
          </a:xfrm>
          <a:prstGeom prst="rect">
            <a:avLst/>
          </a:prstGeom>
          <a:noFill/>
          <a:ln/>
        </p:spPr>
        <p:txBody>
          <a:bodyPr wrap="square" rtlCol="0" anchor="ctr"/>
          <a:lstStyle/>
          <a:p>
            <a:pPr indent="0" marL="0">
              <a:buNone/>
            </a:pPr>
            <a:r>
              <a:rPr lang="en-US" sz="1250" b="1" spc="200" kern="0" dirty="0">
                <a:solidFill>
                  <a:srgbClr val="39D98A"/>
                </a:solidFill>
                <a:latin typeface="Calibri" pitchFamily="34" charset="0"/>
                <a:ea typeface="Calibri" pitchFamily="34" charset="-122"/>
                <a:cs typeface="Calibri" pitchFamily="34" charset="-120"/>
              </a:rPr>
              <a:t>IMPLEMENTATION</a:t>
            </a:r>
            <a:endParaRPr lang="en-US" sz="1250" dirty="0"/>
          </a:p>
        </p:txBody>
      </p:sp>
      <p:sp>
        <p:nvSpPr>
          <p:cNvPr id="5" name="Text 2"/>
          <p:cNvSpPr/>
          <p:nvPr/>
        </p:nvSpPr>
        <p:spPr>
          <a:xfrm>
            <a:off x="502920" y="713232"/>
            <a:ext cx="10515600" cy="685800"/>
          </a:xfrm>
          <a:prstGeom prst="rect">
            <a:avLst/>
          </a:prstGeom>
          <a:noFill/>
          <a:ln/>
        </p:spPr>
        <p:txBody>
          <a:bodyPr wrap="square" rtlCol="0" anchor="ctr"/>
          <a:lstStyle/>
          <a:p>
            <a:pPr algn="l" indent="0" marL="0">
              <a:buNone/>
            </a:pPr>
            <a:r>
              <a:rPr lang="en-US" sz="3000" b="1" dirty="0">
                <a:solidFill>
                  <a:srgbClr val="E6EDF3"/>
                </a:solidFill>
                <a:latin typeface="Cambria" pitchFamily="34" charset="0"/>
                <a:ea typeface="Cambria" pitchFamily="34" charset="-122"/>
                <a:cs typeface="Cambria" pitchFamily="34" charset="-120"/>
              </a:rPr>
              <a:t>Synchronization, Signals &amp; Identity</a:t>
            </a:r>
            <a:endParaRPr lang="en-US" sz="3000" dirty="0"/>
          </a:p>
        </p:txBody>
      </p:sp>
      <p:sp>
        <p:nvSpPr>
          <p:cNvPr id="6" name="Shape 3"/>
          <p:cNvSpPr/>
          <p:nvPr/>
        </p:nvSpPr>
        <p:spPr>
          <a:xfrm>
            <a:off x="502920" y="1691640"/>
            <a:ext cx="512064" cy="512064"/>
          </a:xfrm>
          <a:prstGeom prst="ellipse">
            <a:avLst/>
          </a:prstGeom>
          <a:solidFill>
            <a:srgbClr val="20293A"/>
          </a:solidFill>
          <a:ln w="12700">
            <a:solidFill>
              <a:srgbClr val="2A3441"/>
            </a:solidFill>
            <a:prstDash val="solid"/>
          </a:ln>
        </p:spPr>
      </p:sp>
      <p:pic>
        <p:nvPicPr>
          <p:cNvPr id="7" name="Image 1" descr="/home/claude/build/assets/icons/hourglass_39D98A.png">    </p:cNvPr>
          <p:cNvPicPr>
            <a:picLocks noChangeAspect="1"/>
          </p:cNvPicPr>
          <p:nvPr/>
        </p:nvPicPr>
        <p:blipFill>
          <a:blip r:embed="rId2"/>
          <a:stretch>
            <a:fillRect/>
          </a:stretch>
        </p:blipFill>
        <p:spPr>
          <a:xfrm>
            <a:off x="618134" y="1806854"/>
            <a:ext cx="281635" cy="281635"/>
          </a:xfrm>
          <a:prstGeom prst="rect">
            <a:avLst/>
          </a:prstGeom>
        </p:spPr>
      </p:pic>
      <p:sp>
        <p:nvSpPr>
          <p:cNvPr id="8" name="Text 4"/>
          <p:cNvSpPr/>
          <p:nvPr/>
        </p:nvSpPr>
        <p:spPr>
          <a:xfrm>
            <a:off x="1170432" y="1664208"/>
            <a:ext cx="10424160" cy="365760"/>
          </a:xfrm>
          <a:prstGeom prst="rect">
            <a:avLst/>
          </a:prstGeom>
          <a:noFill/>
          <a:ln/>
        </p:spPr>
        <p:txBody>
          <a:bodyPr wrap="square" rtlCol="0" anchor="ctr"/>
          <a:lstStyle/>
          <a:p>
            <a:pPr indent="0" marL="0">
              <a:buNone/>
            </a:pPr>
            <a:r>
              <a:rPr lang="en-US" sz="1550" b="1" dirty="0">
                <a:solidFill>
                  <a:srgbClr val="E6EDF3"/>
                </a:solidFill>
                <a:latin typeface="Cambria" pitchFamily="34" charset="0"/>
                <a:ea typeface="Cambria" pitchFamily="34" charset="-122"/>
                <a:cs typeface="Cambria" pitchFamily="34" charset="-120"/>
              </a:rPr>
              <a:t>Synchronizing With wait()</a:t>
            </a:r>
            <a:endParaRPr lang="en-US" sz="1550" dirty="0"/>
          </a:p>
        </p:txBody>
      </p:sp>
      <p:sp>
        <p:nvSpPr>
          <p:cNvPr id="9" name="Text 5"/>
          <p:cNvSpPr/>
          <p:nvPr/>
        </p:nvSpPr>
        <p:spPr>
          <a:xfrm>
            <a:off x="1170432" y="2057400"/>
            <a:ext cx="10424160" cy="1051560"/>
          </a:xfrm>
          <a:prstGeom prst="rect">
            <a:avLst/>
          </a:prstGeom>
          <a:noFill/>
          <a:ln/>
        </p:spPr>
        <p:txBody>
          <a:bodyPr wrap="square" rtlCol="0" anchor="t"/>
          <a:lstStyle/>
          <a:p>
            <a:pPr indent="0" marL="0">
              <a:lnSpc>
                <a:spcPct val="128000"/>
              </a:lnSpc>
              <a:buNone/>
            </a:pPr>
            <a:r>
              <a:rPr lang="en-US" sz="1150" dirty="0">
                <a:solidFill>
                  <a:srgbClr val="9BA7B4"/>
                </a:solidFill>
                <a:latin typeface="Calibri" pitchFamily="34" charset="0"/>
                <a:ea typeface="Calibri" pitchFamily="34" charset="-122"/>
                <a:cs typeface="Calibri" pitchFamily="34" charset="-120"/>
              </a:rPr>
              <a:t>Once a child process is running independently, its parent needs a reliable way to know when that child has finished so it can collect the child's exit status and avoid leaving a zombie entry in the process table. The wait() call blocks the parent exactly until a child terminates, at which point it returns that child's process ID and status code, giving the program a clean synchronization point between two otherwise-independent execution paths.</a:t>
            </a:r>
            <a:endParaRPr lang="en-US" sz="1150" dirty="0"/>
          </a:p>
        </p:txBody>
      </p:sp>
      <p:sp>
        <p:nvSpPr>
          <p:cNvPr id="10" name="Shape 6"/>
          <p:cNvSpPr/>
          <p:nvPr/>
        </p:nvSpPr>
        <p:spPr>
          <a:xfrm>
            <a:off x="502920" y="3264408"/>
            <a:ext cx="512064" cy="512064"/>
          </a:xfrm>
          <a:prstGeom prst="ellipse">
            <a:avLst/>
          </a:prstGeom>
          <a:solidFill>
            <a:srgbClr val="20293A"/>
          </a:solidFill>
          <a:ln w="12700">
            <a:solidFill>
              <a:srgbClr val="2A3441"/>
            </a:solidFill>
            <a:prstDash val="solid"/>
          </a:ln>
        </p:spPr>
      </p:sp>
      <p:pic>
        <p:nvPicPr>
          <p:cNvPr id="11" name="Image 2" descr="/home/claude/build/assets/icons/ban_39D98A.png">    </p:cNvPr>
          <p:cNvPicPr>
            <a:picLocks noChangeAspect="1"/>
          </p:cNvPicPr>
          <p:nvPr/>
        </p:nvPicPr>
        <p:blipFill>
          <a:blip r:embed="rId3"/>
          <a:stretch>
            <a:fillRect/>
          </a:stretch>
        </p:blipFill>
        <p:spPr>
          <a:xfrm>
            <a:off x="618134" y="3379622"/>
            <a:ext cx="281635" cy="281635"/>
          </a:xfrm>
          <a:prstGeom prst="rect">
            <a:avLst/>
          </a:prstGeom>
        </p:spPr>
      </p:pic>
      <p:sp>
        <p:nvSpPr>
          <p:cNvPr id="12" name="Text 7"/>
          <p:cNvSpPr/>
          <p:nvPr/>
        </p:nvSpPr>
        <p:spPr>
          <a:xfrm>
            <a:off x="1170432" y="3236976"/>
            <a:ext cx="10424160" cy="365760"/>
          </a:xfrm>
          <a:prstGeom prst="rect">
            <a:avLst/>
          </a:prstGeom>
          <a:noFill/>
          <a:ln/>
        </p:spPr>
        <p:txBody>
          <a:bodyPr wrap="square" rtlCol="0" anchor="ctr"/>
          <a:lstStyle/>
          <a:p>
            <a:pPr indent="0" marL="0">
              <a:buNone/>
            </a:pPr>
            <a:r>
              <a:rPr lang="en-US" sz="1550" b="1" dirty="0">
                <a:solidFill>
                  <a:srgbClr val="E6EDF3"/>
                </a:solidFill>
                <a:latin typeface="Cambria" pitchFamily="34" charset="0"/>
                <a:ea typeface="Cambria" pitchFamily="34" charset="-122"/>
                <a:cs typeface="Cambria" pitchFamily="34" charset="-120"/>
              </a:rPr>
              <a:t>Signalling and Termination With kill()</a:t>
            </a:r>
            <a:endParaRPr lang="en-US" sz="1550" dirty="0"/>
          </a:p>
        </p:txBody>
      </p:sp>
      <p:sp>
        <p:nvSpPr>
          <p:cNvPr id="13" name="Text 8"/>
          <p:cNvSpPr/>
          <p:nvPr/>
        </p:nvSpPr>
        <p:spPr>
          <a:xfrm>
            <a:off x="1170432" y="3630168"/>
            <a:ext cx="10424160" cy="1051560"/>
          </a:xfrm>
          <a:prstGeom prst="rect">
            <a:avLst/>
          </a:prstGeom>
          <a:noFill/>
          <a:ln/>
        </p:spPr>
        <p:txBody>
          <a:bodyPr wrap="square" rtlCol="0" anchor="t"/>
          <a:lstStyle/>
          <a:p>
            <a:pPr indent="0" marL="0">
              <a:lnSpc>
                <a:spcPct val="128000"/>
              </a:lnSpc>
              <a:buNone/>
            </a:pPr>
            <a:r>
              <a:rPr lang="en-US" sz="1150" dirty="0">
                <a:solidFill>
                  <a:srgbClr val="9BA7B4"/>
                </a:solidFill>
                <a:latin typeface="Calibri" pitchFamily="34" charset="0"/>
                <a:ea typeface="Calibri" pitchFamily="34" charset="-122"/>
                <a:cs typeface="Calibri" pitchFamily="34" charset="-120"/>
              </a:rPr>
              <a:t>Despite its name, kill() is a general-purpose signal-delivery mechanism, not only a termination tool: it can request a graceful shutdown with SIGTERM, force an immediate stop with SIGKILL, or deliver custom signals a process has registered a handler for. In this project it gives the management console a direct way to interrupt or end any child process it has spawned, closing the loop between creation and controlled shutdown.</a:t>
            </a:r>
            <a:endParaRPr lang="en-US" sz="1150" dirty="0"/>
          </a:p>
        </p:txBody>
      </p:sp>
      <p:sp>
        <p:nvSpPr>
          <p:cNvPr id="14" name="Shape 9"/>
          <p:cNvSpPr/>
          <p:nvPr/>
        </p:nvSpPr>
        <p:spPr>
          <a:xfrm>
            <a:off x="502920" y="4837176"/>
            <a:ext cx="512064" cy="512064"/>
          </a:xfrm>
          <a:prstGeom prst="ellipse">
            <a:avLst/>
          </a:prstGeom>
          <a:solidFill>
            <a:srgbClr val="20293A"/>
          </a:solidFill>
          <a:ln w="12700">
            <a:solidFill>
              <a:srgbClr val="2A3441"/>
            </a:solidFill>
            <a:prstDash val="solid"/>
          </a:ln>
        </p:spPr>
      </p:sp>
      <p:pic>
        <p:nvPicPr>
          <p:cNvPr id="15" name="Image 3" descr="/home/claude/build/assets/icons/hashtag_39D98A.png">    </p:cNvPr>
          <p:cNvPicPr>
            <a:picLocks noChangeAspect="1"/>
          </p:cNvPicPr>
          <p:nvPr/>
        </p:nvPicPr>
        <p:blipFill>
          <a:blip r:embed="rId4"/>
          <a:stretch>
            <a:fillRect/>
          </a:stretch>
        </p:blipFill>
        <p:spPr>
          <a:xfrm>
            <a:off x="618134" y="4952390"/>
            <a:ext cx="281635" cy="281635"/>
          </a:xfrm>
          <a:prstGeom prst="rect">
            <a:avLst/>
          </a:prstGeom>
        </p:spPr>
      </p:pic>
      <p:sp>
        <p:nvSpPr>
          <p:cNvPr id="16" name="Text 10"/>
          <p:cNvSpPr/>
          <p:nvPr/>
        </p:nvSpPr>
        <p:spPr>
          <a:xfrm>
            <a:off x="1170432" y="4809744"/>
            <a:ext cx="10424160" cy="365760"/>
          </a:xfrm>
          <a:prstGeom prst="rect">
            <a:avLst/>
          </a:prstGeom>
          <a:noFill/>
          <a:ln/>
        </p:spPr>
        <p:txBody>
          <a:bodyPr wrap="square" rtlCol="0" anchor="ctr"/>
          <a:lstStyle/>
          <a:p>
            <a:pPr indent="0" marL="0">
              <a:buNone/>
            </a:pPr>
            <a:r>
              <a:rPr lang="en-US" sz="1550" b="1" dirty="0">
                <a:solidFill>
                  <a:srgbClr val="E6EDF3"/>
                </a:solidFill>
                <a:latin typeface="Cambria" pitchFamily="34" charset="0"/>
                <a:ea typeface="Cambria" pitchFamily="34" charset="-122"/>
                <a:cs typeface="Cambria" pitchFamily="34" charset="-120"/>
              </a:rPr>
              <a:t>Tracking Identity With getpid() and getppid()</a:t>
            </a:r>
            <a:endParaRPr lang="en-US" sz="1550" dirty="0"/>
          </a:p>
        </p:txBody>
      </p:sp>
      <p:sp>
        <p:nvSpPr>
          <p:cNvPr id="17" name="Text 11"/>
          <p:cNvSpPr/>
          <p:nvPr/>
        </p:nvSpPr>
        <p:spPr>
          <a:xfrm>
            <a:off x="1170432" y="5202936"/>
            <a:ext cx="10424160" cy="1051560"/>
          </a:xfrm>
          <a:prstGeom prst="rect">
            <a:avLst/>
          </a:prstGeom>
          <a:noFill/>
          <a:ln/>
        </p:spPr>
        <p:txBody>
          <a:bodyPr wrap="square" rtlCol="0" anchor="t"/>
          <a:lstStyle/>
          <a:p>
            <a:pPr indent="0" marL="0">
              <a:lnSpc>
                <a:spcPct val="128000"/>
              </a:lnSpc>
              <a:buNone/>
            </a:pPr>
            <a:r>
              <a:rPr lang="en-US" sz="1150" dirty="0">
                <a:solidFill>
                  <a:srgbClr val="9BA7B4"/>
                </a:solidFill>
                <a:latin typeface="Calibri" pitchFamily="34" charset="0"/>
                <a:ea typeface="Calibri" pitchFamily="34" charset="-122"/>
                <a:cs typeface="Calibri" pitchFamily="34" charset="-120"/>
              </a:rPr>
              <a:t>Every process the kernel creates receives a unique process ID that persists for its entire lifetime, and every process (other than the very first) also carries the process ID of whichever process created it. By calling getpid() and getppid() at each stage, the program continuously surfaces this parent-child lineage on screen, turning an internal kernel bookkeeping structure into something the user can watch unfold in real time.</a:t>
            </a:r>
            <a:endParaRPr lang="en-US" sz="1150" dirty="0"/>
          </a:p>
        </p:txBody>
      </p:sp>
      <p:sp>
        <p:nvSpPr>
          <p:cNvPr id="18" name="Text 12"/>
          <p:cNvSpPr/>
          <p:nvPr/>
        </p:nvSpPr>
        <p:spPr>
          <a:xfrm>
            <a:off x="457200" y="6473952"/>
            <a:ext cx="7315200" cy="274320"/>
          </a:xfrm>
          <a:prstGeom prst="rect">
            <a:avLst/>
          </a:prstGeom>
          <a:noFill/>
          <a:ln/>
        </p:spPr>
        <p:txBody>
          <a:bodyPr wrap="square" rtlCol="0" anchor="ctr"/>
          <a:lstStyle/>
          <a:p>
            <a:pPr algn="l" indent="0" marL="0">
              <a:buNone/>
            </a:pPr>
            <a:r>
              <a:rPr lang="en-US" sz="900" spc="100" kern="0" dirty="0">
                <a:solidFill>
                  <a:srgbClr val="9BA7B4"/>
                </a:solidFill>
                <a:latin typeface="Calibri" pitchFamily="34" charset="0"/>
                <a:ea typeface="Calibri" pitchFamily="34" charset="-122"/>
                <a:cs typeface="Calibri" pitchFamily="34" charset="-120"/>
              </a:rPr>
              <a:t>SMART PROCESS MANAGEMENT  •  LINUX SYSTEM CALLS</a:t>
            </a:r>
            <a:endParaRPr lang="en-US" sz="900" dirty="0"/>
          </a:p>
        </p:txBody>
      </p:sp>
      <p:sp>
        <p:nvSpPr>
          <p:cNvPr id="19" name="Text 13"/>
          <p:cNvSpPr/>
          <p:nvPr/>
        </p:nvSpPr>
        <p:spPr>
          <a:xfrm>
            <a:off x="11277295" y="6473952"/>
            <a:ext cx="457200" cy="274320"/>
          </a:xfrm>
          <a:prstGeom prst="rect">
            <a:avLst/>
          </a:prstGeom>
          <a:noFill/>
          <a:ln/>
        </p:spPr>
        <p:txBody>
          <a:bodyPr wrap="square" rtlCol="0" anchor="ctr"/>
          <a:lstStyle/>
          <a:p>
            <a:pPr algn="r" indent="0" marL="0">
              <a:buNone/>
            </a:pPr>
            <a:r>
              <a:rPr lang="en-US" sz="900" dirty="0">
                <a:solidFill>
                  <a:srgbClr val="9BA7B4"/>
                </a:solidFill>
                <a:latin typeface="Calibri" pitchFamily="34" charset="0"/>
                <a:ea typeface="Calibri" pitchFamily="34" charset="-122"/>
                <a:cs typeface="Calibri" pitchFamily="34" charset="-120"/>
              </a:rPr>
              <a:t>08</a:t>
            </a:r>
            <a:endParaRPr lang="en-US" sz="9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0D1117"/>
        </a:solidFill>
      </p:bgPr>
    </p:bg>
    <p:spTree>
      <p:nvGrpSpPr>
        <p:cNvPr id="1" name=""/>
        <p:cNvGrpSpPr/>
        <p:nvPr/>
      </p:nvGrpSpPr>
      <p:grpSpPr>
        <a:xfrm>
          <a:off x="0" y="0"/>
          <a:ext cx="0" cy="0"/>
          <a:chOff x="0" y="0"/>
          <a:chExt cx="0" cy="0"/>
        </a:xfrm>
      </p:grpSpPr>
      <p:pic>
        <p:nvPicPr>
          <p:cNvPr id="2" name="Image 0" descr="/home/claude/build/assets/bg_panel.png">    </p:cNvPr>
          <p:cNvPicPr>
            <a:picLocks noChangeAspect="1"/>
          </p:cNvPicPr>
          <p:nvPr/>
        </p:nvPicPr>
        <p:blipFill>
          <a:blip r:embed="rId1"/>
          <a:stretch>
            <a:fillRect/>
          </a:stretch>
        </p:blipFill>
        <p:spPr>
          <a:xfrm>
            <a:off x="0" y="0"/>
            <a:ext cx="12191695" cy="6858000"/>
          </a:xfrm>
          <a:prstGeom prst="rect">
            <a:avLst/>
          </a:prstGeom>
        </p:spPr>
      </p:pic>
      <p:sp>
        <p:nvSpPr>
          <p:cNvPr id="3" name="Shape 0"/>
          <p:cNvSpPr/>
          <p:nvPr/>
        </p:nvSpPr>
        <p:spPr>
          <a:xfrm>
            <a:off x="502920" y="457200"/>
            <a:ext cx="128016" cy="128016"/>
          </a:xfrm>
          <a:prstGeom prst="roundRect">
            <a:avLst>
              <a:gd name="adj" fmla="val 50000"/>
            </a:avLst>
          </a:prstGeom>
          <a:solidFill>
            <a:srgbClr val="39D98A"/>
          </a:solidFill>
          <a:ln/>
        </p:spPr>
      </p:sp>
      <p:sp>
        <p:nvSpPr>
          <p:cNvPr id="4" name="Text 1"/>
          <p:cNvSpPr/>
          <p:nvPr/>
        </p:nvSpPr>
        <p:spPr>
          <a:xfrm>
            <a:off x="713232" y="393192"/>
            <a:ext cx="5486400" cy="274320"/>
          </a:xfrm>
          <a:prstGeom prst="rect">
            <a:avLst/>
          </a:prstGeom>
          <a:noFill/>
          <a:ln/>
        </p:spPr>
        <p:txBody>
          <a:bodyPr wrap="square" rtlCol="0" anchor="ctr"/>
          <a:lstStyle/>
          <a:p>
            <a:pPr indent="0" marL="0">
              <a:buNone/>
            </a:pPr>
            <a:r>
              <a:rPr lang="en-US" sz="1250" b="1" spc="200" kern="0" dirty="0">
                <a:solidFill>
                  <a:srgbClr val="39D98A"/>
                </a:solidFill>
                <a:latin typeface="Calibri" pitchFamily="34" charset="0"/>
                <a:ea typeface="Calibri" pitchFamily="34" charset="-122"/>
                <a:cs typeface="Calibri" pitchFamily="34" charset="-120"/>
              </a:rPr>
              <a:t>WORKFLOW</a:t>
            </a:r>
            <a:endParaRPr lang="en-US" sz="1250" dirty="0"/>
          </a:p>
        </p:txBody>
      </p:sp>
      <p:sp>
        <p:nvSpPr>
          <p:cNvPr id="5" name="Text 2"/>
          <p:cNvSpPr/>
          <p:nvPr/>
        </p:nvSpPr>
        <p:spPr>
          <a:xfrm>
            <a:off x="502920" y="713232"/>
            <a:ext cx="10515600" cy="685800"/>
          </a:xfrm>
          <a:prstGeom prst="rect">
            <a:avLst/>
          </a:prstGeom>
          <a:noFill/>
          <a:ln/>
        </p:spPr>
        <p:txBody>
          <a:bodyPr wrap="square" rtlCol="0" anchor="ctr"/>
          <a:lstStyle/>
          <a:p>
            <a:pPr algn="l" indent="0" marL="0">
              <a:buNone/>
            </a:pPr>
            <a:r>
              <a:rPr lang="en-US" sz="3000" b="1" dirty="0">
                <a:solidFill>
                  <a:srgbClr val="E6EDF3"/>
                </a:solidFill>
                <a:latin typeface="Cambria" pitchFamily="34" charset="0"/>
                <a:ea typeface="Cambria" pitchFamily="34" charset="-122"/>
                <a:cs typeface="Cambria" pitchFamily="34" charset="-120"/>
              </a:rPr>
              <a:t>Process Lifecycle &amp; Execution Flow</a:t>
            </a:r>
            <a:endParaRPr lang="en-US" sz="3000" dirty="0"/>
          </a:p>
        </p:txBody>
      </p:sp>
      <p:sp>
        <p:nvSpPr>
          <p:cNvPr id="6" name="Text 3"/>
          <p:cNvSpPr/>
          <p:nvPr/>
        </p:nvSpPr>
        <p:spPr>
          <a:xfrm>
            <a:off x="502920" y="1627632"/>
            <a:ext cx="11155680" cy="914400"/>
          </a:xfrm>
          <a:prstGeom prst="rect">
            <a:avLst/>
          </a:prstGeom>
          <a:noFill/>
          <a:ln/>
        </p:spPr>
        <p:txBody>
          <a:bodyPr wrap="square" rtlCol="0" anchor="t"/>
          <a:lstStyle/>
          <a:p>
            <a:pPr indent="0" marL="0">
              <a:lnSpc>
                <a:spcPct val="128000"/>
              </a:lnSpc>
              <a:buNone/>
            </a:pPr>
            <a:r>
              <a:rPr lang="en-US" sz="1180" dirty="0">
                <a:solidFill>
                  <a:srgbClr val="9BA7B4"/>
                </a:solidFill>
                <a:latin typeface="Calibri" pitchFamily="34" charset="0"/>
                <a:ea typeface="Calibri" pitchFamily="34" charset="-122"/>
                <a:cs typeface="Calibri" pitchFamily="34" charset="-120"/>
              </a:rPr>
              <a:t>Every operation the interactive console performs walks the same execution path: the user selects an action from the menu, that action is translated into one or more system calls, the Linux kernel processes the request against the appropriate process table entries, and the outcome is returned and displayed. The same loop also mirrors the five canonical states a process itself moves through — new, ready, running, waiting, and terminated — which makes the console a live demonstration of the process lifecycle rather than just a menu of unrelated commands.</a:t>
            </a:r>
            <a:endParaRPr lang="en-US" sz="1180" dirty="0"/>
          </a:p>
        </p:txBody>
      </p:sp>
      <p:sp>
        <p:nvSpPr>
          <p:cNvPr id="7" name="Shape 4"/>
          <p:cNvSpPr/>
          <p:nvPr/>
        </p:nvSpPr>
        <p:spPr>
          <a:xfrm>
            <a:off x="502920" y="2788920"/>
            <a:ext cx="1417320" cy="1417320"/>
          </a:xfrm>
          <a:prstGeom prst="roundRect">
            <a:avLst>
              <a:gd name="adj" fmla="val 6452"/>
            </a:avLst>
          </a:prstGeom>
          <a:solidFill>
            <a:srgbClr val="1B2430"/>
          </a:solidFill>
          <a:ln w="12700">
            <a:solidFill>
              <a:srgbClr val="2A3441"/>
            </a:solidFill>
            <a:prstDash val="solid"/>
          </a:ln>
          <a:effectLst>
            <a:outerShdw sx="100000" sy="100000" kx="0" ky="0" algn="bl" rotWithShape="0" blurRad="127000" dist="38100" dir="5400000">
              <a:srgbClr val="000000">
                <a:alpha val="35000"/>
              </a:srgbClr>
            </a:outerShdw>
          </a:effectLst>
        </p:spPr>
      </p:sp>
      <p:sp>
        <p:nvSpPr>
          <p:cNvPr id="8" name="Shape 5"/>
          <p:cNvSpPr/>
          <p:nvPr/>
        </p:nvSpPr>
        <p:spPr>
          <a:xfrm>
            <a:off x="946404" y="2953512"/>
            <a:ext cx="530352" cy="530352"/>
          </a:xfrm>
          <a:prstGeom prst="ellipse">
            <a:avLst/>
          </a:prstGeom>
          <a:solidFill>
            <a:srgbClr val="0D1117"/>
          </a:solidFill>
          <a:ln w="12700">
            <a:solidFill>
              <a:srgbClr val="2A3441"/>
            </a:solidFill>
            <a:prstDash val="solid"/>
          </a:ln>
        </p:spPr>
      </p:sp>
      <p:pic>
        <p:nvPicPr>
          <p:cNvPr id="9" name="Image 1" descr="/home/claude/build/assets/icons/play_39D98A.png">    </p:cNvPr>
          <p:cNvPicPr>
            <a:picLocks noChangeAspect="1"/>
          </p:cNvPicPr>
          <p:nvPr/>
        </p:nvPicPr>
        <p:blipFill>
          <a:blip r:embed="rId2"/>
          <a:stretch>
            <a:fillRect/>
          </a:stretch>
        </p:blipFill>
        <p:spPr>
          <a:xfrm>
            <a:off x="1065733" y="3072841"/>
            <a:ext cx="291694" cy="291694"/>
          </a:xfrm>
          <a:prstGeom prst="rect">
            <a:avLst/>
          </a:prstGeom>
        </p:spPr>
      </p:pic>
      <p:sp>
        <p:nvSpPr>
          <p:cNvPr id="10" name="Text 6"/>
          <p:cNvSpPr/>
          <p:nvPr/>
        </p:nvSpPr>
        <p:spPr>
          <a:xfrm>
            <a:off x="548640" y="3630168"/>
            <a:ext cx="1325880" cy="502920"/>
          </a:xfrm>
          <a:prstGeom prst="rect">
            <a:avLst/>
          </a:prstGeom>
          <a:noFill/>
          <a:ln/>
        </p:spPr>
        <p:txBody>
          <a:bodyPr wrap="square" rtlCol="0" anchor="t"/>
          <a:lstStyle/>
          <a:p>
            <a:pPr algn="ctr" indent="0" marL="0">
              <a:buNone/>
            </a:pPr>
            <a:r>
              <a:rPr lang="en-US" sz="950" b="1" dirty="0">
                <a:solidFill>
                  <a:srgbClr val="E6EDF3"/>
                </a:solidFill>
                <a:latin typeface="Calibri" pitchFamily="34" charset="0"/>
                <a:ea typeface="Calibri" pitchFamily="34" charset="-122"/>
                <a:cs typeface="Calibri" pitchFamily="34" charset="-120"/>
              </a:rPr>
              <a:t>Start</a:t>
            </a:r>
            <a:endParaRPr lang="en-US" sz="950" dirty="0"/>
          </a:p>
        </p:txBody>
      </p:sp>
      <p:pic>
        <p:nvPicPr>
          <p:cNvPr id="11" name="Image 2" descr="/home/claude/build/assets/icons/arrowRight_39D98A.png">    </p:cNvPr>
          <p:cNvPicPr>
            <a:picLocks noChangeAspect="1"/>
          </p:cNvPicPr>
          <p:nvPr/>
        </p:nvPicPr>
        <p:blipFill>
          <a:blip r:embed="rId3"/>
          <a:stretch>
            <a:fillRect/>
          </a:stretch>
        </p:blipFill>
        <p:spPr>
          <a:xfrm>
            <a:off x="1926336" y="3396996"/>
            <a:ext cx="201168" cy="201168"/>
          </a:xfrm>
          <a:prstGeom prst="rect">
            <a:avLst/>
          </a:prstGeom>
        </p:spPr>
      </p:pic>
      <p:sp>
        <p:nvSpPr>
          <p:cNvPr id="12" name="Shape 7"/>
          <p:cNvSpPr/>
          <p:nvPr/>
        </p:nvSpPr>
        <p:spPr>
          <a:xfrm>
            <a:off x="2133600" y="2788920"/>
            <a:ext cx="1417320" cy="1417320"/>
          </a:xfrm>
          <a:prstGeom prst="roundRect">
            <a:avLst>
              <a:gd name="adj" fmla="val 6452"/>
            </a:avLst>
          </a:prstGeom>
          <a:solidFill>
            <a:srgbClr val="20293A"/>
          </a:solidFill>
          <a:ln w="12700">
            <a:solidFill>
              <a:srgbClr val="2A3441"/>
            </a:solidFill>
            <a:prstDash val="solid"/>
          </a:ln>
          <a:effectLst>
            <a:outerShdw sx="100000" sy="100000" kx="0" ky="0" algn="bl" rotWithShape="0" blurRad="127000" dist="38100" dir="5400000">
              <a:srgbClr val="000000">
                <a:alpha val="35000"/>
              </a:srgbClr>
            </a:outerShdw>
          </a:effectLst>
        </p:spPr>
      </p:sp>
      <p:sp>
        <p:nvSpPr>
          <p:cNvPr id="13" name="Shape 8"/>
          <p:cNvSpPr/>
          <p:nvPr/>
        </p:nvSpPr>
        <p:spPr>
          <a:xfrm>
            <a:off x="2577084" y="2953512"/>
            <a:ext cx="530352" cy="530352"/>
          </a:xfrm>
          <a:prstGeom prst="ellipse">
            <a:avLst/>
          </a:prstGeom>
          <a:solidFill>
            <a:srgbClr val="0D1117"/>
          </a:solidFill>
          <a:ln w="12700">
            <a:solidFill>
              <a:srgbClr val="2A3441"/>
            </a:solidFill>
            <a:prstDash val="solid"/>
          </a:ln>
        </p:spPr>
      </p:sp>
      <p:pic>
        <p:nvPicPr>
          <p:cNvPr id="14" name="Image 3" descr="/home/claude/build/assets/icons/list_39D98A.png">    </p:cNvPr>
          <p:cNvPicPr>
            <a:picLocks noChangeAspect="1"/>
          </p:cNvPicPr>
          <p:nvPr/>
        </p:nvPicPr>
        <p:blipFill>
          <a:blip r:embed="rId4"/>
          <a:stretch>
            <a:fillRect/>
          </a:stretch>
        </p:blipFill>
        <p:spPr>
          <a:xfrm>
            <a:off x="2696413" y="3072841"/>
            <a:ext cx="291694" cy="291694"/>
          </a:xfrm>
          <a:prstGeom prst="rect">
            <a:avLst/>
          </a:prstGeom>
        </p:spPr>
      </p:pic>
      <p:sp>
        <p:nvSpPr>
          <p:cNvPr id="15" name="Text 9"/>
          <p:cNvSpPr/>
          <p:nvPr/>
        </p:nvSpPr>
        <p:spPr>
          <a:xfrm>
            <a:off x="2179320" y="3630168"/>
            <a:ext cx="1325880" cy="502920"/>
          </a:xfrm>
          <a:prstGeom prst="rect">
            <a:avLst/>
          </a:prstGeom>
          <a:noFill/>
          <a:ln/>
        </p:spPr>
        <p:txBody>
          <a:bodyPr wrap="square" rtlCol="0" anchor="t"/>
          <a:lstStyle/>
          <a:p>
            <a:pPr algn="ctr" indent="0" marL="0">
              <a:buNone/>
            </a:pPr>
            <a:r>
              <a:rPr lang="en-US" sz="950" b="1" dirty="0">
                <a:solidFill>
                  <a:srgbClr val="E6EDF3"/>
                </a:solidFill>
                <a:latin typeface="Calibri" pitchFamily="34" charset="0"/>
                <a:ea typeface="Calibri" pitchFamily="34" charset="-122"/>
                <a:cs typeface="Calibri" pitchFamily="34" charset="-120"/>
              </a:rPr>
              <a:t>Display Menu</a:t>
            </a:r>
            <a:endParaRPr lang="en-US" sz="950" dirty="0"/>
          </a:p>
        </p:txBody>
      </p:sp>
      <p:pic>
        <p:nvPicPr>
          <p:cNvPr id="16" name="Image 4" descr="/home/claude/build/assets/icons/arrowRight_39D98A.png">    </p:cNvPr>
          <p:cNvPicPr>
            <a:picLocks noChangeAspect="1"/>
          </p:cNvPicPr>
          <p:nvPr/>
        </p:nvPicPr>
        <p:blipFill>
          <a:blip r:embed="rId5"/>
          <a:stretch>
            <a:fillRect/>
          </a:stretch>
        </p:blipFill>
        <p:spPr>
          <a:xfrm>
            <a:off x="3557016" y="3396996"/>
            <a:ext cx="201168" cy="201168"/>
          </a:xfrm>
          <a:prstGeom prst="rect">
            <a:avLst/>
          </a:prstGeom>
        </p:spPr>
      </p:pic>
      <p:sp>
        <p:nvSpPr>
          <p:cNvPr id="17" name="Shape 10"/>
          <p:cNvSpPr/>
          <p:nvPr/>
        </p:nvSpPr>
        <p:spPr>
          <a:xfrm>
            <a:off x="3764280" y="2788920"/>
            <a:ext cx="1417320" cy="1417320"/>
          </a:xfrm>
          <a:prstGeom prst="roundRect">
            <a:avLst>
              <a:gd name="adj" fmla="val 6452"/>
            </a:avLst>
          </a:prstGeom>
          <a:solidFill>
            <a:srgbClr val="1B2430"/>
          </a:solidFill>
          <a:ln w="12700">
            <a:solidFill>
              <a:srgbClr val="2A3441"/>
            </a:solidFill>
            <a:prstDash val="solid"/>
          </a:ln>
          <a:effectLst>
            <a:outerShdw sx="100000" sy="100000" kx="0" ky="0" algn="bl" rotWithShape="0" blurRad="127000" dist="38100" dir="5400000">
              <a:srgbClr val="000000">
                <a:alpha val="35000"/>
              </a:srgbClr>
            </a:outerShdw>
          </a:effectLst>
        </p:spPr>
      </p:sp>
      <p:sp>
        <p:nvSpPr>
          <p:cNvPr id="18" name="Shape 11"/>
          <p:cNvSpPr/>
          <p:nvPr/>
        </p:nvSpPr>
        <p:spPr>
          <a:xfrm>
            <a:off x="4207764" y="2953512"/>
            <a:ext cx="530352" cy="530352"/>
          </a:xfrm>
          <a:prstGeom prst="ellipse">
            <a:avLst/>
          </a:prstGeom>
          <a:solidFill>
            <a:srgbClr val="0D1117"/>
          </a:solidFill>
          <a:ln w="12700">
            <a:solidFill>
              <a:srgbClr val="2A3441"/>
            </a:solidFill>
            <a:prstDash val="solid"/>
          </a:ln>
        </p:spPr>
      </p:sp>
      <p:pic>
        <p:nvPicPr>
          <p:cNvPr id="19" name="Image 5" descr="/home/claude/build/assets/icons/bullseye_39D98A.png">    </p:cNvPr>
          <p:cNvPicPr>
            <a:picLocks noChangeAspect="1"/>
          </p:cNvPicPr>
          <p:nvPr/>
        </p:nvPicPr>
        <p:blipFill>
          <a:blip r:embed="rId6"/>
          <a:stretch>
            <a:fillRect/>
          </a:stretch>
        </p:blipFill>
        <p:spPr>
          <a:xfrm>
            <a:off x="4327093" y="3072841"/>
            <a:ext cx="291694" cy="291694"/>
          </a:xfrm>
          <a:prstGeom prst="rect">
            <a:avLst/>
          </a:prstGeom>
        </p:spPr>
      </p:pic>
      <p:sp>
        <p:nvSpPr>
          <p:cNvPr id="20" name="Text 12"/>
          <p:cNvSpPr/>
          <p:nvPr/>
        </p:nvSpPr>
        <p:spPr>
          <a:xfrm>
            <a:off x="3810000" y="3630168"/>
            <a:ext cx="1325880" cy="502920"/>
          </a:xfrm>
          <a:prstGeom prst="rect">
            <a:avLst/>
          </a:prstGeom>
          <a:noFill/>
          <a:ln/>
        </p:spPr>
        <p:txBody>
          <a:bodyPr wrap="square" rtlCol="0" anchor="t"/>
          <a:lstStyle/>
          <a:p>
            <a:pPr algn="ctr" indent="0" marL="0">
              <a:buNone/>
            </a:pPr>
            <a:r>
              <a:rPr lang="en-US" sz="950" b="1" dirty="0">
                <a:solidFill>
                  <a:srgbClr val="E6EDF3"/>
                </a:solidFill>
                <a:latin typeface="Calibri" pitchFamily="34" charset="0"/>
                <a:ea typeface="Calibri" pitchFamily="34" charset="-122"/>
                <a:cs typeface="Calibri" pitchFamily="34" charset="-120"/>
              </a:rPr>
              <a:t>Select Operation</a:t>
            </a:r>
            <a:endParaRPr lang="en-US" sz="950" dirty="0"/>
          </a:p>
        </p:txBody>
      </p:sp>
      <p:pic>
        <p:nvPicPr>
          <p:cNvPr id="21" name="Image 6" descr="/home/claude/build/assets/icons/arrowRight_39D98A.png">    </p:cNvPr>
          <p:cNvPicPr>
            <a:picLocks noChangeAspect="1"/>
          </p:cNvPicPr>
          <p:nvPr/>
        </p:nvPicPr>
        <p:blipFill>
          <a:blip r:embed="rId7"/>
          <a:stretch>
            <a:fillRect/>
          </a:stretch>
        </p:blipFill>
        <p:spPr>
          <a:xfrm>
            <a:off x="5187696" y="3396996"/>
            <a:ext cx="201168" cy="201168"/>
          </a:xfrm>
          <a:prstGeom prst="rect">
            <a:avLst/>
          </a:prstGeom>
        </p:spPr>
      </p:pic>
      <p:sp>
        <p:nvSpPr>
          <p:cNvPr id="22" name="Shape 13"/>
          <p:cNvSpPr/>
          <p:nvPr/>
        </p:nvSpPr>
        <p:spPr>
          <a:xfrm>
            <a:off x="5394960" y="2788920"/>
            <a:ext cx="1417320" cy="1417320"/>
          </a:xfrm>
          <a:prstGeom prst="roundRect">
            <a:avLst>
              <a:gd name="adj" fmla="val 6452"/>
            </a:avLst>
          </a:prstGeom>
          <a:solidFill>
            <a:srgbClr val="20293A"/>
          </a:solidFill>
          <a:ln w="12700">
            <a:solidFill>
              <a:srgbClr val="2A3441"/>
            </a:solidFill>
            <a:prstDash val="solid"/>
          </a:ln>
          <a:effectLst>
            <a:outerShdw sx="100000" sy="100000" kx="0" ky="0" algn="bl" rotWithShape="0" blurRad="127000" dist="38100" dir="5400000">
              <a:srgbClr val="000000">
                <a:alpha val="35000"/>
              </a:srgbClr>
            </a:outerShdw>
          </a:effectLst>
        </p:spPr>
      </p:sp>
      <p:sp>
        <p:nvSpPr>
          <p:cNvPr id="23" name="Shape 14"/>
          <p:cNvSpPr/>
          <p:nvPr/>
        </p:nvSpPr>
        <p:spPr>
          <a:xfrm>
            <a:off x="5838444" y="2953512"/>
            <a:ext cx="530352" cy="530352"/>
          </a:xfrm>
          <a:prstGeom prst="ellipse">
            <a:avLst/>
          </a:prstGeom>
          <a:solidFill>
            <a:srgbClr val="0D1117"/>
          </a:solidFill>
          <a:ln w="12700">
            <a:solidFill>
              <a:srgbClr val="2A3441"/>
            </a:solidFill>
            <a:prstDash val="solid"/>
          </a:ln>
        </p:spPr>
      </p:sp>
      <p:pic>
        <p:nvPicPr>
          <p:cNvPr id="24" name="Image 7" descr="/home/claude/build/assets/icons/terminal_39D98A.png">    </p:cNvPr>
          <p:cNvPicPr>
            <a:picLocks noChangeAspect="1"/>
          </p:cNvPicPr>
          <p:nvPr/>
        </p:nvPicPr>
        <p:blipFill>
          <a:blip r:embed="rId8"/>
          <a:stretch>
            <a:fillRect/>
          </a:stretch>
        </p:blipFill>
        <p:spPr>
          <a:xfrm>
            <a:off x="5957773" y="3072841"/>
            <a:ext cx="291694" cy="291694"/>
          </a:xfrm>
          <a:prstGeom prst="rect">
            <a:avLst/>
          </a:prstGeom>
        </p:spPr>
      </p:pic>
      <p:sp>
        <p:nvSpPr>
          <p:cNvPr id="25" name="Text 15"/>
          <p:cNvSpPr/>
          <p:nvPr/>
        </p:nvSpPr>
        <p:spPr>
          <a:xfrm>
            <a:off x="5440680" y="3630168"/>
            <a:ext cx="1325880" cy="502920"/>
          </a:xfrm>
          <a:prstGeom prst="rect">
            <a:avLst/>
          </a:prstGeom>
          <a:noFill/>
          <a:ln/>
        </p:spPr>
        <p:txBody>
          <a:bodyPr wrap="square" rtlCol="0" anchor="t"/>
          <a:lstStyle/>
          <a:p>
            <a:pPr algn="ctr" indent="0" marL="0">
              <a:buNone/>
            </a:pPr>
            <a:r>
              <a:rPr lang="en-US" sz="950" b="1" dirty="0">
                <a:solidFill>
                  <a:srgbClr val="E6EDF3"/>
                </a:solidFill>
                <a:latin typeface="Calibri" pitchFamily="34" charset="0"/>
                <a:ea typeface="Calibri" pitchFamily="34" charset="-122"/>
                <a:cs typeface="Calibri" pitchFamily="34" charset="-120"/>
              </a:rPr>
              <a:t>Invoke System Call</a:t>
            </a:r>
            <a:endParaRPr lang="en-US" sz="950" dirty="0"/>
          </a:p>
        </p:txBody>
      </p:sp>
      <p:pic>
        <p:nvPicPr>
          <p:cNvPr id="26" name="Image 8" descr="/home/claude/build/assets/icons/arrowRight_39D98A.png">    </p:cNvPr>
          <p:cNvPicPr>
            <a:picLocks noChangeAspect="1"/>
          </p:cNvPicPr>
          <p:nvPr/>
        </p:nvPicPr>
        <p:blipFill>
          <a:blip r:embed="rId9"/>
          <a:stretch>
            <a:fillRect/>
          </a:stretch>
        </p:blipFill>
        <p:spPr>
          <a:xfrm>
            <a:off x="6818376" y="3396996"/>
            <a:ext cx="201168" cy="201168"/>
          </a:xfrm>
          <a:prstGeom prst="rect">
            <a:avLst/>
          </a:prstGeom>
        </p:spPr>
      </p:pic>
      <p:sp>
        <p:nvSpPr>
          <p:cNvPr id="27" name="Shape 16"/>
          <p:cNvSpPr/>
          <p:nvPr/>
        </p:nvSpPr>
        <p:spPr>
          <a:xfrm>
            <a:off x="7025640" y="2788920"/>
            <a:ext cx="1417320" cy="1417320"/>
          </a:xfrm>
          <a:prstGeom prst="roundRect">
            <a:avLst>
              <a:gd name="adj" fmla="val 6452"/>
            </a:avLst>
          </a:prstGeom>
          <a:solidFill>
            <a:srgbClr val="1B2430"/>
          </a:solidFill>
          <a:ln w="12700">
            <a:solidFill>
              <a:srgbClr val="2A3441"/>
            </a:solidFill>
            <a:prstDash val="solid"/>
          </a:ln>
          <a:effectLst>
            <a:outerShdw sx="100000" sy="100000" kx="0" ky="0" algn="bl" rotWithShape="0" blurRad="127000" dist="38100" dir="5400000">
              <a:srgbClr val="000000">
                <a:alpha val="35000"/>
              </a:srgbClr>
            </a:outerShdw>
          </a:effectLst>
        </p:spPr>
      </p:sp>
      <p:sp>
        <p:nvSpPr>
          <p:cNvPr id="28" name="Shape 17"/>
          <p:cNvSpPr/>
          <p:nvPr/>
        </p:nvSpPr>
        <p:spPr>
          <a:xfrm>
            <a:off x="7469124" y="2953512"/>
            <a:ext cx="530352" cy="530352"/>
          </a:xfrm>
          <a:prstGeom prst="ellipse">
            <a:avLst/>
          </a:prstGeom>
          <a:solidFill>
            <a:srgbClr val="0D1117"/>
          </a:solidFill>
          <a:ln w="12700">
            <a:solidFill>
              <a:srgbClr val="2A3441"/>
            </a:solidFill>
            <a:prstDash val="solid"/>
          </a:ln>
        </p:spPr>
      </p:sp>
      <p:pic>
        <p:nvPicPr>
          <p:cNvPr id="29" name="Image 9" descr="/home/claude/build/assets/icons/chip_39D98A.png">    </p:cNvPr>
          <p:cNvPicPr>
            <a:picLocks noChangeAspect="1"/>
          </p:cNvPicPr>
          <p:nvPr/>
        </p:nvPicPr>
        <p:blipFill>
          <a:blip r:embed="rId10"/>
          <a:stretch>
            <a:fillRect/>
          </a:stretch>
        </p:blipFill>
        <p:spPr>
          <a:xfrm>
            <a:off x="7588453" y="3072841"/>
            <a:ext cx="291694" cy="291694"/>
          </a:xfrm>
          <a:prstGeom prst="rect">
            <a:avLst/>
          </a:prstGeom>
        </p:spPr>
      </p:pic>
      <p:sp>
        <p:nvSpPr>
          <p:cNvPr id="30" name="Text 18"/>
          <p:cNvSpPr/>
          <p:nvPr/>
        </p:nvSpPr>
        <p:spPr>
          <a:xfrm>
            <a:off x="7071360" y="3630168"/>
            <a:ext cx="1325880" cy="502920"/>
          </a:xfrm>
          <a:prstGeom prst="rect">
            <a:avLst/>
          </a:prstGeom>
          <a:noFill/>
          <a:ln/>
        </p:spPr>
        <p:txBody>
          <a:bodyPr wrap="square" rtlCol="0" anchor="t"/>
          <a:lstStyle/>
          <a:p>
            <a:pPr algn="ctr" indent="0" marL="0">
              <a:buNone/>
            </a:pPr>
            <a:r>
              <a:rPr lang="en-US" sz="950" b="1" dirty="0">
                <a:solidFill>
                  <a:srgbClr val="E6EDF3"/>
                </a:solidFill>
                <a:latin typeface="Calibri" pitchFamily="34" charset="0"/>
                <a:ea typeface="Calibri" pitchFamily="34" charset="-122"/>
                <a:cs typeface="Calibri" pitchFamily="34" charset="-120"/>
              </a:rPr>
              <a:t>Kernel Processing</a:t>
            </a:r>
            <a:endParaRPr lang="en-US" sz="950" dirty="0"/>
          </a:p>
        </p:txBody>
      </p:sp>
      <p:pic>
        <p:nvPicPr>
          <p:cNvPr id="31" name="Image 10" descr="/home/claude/build/assets/icons/arrowRight_39D98A.png">    </p:cNvPr>
          <p:cNvPicPr>
            <a:picLocks noChangeAspect="1"/>
          </p:cNvPicPr>
          <p:nvPr/>
        </p:nvPicPr>
        <p:blipFill>
          <a:blip r:embed="rId11"/>
          <a:stretch>
            <a:fillRect/>
          </a:stretch>
        </p:blipFill>
        <p:spPr>
          <a:xfrm>
            <a:off x="8449056" y="3396996"/>
            <a:ext cx="201168" cy="201168"/>
          </a:xfrm>
          <a:prstGeom prst="rect">
            <a:avLst/>
          </a:prstGeom>
        </p:spPr>
      </p:pic>
      <p:sp>
        <p:nvSpPr>
          <p:cNvPr id="32" name="Shape 19"/>
          <p:cNvSpPr/>
          <p:nvPr/>
        </p:nvSpPr>
        <p:spPr>
          <a:xfrm>
            <a:off x="8656320" y="2788920"/>
            <a:ext cx="1417320" cy="1417320"/>
          </a:xfrm>
          <a:prstGeom prst="roundRect">
            <a:avLst>
              <a:gd name="adj" fmla="val 6452"/>
            </a:avLst>
          </a:prstGeom>
          <a:solidFill>
            <a:srgbClr val="20293A"/>
          </a:solidFill>
          <a:ln w="12700">
            <a:solidFill>
              <a:srgbClr val="2A3441"/>
            </a:solidFill>
            <a:prstDash val="solid"/>
          </a:ln>
          <a:effectLst>
            <a:outerShdw sx="100000" sy="100000" kx="0" ky="0" algn="bl" rotWithShape="0" blurRad="127000" dist="38100" dir="5400000">
              <a:srgbClr val="000000">
                <a:alpha val="35000"/>
              </a:srgbClr>
            </a:outerShdw>
          </a:effectLst>
        </p:spPr>
      </p:sp>
      <p:sp>
        <p:nvSpPr>
          <p:cNvPr id="33" name="Shape 20"/>
          <p:cNvSpPr/>
          <p:nvPr/>
        </p:nvSpPr>
        <p:spPr>
          <a:xfrm>
            <a:off x="9099804" y="2953512"/>
            <a:ext cx="530352" cy="530352"/>
          </a:xfrm>
          <a:prstGeom prst="ellipse">
            <a:avLst/>
          </a:prstGeom>
          <a:solidFill>
            <a:srgbClr val="0D1117"/>
          </a:solidFill>
          <a:ln w="12700">
            <a:solidFill>
              <a:srgbClr val="2A3441"/>
            </a:solidFill>
            <a:prstDash val="solid"/>
          </a:ln>
        </p:spPr>
      </p:sp>
      <p:pic>
        <p:nvPicPr>
          <p:cNvPr id="34" name="Image 11" descr="/home/claude/build/assets/icons/check_39D98A.png">    </p:cNvPr>
          <p:cNvPicPr>
            <a:picLocks noChangeAspect="1"/>
          </p:cNvPicPr>
          <p:nvPr/>
        </p:nvPicPr>
        <p:blipFill>
          <a:blip r:embed="rId12"/>
          <a:stretch>
            <a:fillRect/>
          </a:stretch>
        </p:blipFill>
        <p:spPr>
          <a:xfrm>
            <a:off x="9219133" y="3072841"/>
            <a:ext cx="291694" cy="291694"/>
          </a:xfrm>
          <a:prstGeom prst="rect">
            <a:avLst/>
          </a:prstGeom>
        </p:spPr>
      </p:pic>
      <p:sp>
        <p:nvSpPr>
          <p:cNvPr id="35" name="Text 21"/>
          <p:cNvSpPr/>
          <p:nvPr/>
        </p:nvSpPr>
        <p:spPr>
          <a:xfrm>
            <a:off x="8702040" y="3630168"/>
            <a:ext cx="1325880" cy="502920"/>
          </a:xfrm>
          <a:prstGeom prst="rect">
            <a:avLst/>
          </a:prstGeom>
          <a:noFill/>
          <a:ln/>
        </p:spPr>
        <p:txBody>
          <a:bodyPr wrap="square" rtlCol="0" anchor="t"/>
          <a:lstStyle/>
          <a:p>
            <a:pPr algn="ctr" indent="0" marL="0">
              <a:buNone/>
            </a:pPr>
            <a:r>
              <a:rPr lang="en-US" sz="950" b="1" dirty="0">
                <a:solidFill>
                  <a:srgbClr val="E6EDF3"/>
                </a:solidFill>
                <a:latin typeface="Calibri" pitchFamily="34" charset="0"/>
                <a:ea typeface="Calibri" pitchFamily="34" charset="-122"/>
                <a:cs typeface="Calibri" pitchFamily="34" charset="-120"/>
              </a:rPr>
              <a:t>Return Result</a:t>
            </a:r>
            <a:endParaRPr lang="en-US" sz="950" dirty="0"/>
          </a:p>
        </p:txBody>
      </p:sp>
      <p:pic>
        <p:nvPicPr>
          <p:cNvPr id="36" name="Image 12" descr="/home/claude/build/assets/icons/arrowRight_39D98A.png">    </p:cNvPr>
          <p:cNvPicPr>
            <a:picLocks noChangeAspect="1"/>
          </p:cNvPicPr>
          <p:nvPr/>
        </p:nvPicPr>
        <p:blipFill>
          <a:blip r:embed="rId13"/>
          <a:stretch>
            <a:fillRect/>
          </a:stretch>
        </p:blipFill>
        <p:spPr>
          <a:xfrm>
            <a:off x="10079736" y="3396996"/>
            <a:ext cx="201168" cy="201168"/>
          </a:xfrm>
          <a:prstGeom prst="rect">
            <a:avLst/>
          </a:prstGeom>
        </p:spPr>
      </p:pic>
      <p:sp>
        <p:nvSpPr>
          <p:cNvPr id="37" name="Shape 22"/>
          <p:cNvSpPr/>
          <p:nvPr/>
        </p:nvSpPr>
        <p:spPr>
          <a:xfrm>
            <a:off x="10287000" y="2788920"/>
            <a:ext cx="1417320" cy="1417320"/>
          </a:xfrm>
          <a:prstGeom prst="roundRect">
            <a:avLst>
              <a:gd name="adj" fmla="val 6452"/>
            </a:avLst>
          </a:prstGeom>
          <a:solidFill>
            <a:srgbClr val="1B2430"/>
          </a:solidFill>
          <a:ln w="12700">
            <a:solidFill>
              <a:srgbClr val="2A3441"/>
            </a:solidFill>
            <a:prstDash val="solid"/>
          </a:ln>
          <a:effectLst>
            <a:outerShdw sx="100000" sy="100000" kx="0" ky="0" algn="bl" rotWithShape="0" blurRad="127000" dist="38100" dir="5400000">
              <a:srgbClr val="000000">
                <a:alpha val="35000"/>
              </a:srgbClr>
            </a:outerShdw>
          </a:effectLst>
        </p:spPr>
      </p:sp>
      <p:sp>
        <p:nvSpPr>
          <p:cNvPr id="38" name="Shape 23"/>
          <p:cNvSpPr/>
          <p:nvPr/>
        </p:nvSpPr>
        <p:spPr>
          <a:xfrm>
            <a:off x="10730484" y="2953512"/>
            <a:ext cx="530352" cy="530352"/>
          </a:xfrm>
          <a:prstGeom prst="ellipse">
            <a:avLst/>
          </a:prstGeom>
          <a:solidFill>
            <a:srgbClr val="0D1117"/>
          </a:solidFill>
          <a:ln w="12700">
            <a:solidFill>
              <a:srgbClr val="2A3441"/>
            </a:solidFill>
            <a:prstDash val="solid"/>
          </a:ln>
        </p:spPr>
      </p:sp>
      <p:pic>
        <p:nvPicPr>
          <p:cNvPr id="39" name="Image 13" descr="/home/claude/build/assets/icons/sync_39D98A.png">    </p:cNvPr>
          <p:cNvPicPr>
            <a:picLocks noChangeAspect="1"/>
          </p:cNvPicPr>
          <p:nvPr/>
        </p:nvPicPr>
        <p:blipFill>
          <a:blip r:embed="rId14"/>
          <a:stretch>
            <a:fillRect/>
          </a:stretch>
        </p:blipFill>
        <p:spPr>
          <a:xfrm>
            <a:off x="10849813" y="3072841"/>
            <a:ext cx="291694" cy="291694"/>
          </a:xfrm>
          <a:prstGeom prst="rect">
            <a:avLst/>
          </a:prstGeom>
        </p:spPr>
      </p:pic>
      <p:sp>
        <p:nvSpPr>
          <p:cNvPr id="40" name="Text 24"/>
          <p:cNvSpPr/>
          <p:nvPr/>
        </p:nvSpPr>
        <p:spPr>
          <a:xfrm>
            <a:off x="10332720" y="3630168"/>
            <a:ext cx="1325880" cy="502920"/>
          </a:xfrm>
          <a:prstGeom prst="rect">
            <a:avLst/>
          </a:prstGeom>
          <a:noFill/>
          <a:ln/>
        </p:spPr>
        <p:txBody>
          <a:bodyPr wrap="square" rtlCol="0" anchor="t"/>
          <a:lstStyle/>
          <a:p>
            <a:pPr algn="ctr" indent="0" marL="0">
              <a:buNone/>
            </a:pPr>
            <a:r>
              <a:rPr lang="en-US" sz="950" b="1" dirty="0">
                <a:solidFill>
                  <a:srgbClr val="E6EDF3"/>
                </a:solidFill>
                <a:latin typeface="Calibri" pitchFamily="34" charset="0"/>
                <a:ea typeface="Calibri" pitchFamily="34" charset="-122"/>
                <a:cs typeface="Calibri" pitchFamily="34" charset="-120"/>
              </a:rPr>
              <a:t>Loop / Exit</a:t>
            </a:r>
            <a:endParaRPr lang="en-US" sz="950" dirty="0"/>
          </a:p>
        </p:txBody>
      </p:sp>
      <p:sp>
        <p:nvSpPr>
          <p:cNvPr id="41" name="Text 25"/>
          <p:cNvSpPr/>
          <p:nvPr/>
        </p:nvSpPr>
        <p:spPr>
          <a:xfrm>
            <a:off x="502920" y="4709160"/>
            <a:ext cx="5486400" cy="320040"/>
          </a:xfrm>
          <a:prstGeom prst="rect">
            <a:avLst/>
          </a:prstGeom>
          <a:noFill/>
          <a:ln/>
        </p:spPr>
        <p:txBody>
          <a:bodyPr wrap="square" rtlCol="0" anchor="ctr"/>
          <a:lstStyle/>
          <a:p>
            <a:pPr indent="0" marL="0">
              <a:buNone/>
            </a:pPr>
            <a:r>
              <a:rPr lang="en-US" sz="1400" b="1" dirty="0">
                <a:solidFill>
                  <a:srgbClr val="39D98A"/>
                </a:solidFill>
                <a:latin typeface="Cambria" pitchFamily="34" charset="0"/>
                <a:ea typeface="Cambria" pitchFamily="34" charset="-122"/>
                <a:cs typeface="Cambria" pitchFamily="34" charset="-120"/>
              </a:rPr>
              <a:t>Underlying Process States</a:t>
            </a:r>
            <a:endParaRPr lang="en-US" sz="1400" dirty="0"/>
          </a:p>
        </p:txBody>
      </p:sp>
      <p:sp>
        <p:nvSpPr>
          <p:cNvPr id="42" name="Shape 26"/>
          <p:cNvSpPr/>
          <p:nvPr/>
        </p:nvSpPr>
        <p:spPr>
          <a:xfrm>
            <a:off x="502920" y="5120640"/>
            <a:ext cx="2084832" cy="777240"/>
          </a:xfrm>
          <a:prstGeom prst="roundRect">
            <a:avLst>
              <a:gd name="adj" fmla="val 47059"/>
            </a:avLst>
          </a:prstGeom>
          <a:solidFill>
            <a:srgbClr val="161B22"/>
          </a:solidFill>
          <a:ln w="12700">
            <a:solidFill>
              <a:srgbClr val="2A3441"/>
            </a:solidFill>
            <a:prstDash val="solid"/>
          </a:ln>
          <a:effectLst>
            <a:outerShdw sx="100000" sy="100000" kx="0" ky="0" algn="bl" rotWithShape="0" blurRad="127000" dist="38100" dir="5400000">
              <a:srgbClr val="000000">
                <a:alpha val="35000"/>
              </a:srgbClr>
            </a:outerShdw>
          </a:effectLst>
        </p:spPr>
      </p:sp>
      <p:sp>
        <p:nvSpPr>
          <p:cNvPr id="43" name="Text 27"/>
          <p:cNvSpPr/>
          <p:nvPr/>
        </p:nvSpPr>
        <p:spPr>
          <a:xfrm>
            <a:off x="502920" y="5120640"/>
            <a:ext cx="2084832" cy="777240"/>
          </a:xfrm>
          <a:prstGeom prst="rect">
            <a:avLst/>
          </a:prstGeom>
          <a:noFill/>
          <a:ln/>
        </p:spPr>
        <p:txBody>
          <a:bodyPr wrap="square" rtlCol="0" anchor="ctr"/>
          <a:lstStyle/>
          <a:p>
            <a:pPr algn="ctr" indent="0" marL="0">
              <a:buNone/>
            </a:pPr>
            <a:r>
              <a:rPr lang="en-US" sz="1250" b="1" dirty="0">
                <a:solidFill>
                  <a:srgbClr val="E6EDF3"/>
                </a:solidFill>
                <a:latin typeface="Calibri" pitchFamily="34" charset="0"/>
                <a:ea typeface="Calibri" pitchFamily="34" charset="-122"/>
                <a:cs typeface="Calibri" pitchFamily="34" charset="-120"/>
              </a:rPr>
              <a:t>New</a:t>
            </a:r>
            <a:endParaRPr lang="en-US" sz="1250" dirty="0"/>
          </a:p>
        </p:txBody>
      </p:sp>
      <p:pic>
        <p:nvPicPr>
          <p:cNvPr id="44" name="Image 14" descr="/home/claude/build/assets/icons/arrowRight_9BA7B4.png">    </p:cNvPr>
          <p:cNvPicPr>
            <a:picLocks noChangeAspect="1"/>
          </p:cNvPicPr>
          <p:nvPr/>
        </p:nvPicPr>
        <p:blipFill>
          <a:blip r:embed="rId15"/>
          <a:stretch>
            <a:fillRect/>
          </a:stretch>
        </p:blipFill>
        <p:spPr>
          <a:xfrm>
            <a:off x="2593467" y="5413248"/>
            <a:ext cx="182880" cy="182880"/>
          </a:xfrm>
          <a:prstGeom prst="rect">
            <a:avLst/>
          </a:prstGeom>
        </p:spPr>
      </p:pic>
      <p:sp>
        <p:nvSpPr>
          <p:cNvPr id="45" name="Shape 28"/>
          <p:cNvSpPr/>
          <p:nvPr/>
        </p:nvSpPr>
        <p:spPr>
          <a:xfrm>
            <a:off x="2782062" y="5120640"/>
            <a:ext cx="2084832" cy="777240"/>
          </a:xfrm>
          <a:prstGeom prst="roundRect">
            <a:avLst>
              <a:gd name="adj" fmla="val 47059"/>
            </a:avLst>
          </a:prstGeom>
          <a:solidFill>
            <a:srgbClr val="161B22"/>
          </a:solidFill>
          <a:ln w="12700">
            <a:solidFill>
              <a:srgbClr val="2A3441"/>
            </a:solidFill>
            <a:prstDash val="solid"/>
          </a:ln>
          <a:effectLst>
            <a:outerShdw sx="100000" sy="100000" kx="0" ky="0" algn="bl" rotWithShape="0" blurRad="127000" dist="38100" dir="5400000">
              <a:srgbClr val="000000">
                <a:alpha val="35000"/>
              </a:srgbClr>
            </a:outerShdw>
          </a:effectLst>
        </p:spPr>
      </p:sp>
      <p:sp>
        <p:nvSpPr>
          <p:cNvPr id="46" name="Text 29"/>
          <p:cNvSpPr/>
          <p:nvPr/>
        </p:nvSpPr>
        <p:spPr>
          <a:xfrm>
            <a:off x="2782062" y="5120640"/>
            <a:ext cx="2084832" cy="777240"/>
          </a:xfrm>
          <a:prstGeom prst="rect">
            <a:avLst/>
          </a:prstGeom>
          <a:noFill/>
          <a:ln/>
        </p:spPr>
        <p:txBody>
          <a:bodyPr wrap="square" rtlCol="0" anchor="ctr"/>
          <a:lstStyle/>
          <a:p>
            <a:pPr algn="ctr" indent="0" marL="0">
              <a:buNone/>
            </a:pPr>
            <a:r>
              <a:rPr lang="en-US" sz="1250" b="1" dirty="0">
                <a:solidFill>
                  <a:srgbClr val="E6EDF3"/>
                </a:solidFill>
                <a:latin typeface="Calibri" pitchFamily="34" charset="0"/>
                <a:ea typeface="Calibri" pitchFamily="34" charset="-122"/>
                <a:cs typeface="Calibri" pitchFamily="34" charset="-120"/>
              </a:rPr>
              <a:t>Ready</a:t>
            </a:r>
            <a:endParaRPr lang="en-US" sz="1250" dirty="0"/>
          </a:p>
        </p:txBody>
      </p:sp>
      <p:pic>
        <p:nvPicPr>
          <p:cNvPr id="47" name="Image 15" descr="/home/claude/build/assets/icons/arrowRight_9BA7B4.png">    </p:cNvPr>
          <p:cNvPicPr>
            <a:picLocks noChangeAspect="1"/>
          </p:cNvPicPr>
          <p:nvPr/>
        </p:nvPicPr>
        <p:blipFill>
          <a:blip r:embed="rId16"/>
          <a:stretch>
            <a:fillRect/>
          </a:stretch>
        </p:blipFill>
        <p:spPr>
          <a:xfrm>
            <a:off x="4872609" y="5413248"/>
            <a:ext cx="182880" cy="182880"/>
          </a:xfrm>
          <a:prstGeom prst="rect">
            <a:avLst/>
          </a:prstGeom>
        </p:spPr>
      </p:pic>
      <p:sp>
        <p:nvSpPr>
          <p:cNvPr id="48" name="Shape 30"/>
          <p:cNvSpPr/>
          <p:nvPr/>
        </p:nvSpPr>
        <p:spPr>
          <a:xfrm>
            <a:off x="5061204" y="5120640"/>
            <a:ext cx="2084832" cy="777240"/>
          </a:xfrm>
          <a:prstGeom prst="roundRect">
            <a:avLst>
              <a:gd name="adj" fmla="val 47059"/>
            </a:avLst>
          </a:prstGeom>
          <a:solidFill>
            <a:srgbClr val="161B22"/>
          </a:solidFill>
          <a:ln w="12700">
            <a:solidFill>
              <a:srgbClr val="2A3441"/>
            </a:solidFill>
            <a:prstDash val="solid"/>
          </a:ln>
          <a:effectLst>
            <a:outerShdw sx="100000" sy="100000" kx="0" ky="0" algn="bl" rotWithShape="0" blurRad="127000" dist="38100" dir="5400000">
              <a:srgbClr val="000000">
                <a:alpha val="35000"/>
              </a:srgbClr>
            </a:outerShdw>
          </a:effectLst>
        </p:spPr>
      </p:sp>
      <p:sp>
        <p:nvSpPr>
          <p:cNvPr id="49" name="Text 31"/>
          <p:cNvSpPr/>
          <p:nvPr/>
        </p:nvSpPr>
        <p:spPr>
          <a:xfrm>
            <a:off x="5061204" y="5120640"/>
            <a:ext cx="2084832" cy="777240"/>
          </a:xfrm>
          <a:prstGeom prst="rect">
            <a:avLst/>
          </a:prstGeom>
          <a:noFill/>
          <a:ln/>
        </p:spPr>
        <p:txBody>
          <a:bodyPr wrap="square" rtlCol="0" anchor="ctr"/>
          <a:lstStyle/>
          <a:p>
            <a:pPr algn="ctr" indent="0" marL="0">
              <a:buNone/>
            </a:pPr>
            <a:r>
              <a:rPr lang="en-US" sz="1250" b="1" dirty="0">
                <a:solidFill>
                  <a:srgbClr val="39D98A"/>
                </a:solidFill>
                <a:latin typeface="Calibri" pitchFamily="34" charset="0"/>
                <a:ea typeface="Calibri" pitchFamily="34" charset="-122"/>
                <a:cs typeface="Calibri" pitchFamily="34" charset="-120"/>
              </a:rPr>
              <a:t>Running</a:t>
            </a:r>
            <a:endParaRPr lang="en-US" sz="1250" dirty="0"/>
          </a:p>
        </p:txBody>
      </p:sp>
      <p:pic>
        <p:nvPicPr>
          <p:cNvPr id="50" name="Image 16" descr="/home/claude/build/assets/icons/arrowRight_9BA7B4.png">    </p:cNvPr>
          <p:cNvPicPr>
            <a:picLocks noChangeAspect="1"/>
          </p:cNvPicPr>
          <p:nvPr/>
        </p:nvPicPr>
        <p:blipFill>
          <a:blip r:embed="rId17"/>
          <a:stretch>
            <a:fillRect/>
          </a:stretch>
        </p:blipFill>
        <p:spPr>
          <a:xfrm>
            <a:off x="7151751" y="5413248"/>
            <a:ext cx="182880" cy="182880"/>
          </a:xfrm>
          <a:prstGeom prst="rect">
            <a:avLst/>
          </a:prstGeom>
        </p:spPr>
      </p:pic>
      <p:sp>
        <p:nvSpPr>
          <p:cNvPr id="51" name="Shape 32"/>
          <p:cNvSpPr/>
          <p:nvPr/>
        </p:nvSpPr>
        <p:spPr>
          <a:xfrm>
            <a:off x="7340346" y="5120640"/>
            <a:ext cx="2084832" cy="777240"/>
          </a:xfrm>
          <a:prstGeom prst="roundRect">
            <a:avLst>
              <a:gd name="adj" fmla="val 47059"/>
            </a:avLst>
          </a:prstGeom>
          <a:solidFill>
            <a:srgbClr val="161B22"/>
          </a:solidFill>
          <a:ln w="12700">
            <a:solidFill>
              <a:srgbClr val="2A3441"/>
            </a:solidFill>
            <a:prstDash val="solid"/>
          </a:ln>
          <a:effectLst>
            <a:outerShdw sx="100000" sy="100000" kx="0" ky="0" algn="bl" rotWithShape="0" blurRad="127000" dist="38100" dir="5400000">
              <a:srgbClr val="000000">
                <a:alpha val="35000"/>
              </a:srgbClr>
            </a:outerShdw>
          </a:effectLst>
        </p:spPr>
      </p:sp>
      <p:sp>
        <p:nvSpPr>
          <p:cNvPr id="52" name="Text 33"/>
          <p:cNvSpPr/>
          <p:nvPr/>
        </p:nvSpPr>
        <p:spPr>
          <a:xfrm>
            <a:off x="7340346" y="5120640"/>
            <a:ext cx="2084832" cy="777240"/>
          </a:xfrm>
          <a:prstGeom prst="rect">
            <a:avLst/>
          </a:prstGeom>
          <a:noFill/>
          <a:ln/>
        </p:spPr>
        <p:txBody>
          <a:bodyPr wrap="square" rtlCol="0" anchor="ctr"/>
          <a:lstStyle/>
          <a:p>
            <a:pPr algn="ctr" indent="0" marL="0">
              <a:buNone/>
            </a:pPr>
            <a:r>
              <a:rPr lang="en-US" sz="1250" b="1" dirty="0">
                <a:solidFill>
                  <a:srgbClr val="E6EDF3"/>
                </a:solidFill>
                <a:latin typeface="Calibri" pitchFamily="34" charset="0"/>
                <a:ea typeface="Calibri" pitchFamily="34" charset="-122"/>
                <a:cs typeface="Calibri" pitchFamily="34" charset="-120"/>
              </a:rPr>
              <a:t>Waiting</a:t>
            </a:r>
            <a:endParaRPr lang="en-US" sz="1250" dirty="0"/>
          </a:p>
        </p:txBody>
      </p:sp>
      <p:pic>
        <p:nvPicPr>
          <p:cNvPr id="53" name="Image 17" descr="/home/claude/build/assets/icons/arrowRight_9BA7B4.png">    </p:cNvPr>
          <p:cNvPicPr>
            <a:picLocks noChangeAspect="1"/>
          </p:cNvPicPr>
          <p:nvPr/>
        </p:nvPicPr>
        <p:blipFill>
          <a:blip r:embed="rId18"/>
          <a:stretch>
            <a:fillRect/>
          </a:stretch>
        </p:blipFill>
        <p:spPr>
          <a:xfrm>
            <a:off x="9430893" y="5413248"/>
            <a:ext cx="182880" cy="182880"/>
          </a:xfrm>
          <a:prstGeom prst="rect">
            <a:avLst/>
          </a:prstGeom>
        </p:spPr>
      </p:pic>
      <p:sp>
        <p:nvSpPr>
          <p:cNvPr id="54" name="Shape 34"/>
          <p:cNvSpPr/>
          <p:nvPr/>
        </p:nvSpPr>
        <p:spPr>
          <a:xfrm>
            <a:off x="9619488" y="5120640"/>
            <a:ext cx="2084832" cy="777240"/>
          </a:xfrm>
          <a:prstGeom prst="roundRect">
            <a:avLst>
              <a:gd name="adj" fmla="val 47059"/>
            </a:avLst>
          </a:prstGeom>
          <a:solidFill>
            <a:srgbClr val="161B22"/>
          </a:solidFill>
          <a:ln w="12700">
            <a:solidFill>
              <a:srgbClr val="2A3441"/>
            </a:solidFill>
            <a:prstDash val="solid"/>
          </a:ln>
          <a:effectLst>
            <a:outerShdw sx="100000" sy="100000" kx="0" ky="0" algn="bl" rotWithShape="0" blurRad="127000" dist="38100" dir="5400000">
              <a:srgbClr val="000000">
                <a:alpha val="35000"/>
              </a:srgbClr>
            </a:outerShdw>
          </a:effectLst>
        </p:spPr>
      </p:sp>
      <p:sp>
        <p:nvSpPr>
          <p:cNvPr id="55" name="Text 35"/>
          <p:cNvSpPr/>
          <p:nvPr/>
        </p:nvSpPr>
        <p:spPr>
          <a:xfrm>
            <a:off x="9619488" y="5120640"/>
            <a:ext cx="2084832" cy="777240"/>
          </a:xfrm>
          <a:prstGeom prst="rect">
            <a:avLst/>
          </a:prstGeom>
          <a:noFill/>
          <a:ln/>
        </p:spPr>
        <p:txBody>
          <a:bodyPr wrap="square" rtlCol="0" anchor="ctr"/>
          <a:lstStyle/>
          <a:p>
            <a:pPr algn="ctr" indent="0" marL="0">
              <a:buNone/>
            </a:pPr>
            <a:r>
              <a:rPr lang="en-US" sz="1250" b="1" dirty="0">
                <a:solidFill>
                  <a:srgbClr val="E6EDF3"/>
                </a:solidFill>
                <a:latin typeface="Calibri" pitchFamily="34" charset="0"/>
                <a:ea typeface="Calibri" pitchFamily="34" charset="-122"/>
                <a:cs typeface="Calibri" pitchFamily="34" charset="-120"/>
              </a:rPr>
              <a:t>Terminated</a:t>
            </a:r>
            <a:endParaRPr lang="en-US" sz="1250" dirty="0"/>
          </a:p>
        </p:txBody>
      </p:sp>
      <p:sp>
        <p:nvSpPr>
          <p:cNvPr id="56" name="Text 36"/>
          <p:cNvSpPr/>
          <p:nvPr/>
        </p:nvSpPr>
        <p:spPr>
          <a:xfrm>
            <a:off x="457200" y="6473952"/>
            <a:ext cx="7315200" cy="274320"/>
          </a:xfrm>
          <a:prstGeom prst="rect">
            <a:avLst/>
          </a:prstGeom>
          <a:noFill/>
          <a:ln/>
        </p:spPr>
        <p:txBody>
          <a:bodyPr wrap="square" rtlCol="0" anchor="ctr"/>
          <a:lstStyle/>
          <a:p>
            <a:pPr algn="l" indent="0" marL="0">
              <a:buNone/>
            </a:pPr>
            <a:r>
              <a:rPr lang="en-US" sz="900" spc="100" kern="0" dirty="0">
                <a:solidFill>
                  <a:srgbClr val="9BA7B4"/>
                </a:solidFill>
                <a:latin typeface="Calibri" pitchFamily="34" charset="0"/>
                <a:ea typeface="Calibri" pitchFamily="34" charset="-122"/>
                <a:cs typeface="Calibri" pitchFamily="34" charset="-120"/>
              </a:rPr>
              <a:t>SMART PROCESS MANAGEMENT  •  LINUX SYSTEM CALLS</a:t>
            </a:r>
            <a:endParaRPr lang="en-US" sz="900" dirty="0"/>
          </a:p>
        </p:txBody>
      </p:sp>
      <p:sp>
        <p:nvSpPr>
          <p:cNvPr id="57" name="Text 37"/>
          <p:cNvSpPr/>
          <p:nvPr/>
        </p:nvSpPr>
        <p:spPr>
          <a:xfrm>
            <a:off x="11277295" y="6473952"/>
            <a:ext cx="457200" cy="274320"/>
          </a:xfrm>
          <a:prstGeom prst="rect">
            <a:avLst/>
          </a:prstGeom>
          <a:noFill/>
          <a:ln/>
        </p:spPr>
        <p:txBody>
          <a:bodyPr wrap="square" rtlCol="0" anchor="ctr"/>
          <a:lstStyle/>
          <a:p>
            <a:pPr algn="r" indent="0" marL="0">
              <a:buNone/>
            </a:pPr>
            <a:r>
              <a:rPr lang="en-US" sz="900" dirty="0">
                <a:solidFill>
                  <a:srgbClr val="9BA7B4"/>
                </a:solidFill>
                <a:latin typeface="Calibri" pitchFamily="34" charset="0"/>
                <a:ea typeface="Calibri" pitchFamily="34" charset="-122"/>
                <a:cs typeface="Calibri" pitchFamily="34" charset="-120"/>
              </a:rPr>
              <a:t>09</a:t>
            </a:r>
            <a:endParaRPr lang="en-US" sz="9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0D1117"/>
        </a:solidFill>
      </p:bgPr>
    </p:bg>
    <p:spTree>
      <p:nvGrpSpPr>
        <p:cNvPr id="1" name=""/>
        <p:cNvGrpSpPr/>
        <p:nvPr/>
      </p:nvGrpSpPr>
      <p:grpSpPr>
        <a:xfrm>
          <a:off x="0" y="0"/>
          <a:ext cx="0" cy="0"/>
          <a:chOff x="0" y="0"/>
          <a:chExt cx="0" cy="0"/>
        </a:xfrm>
      </p:grpSpPr>
      <p:pic>
        <p:nvPicPr>
          <p:cNvPr id="2" name="Image 0" descr="/home/claude/build/assets/bg_panel.png">    </p:cNvPr>
          <p:cNvPicPr>
            <a:picLocks noChangeAspect="1"/>
          </p:cNvPicPr>
          <p:nvPr/>
        </p:nvPicPr>
        <p:blipFill>
          <a:blip r:embed="rId1"/>
          <a:stretch>
            <a:fillRect/>
          </a:stretch>
        </p:blipFill>
        <p:spPr>
          <a:xfrm>
            <a:off x="0" y="0"/>
            <a:ext cx="12191695" cy="6858000"/>
          </a:xfrm>
          <a:prstGeom prst="rect">
            <a:avLst/>
          </a:prstGeom>
        </p:spPr>
      </p:pic>
      <p:sp>
        <p:nvSpPr>
          <p:cNvPr id="3" name="Shape 0"/>
          <p:cNvSpPr/>
          <p:nvPr/>
        </p:nvSpPr>
        <p:spPr>
          <a:xfrm>
            <a:off x="502920" y="457200"/>
            <a:ext cx="128016" cy="128016"/>
          </a:xfrm>
          <a:prstGeom prst="roundRect">
            <a:avLst>
              <a:gd name="adj" fmla="val 50000"/>
            </a:avLst>
          </a:prstGeom>
          <a:solidFill>
            <a:srgbClr val="39D98A"/>
          </a:solidFill>
          <a:ln/>
        </p:spPr>
      </p:sp>
      <p:sp>
        <p:nvSpPr>
          <p:cNvPr id="4" name="Text 1"/>
          <p:cNvSpPr/>
          <p:nvPr/>
        </p:nvSpPr>
        <p:spPr>
          <a:xfrm>
            <a:off x="713232" y="393192"/>
            <a:ext cx="5486400" cy="274320"/>
          </a:xfrm>
          <a:prstGeom prst="rect">
            <a:avLst/>
          </a:prstGeom>
          <a:noFill/>
          <a:ln/>
        </p:spPr>
        <p:txBody>
          <a:bodyPr wrap="square" rtlCol="0" anchor="ctr"/>
          <a:lstStyle/>
          <a:p>
            <a:pPr indent="0" marL="0">
              <a:buNone/>
            </a:pPr>
            <a:r>
              <a:rPr lang="en-US" sz="1250" b="1" spc="200" kern="0" dirty="0">
                <a:solidFill>
                  <a:srgbClr val="39D98A"/>
                </a:solidFill>
                <a:latin typeface="Calibri" pitchFamily="34" charset="0"/>
                <a:ea typeface="Calibri" pitchFamily="34" charset="-122"/>
                <a:cs typeface="Calibri" pitchFamily="34" charset="-120"/>
              </a:rPr>
              <a:t>ADVANTAGES</a:t>
            </a:r>
            <a:endParaRPr lang="en-US" sz="1250" dirty="0"/>
          </a:p>
        </p:txBody>
      </p:sp>
      <p:sp>
        <p:nvSpPr>
          <p:cNvPr id="5" name="Text 2"/>
          <p:cNvSpPr/>
          <p:nvPr/>
        </p:nvSpPr>
        <p:spPr>
          <a:xfrm>
            <a:off x="502920" y="713232"/>
            <a:ext cx="10515600" cy="685800"/>
          </a:xfrm>
          <a:prstGeom prst="rect">
            <a:avLst/>
          </a:prstGeom>
          <a:noFill/>
          <a:ln/>
        </p:spPr>
        <p:txBody>
          <a:bodyPr wrap="square" rtlCol="0" anchor="ctr"/>
          <a:lstStyle/>
          <a:p>
            <a:pPr algn="l" indent="0" marL="0">
              <a:buNone/>
            </a:pPr>
            <a:r>
              <a:rPr lang="en-US" sz="3000" b="1" dirty="0">
                <a:solidFill>
                  <a:srgbClr val="E6EDF3"/>
                </a:solidFill>
                <a:latin typeface="Cambria" pitchFamily="34" charset="0"/>
                <a:ea typeface="Cambria" pitchFamily="34" charset="-122"/>
                <a:cs typeface="Cambria" pitchFamily="34" charset="-120"/>
              </a:rPr>
              <a:t>Advantages of the Approach</a:t>
            </a:r>
            <a:endParaRPr lang="en-US" sz="3000" dirty="0"/>
          </a:p>
        </p:txBody>
      </p:sp>
      <p:sp>
        <p:nvSpPr>
          <p:cNvPr id="6" name="Shape 3"/>
          <p:cNvSpPr/>
          <p:nvPr/>
        </p:nvSpPr>
        <p:spPr>
          <a:xfrm>
            <a:off x="502920" y="1691640"/>
            <a:ext cx="5440680" cy="1399032"/>
          </a:xfrm>
          <a:prstGeom prst="roundRect">
            <a:avLst>
              <a:gd name="adj" fmla="val 5882"/>
            </a:avLst>
          </a:prstGeom>
          <a:solidFill>
            <a:srgbClr val="161B22"/>
          </a:solidFill>
          <a:ln w="12700">
            <a:solidFill>
              <a:srgbClr val="2A3441"/>
            </a:solidFill>
            <a:prstDash val="solid"/>
          </a:ln>
          <a:effectLst>
            <a:outerShdw sx="100000" sy="100000" kx="0" ky="0" algn="bl" rotWithShape="0" blurRad="127000" dist="38100" dir="5400000">
              <a:srgbClr val="000000">
                <a:alpha val="35000"/>
              </a:srgbClr>
            </a:outerShdw>
          </a:effectLst>
        </p:spPr>
      </p:sp>
      <p:sp>
        <p:nvSpPr>
          <p:cNvPr id="7" name="Shape 4"/>
          <p:cNvSpPr/>
          <p:nvPr/>
        </p:nvSpPr>
        <p:spPr>
          <a:xfrm>
            <a:off x="740664" y="2162556"/>
            <a:ext cx="457200" cy="457200"/>
          </a:xfrm>
          <a:prstGeom prst="ellipse">
            <a:avLst/>
          </a:prstGeom>
          <a:solidFill>
            <a:srgbClr val="20293A"/>
          </a:solidFill>
          <a:ln w="12700">
            <a:solidFill>
              <a:srgbClr val="2A3441"/>
            </a:solidFill>
            <a:prstDash val="solid"/>
          </a:ln>
        </p:spPr>
      </p:sp>
      <p:pic>
        <p:nvPicPr>
          <p:cNvPr id="8" name="Image 1" descr="/home/claude/build/assets/icons/check_39D98A.png">    </p:cNvPr>
          <p:cNvPicPr>
            <a:picLocks noChangeAspect="1"/>
          </p:cNvPicPr>
          <p:nvPr/>
        </p:nvPicPr>
        <p:blipFill>
          <a:blip r:embed="rId2"/>
          <a:stretch>
            <a:fillRect/>
          </a:stretch>
        </p:blipFill>
        <p:spPr>
          <a:xfrm>
            <a:off x="843534" y="2265426"/>
            <a:ext cx="251460" cy="251460"/>
          </a:xfrm>
          <a:prstGeom prst="rect">
            <a:avLst/>
          </a:prstGeom>
        </p:spPr>
      </p:pic>
      <p:sp>
        <p:nvSpPr>
          <p:cNvPr id="9" name="Text 5"/>
          <p:cNvSpPr/>
          <p:nvPr/>
        </p:nvSpPr>
        <p:spPr>
          <a:xfrm>
            <a:off x="1344168" y="1819656"/>
            <a:ext cx="4389120" cy="365760"/>
          </a:xfrm>
          <a:prstGeom prst="rect">
            <a:avLst/>
          </a:prstGeom>
          <a:noFill/>
          <a:ln/>
        </p:spPr>
        <p:txBody>
          <a:bodyPr wrap="square" rtlCol="0" anchor="ctr"/>
          <a:lstStyle/>
          <a:p>
            <a:pPr indent="0" marL="0">
              <a:buNone/>
            </a:pPr>
            <a:r>
              <a:rPr lang="en-US" sz="1250" b="1" dirty="0">
                <a:solidFill>
                  <a:srgbClr val="E6EDF3"/>
                </a:solidFill>
                <a:latin typeface="Cambria" pitchFamily="34" charset="0"/>
                <a:ea typeface="Cambria" pitchFamily="34" charset="-122"/>
                <a:cs typeface="Cambria" pitchFamily="34" charset="-120"/>
              </a:rPr>
              <a:t>Simple, Intuitive Monitoring</a:t>
            </a:r>
            <a:endParaRPr lang="en-US" sz="1250" dirty="0"/>
          </a:p>
        </p:txBody>
      </p:sp>
      <p:sp>
        <p:nvSpPr>
          <p:cNvPr id="10" name="Text 6"/>
          <p:cNvSpPr/>
          <p:nvPr/>
        </p:nvSpPr>
        <p:spPr>
          <a:xfrm>
            <a:off x="1344168" y="2176272"/>
            <a:ext cx="4389120" cy="804672"/>
          </a:xfrm>
          <a:prstGeom prst="rect">
            <a:avLst/>
          </a:prstGeom>
          <a:noFill/>
          <a:ln/>
        </p:spPr>
        <p:txBody>
          <a:bodyPr wrap="square" rtlCol="0" anchor="t"/>
          <a:lstStyle/>
          <a:p>
            <a:pPr indent="0" marL="0">
              <a:lnSpc>
                <a:spcPct val="120000"/>
              </a:lnSpc>
              <a:buNone/>
            </a:pPr>
            <a:r>
              <a:rPr lang="en-US" sz="980" dirty="0">
                <a:solidFill>
                  <a:srgbClr val="9BA7B4"/>
                </a:solidFill>
                <a:latin typeface="Calibri" pitchFamily="34" charset="0"/>
                <a:ea typeface="Calibri" pitchFamily="34" charset="-122"/>
                <a:cs typeface="Calibri" pitchFamily="34" charset="-120"/>
              </a:rPr>
              <a:t>The menu-driven interface keeps every process-management action a single selection away, so a user can trigger creation, monitoring, or termination without first memorising command syntax.</a:t>
            </a:r>
            <a:endParaRPr lang="en-US" sz="980" dirty="0"/>
          </a:p>
        </p:txBody>
      </p:sp>
      <p:sp>
        <p:nvSpPr>
          <p:cNvPr id="11" name="Shape 7"/>
          <p:cNvSpPr/>
          <p:nvPr/>
        </p:nvSpPr>
        <p:spPr>
          <a:xfrm>
            <a:off x="6263640" y="1691640"/>
            <a:ext cx="5440680" cy="1399032"/>
          </a:xfrm>
          <a:prstGeom prst="roundRect">
            <a:avLst>
              <a:gd name="adj" fmla="val 5882"/>
            </a:avLst>
          </a:prstGeom>
          <a:solidFill>
            <a:srgbClr val="161B22"/>
          </a:solidFill>
          <a:ln w="12700">
            <a:solidFill>
              <a:srgbClr val="2A3441"/>
            </a:solidFill>
            <a:prstDash val="solid"/>
          </a:ln>
          <a:effectLst>
            <a:outerShdw sx="100000" sy="100000" kx="0" ky="0" algn="bl" rotWithShape="0" blurRad="127000" dist="38100" dir="5400000">
              <a:srgbClr val="000000">
                <a:alpha val="35000"/>
              </a:srgbClr>
            </a:outerShdw>
          </a:effectLst>
        </p:spPr>
      </p:sp>
      <p:sp>
        <p:nvSpPr>
          <p:cNvPr id="12" name="Shape 8"/>
          <p:cNvSpPr/>
          <p:nvPr/>
        </p:nvSpPr>
        <p:spPr>
          <a:xfrm>
            <a:off x="6501384" y="2162556"/>
            <a:ext cx="457200" cy="457200"/>
          </a:xfrm>
          <a:prstGeom prst="ellipse">
            <a:avLst/>
          </a:prstGeom>
          <a:solidFill>
            <a:srgbClr val="20293A"/>
          </a:solidFill>
          <a:ln w="12700">
            <a:solidFill>
              <a:srgbClr val="2A3441"/>
            </a:solidFill>
            <a:prstDash val="solid"/>
          </a:ln>
        </p:spPr>
      </p:sp>
      <p:pic>
        <p:nvPicPr>
          <p:cNvPr id="13" name="Image 2" descr="/home/claude/build/assets/icons/terminal_39D98A.png">    </p:cNvPr>
          <p:cNvPicPr>
            <a:picLocks noChangeAspect="1"/>
          </p:cNvPicPr>
          <p:nvPr/>
        </p:nvPicPr>
        <p:blipFill>
          <a:blip r:embed="rId3"/>
          <a:stretch>
            <a:fillRect/>
          </a:stretch>
        </p:blipFill>
        <p:spPr>
          <a:xfrm>
            <a:off x="6604254" y="2265426"/>
            <a:ext cx="251460" cy="251460"/>
          </a:xfrm>
          <a:prstGeom prst="rect">
            <a:avLst/>
          </a:prstGeom>
        </p:spPr>
      </p:pic>
      <p:sp>
        <p:nvSpPr>
          <p:cNvPr id="14" name="Text 9"/>
          <p:cNvSpPr/>
          <p:nvPr/>
        </p:nvSpPr>
        <p:spPr>
          <a:xfrm>
            <a:off x="7104888" y="1819656"/>
            <a:ext cx="4389120" cy="365760"/>
          </a:xfrm>
          <a:prstGeom prst="rect">
            <a:avLst/>
          </a:prstGeom>
          <a:noFill/>
          <a:ln/>
        </p:spPr>
        <p:txBody>
          <a:bodyPr wrap="square" rtlCol="0" anchor="ctr"/>
          <a:lstStyle/>
          <a:p>
            <a:pPr indent="0" marL="0">
              <a:buNone/>
            </a:pPr>
            <a:r>
              <a:rPr lang="en-US" sz="1250" b="1" dirty="0">
                <a:solidFill>
                  <a:srgbClr val="E6EDF3"/>
                </a:solidFill>
                <a:latin typeface="Cambria" pitchFamily="34" charset="0"/>
                <a:ea typeface="Cambria" pitchFamily="34" charset="-122"/>
                <a:cs typeface="Cambria" pitchFamily="34" charset="-120"/>
              </a:rPr>
              <a:t>Grounded in Real System Calls</a:t>
            </a:r>
            <a:endParaRPr lang="en-US" sz="1250" dirty="0"/>
          </a:p>
        </p:txBody>
      </p:sp>
      <p:sp>
        <p:nvSpPr>
          <p:cNvPr id="15" name="Text 10"/>
          <p:cNvSpPr/>
          <p:nvPr/>
        </p:nvSpPr>
        <p:spPr>
          <a:xfrm>
            <a:off x="7104888" y="2176272"/>
            <a:ext cx="4389120" cy="804672"/>
          </a:xfrm>
          <a:prstGeom prst="rect">
            <a:avLst/>
          </a:prstGeom>
          <a:noFill/>
          <a:ln/>
        </p:spPr>
        <p:txBody>
          <a:bodyPr wrap="square" rtlCol="0" anchor="t"/>
          <a:lstStyle/>
          <a:p>
            <a:pPr indent="0" marL="0">
              <a:lnSpc>
                <a:spcPct val="120000"/>
              </a:lnSpc>
              <a:buNone/>
            </a:pPr>
            <a:r>
              <a:rPr lang="en-US" sz="980" dirty="0">
                <a:solidFill>
                  <a:srgbClr val="9BA7B4"/>
                </a:solidFill>
                <a:latin typeface="Calibri" pitchFamily="34" charset="0"/>
                <a:ea typeface="Calibri" pitchFamily="34" charset="-122"/>
                <a:cs typeface="Calibri" pitchFamily="34" charset="-120"/>
              </a:rPr>
              <a:t>Because every action maps directly onto fork(), exec(), wait(), kill(), getpid(), and getppid(), what the user sees on screen is genuine kernel behaviour rather than a simulated approximation of it.</a:t>
            </a:r>
            <a:endParaRPr lang="en-US" sz="980" dirty="0"/>
          </a:p>
        </p:txBody>
      </p:sp>
      <p:sp>
        <p:nvSpPr>
          <p:cNvPr id="16" name="Shape 11"/>
          <p:cNvSpPr/>
          <p:nvPr/>
        </p:nvSpPr>
        <p:spPr>
          <a:xfrm>
            <a:off x="502920" y="3346704"/>
            <a:ext cx="5440680" cy="1399032"/>
          </a:xfrm>
          <a:prstGeom prst="roundRect">
            <a:avLst>
              <a:gd name="adj" fmla="val 5882"/>
            </a:avLst>
          </a:prstGeom>
          <a:solidFill>
            <a:srgbClr val="161B22"/>
          </a:solidFill>
          <a:ln w="12700">
            <a:solidFill>
              <a:srgbClr val="2A3441"/>
            </a:solidFill>
            <a:prstDash val="solid"/>
          </a:ln>
          <a:effectLst>
            <a:outerShdw sx="100000" sy="100000" kx="0" ky="0" algn="bl" rotWithShape="0" blurRad="127000" dist="38100" dir="5400000">
              <a:srgbClr val="000000">
                <a:alpha val="35000"/>
              </a:srgbClr>
            </a:outerShdw>
          </a:effectLst>
        </p:spPr>
      </p:sp>
      <p:sp>
        <p:nvSpPr>
          <p:cNvPr id="17" name="Shape 12"/>
          <p:cNvSpPr/>
          <p:nvPr/>
        </p:nvSpPr>
        <p:spPr>
          <a:xfrm>
            <a:off x="740664" y="3817620"/>
            <a:ext cx="457200" cy="457200"/>
          </a:xfrm>
          <a:prstGeom prst="ellipse">
            <a:avLst/>
          </a:prstGeom>
          <a:solidFill>
            <a:srgbClr val="20293A"/>
          </a:solidFill>
          <a:ln w="12700">
            <a:solidFill>
              <a:srgbClr val="2A3441"/>
            </a:solidFill>
            <a:prstDash val="solid"/>
          </a:ln>
        </p:spPr>
      </p:sp>
      <p:pic>
        <p:nvPicPr>
          <p:cNvPr id="18" name="Image 3" descr="/home/claude/build/assets/icons/sitemap_39D98A.png">    </p:cNvPr>
          <p:cNvPicPr>
            <a:picLocks noChangeAspect="1"/>
          </p:cNvPicPr>
          <p:nvPr/>
        </p:nvPicPr>
        <p:blipFill>
          <a:blip r:embed="rId4"/>
          <a:stretch>
            <a:fillRect/>
          </a:stretch>
        </p:blipFill>
        <p:spPr>
          <a:xfrm>
            <a:off x="843534" y="3920490"/>
            <a:ext cx="251460" cy="251460"/>
          </a:xfrm>
          <a:prstGeom prst="rect">
            <a:avLst/>
          </a:prstGeom>
        </p:spPr>
      </p:pic>
      <p:sp>
        <p:nvSpPr>
          <p:cNvPr id="19" name="Text 13"/>
          <p:cNvSpPr/>
          <p:nvPr/>
        </p:nvSpPr>
        <p:spPr>
          <a:xfrm>
            <a:off x="1344168" y="3474720"/>
            <a:ext cx="4389120" cy="365760"/>
          </a:xfrm>
          <a:prstGeom prst="rect">
            <a:avLst/>
          </a:prstGeom>
          <a:noFill/>
          <a:ln/>
        </p:spPr>
        <p:txBody>
          <a:bodyPr wrap="square" rtlCol="0" anchor="ctr"/>
          <a:lstStyle/>
          <a:p>
            <a:pPr indent="0" marL="0">
              <a:buNone/>
            </a:pPr>
            <a:r>
              <a:rPr lang="en-US" sz="1250" b="1" dirty="0">
                <a:solidFill>
                  <a:srgbClr val="E6EDF3"/>
                </a:solidFill>
                <a:latin typeface="Cambria" pitchFamily="34" charset="0"/>
                <a:ea typeface="Cambria" pitchFamily="34" charset="-122"/>
                <a:cs typeface="Cambria" pitchFamily="34" charset="-120"/>
              </a:rPr>
              <a:t>Visible Parent-Child Relationships</a:t>
            </a:r>
            <a:endParaRPr lang="en-US" sz="1250" dirty="0"/>
          </a:p>
        </p:txBody>
      </p:sp>
      <p:sp>
        <p:nvSpPr>
          <p:cNvPr id="20" name="Text 14"/>
          <p:cNvSpPr/>
          <p:nvPr/>
        </p:nvSpPr>
        <p:spPr>
          <a:xfrm>
            <a:off x="1344168" y="3831336"/>
            <a:ext cx="4389120" cy="804672"/>
          </a:xfrm>
          <a:prstGeom prst="rect">
            <a:avLst/>
          </a:prstGeom>
          <a:noFill/>
          <a:ln/>
        </p:spPr>
        <p:txBody>
          <a:bodyPr wrap="square" rtlCol="0" anchor="t"/>
          <a:lstStyle/>
          <a:p>
            <a:pPr indent="0" marL="0">
              <a:lnSpc>
                <a:spcPct val="120000"/>
              </a:lnSpc>
              <a:buNone/>
            </a:pPr>
            <a:r>
              <a:rPr lang="en-US" sz="980" dirty="0">
                <a:solidFill>
                  <a:srgbClr val="9BA7B4"/>
                </a:solidFill>
                <a:latin typeface="Calibri" pitchFamily="34" charset="0"/>
                <a:ea typeface="Calibri" pitchFamily="34" charset="-122"/>
                <a:cs typeface="Calibri" pitchFamily="34" charset="-120"/>
              </a:rPr>
              <a:t>Continuous reporting of process and parent IDs makes the hierarchical structure the kernel maintains internally something the user can trace and verify step by step.</a:t>
            </a:r>
            <a:endParaRPr lang="en-US" sz="980" dirty="0"/>
          </a:p>
        </p:txBody>
      </p:sp>
      <p:sp>
        <p:nvSpPr>
          <p:cNvPr id="21" name="Shape 15"/>
          <p:cNvSpPr/>
          <p:nvPr/>
        </p:nvSpPr>
        <p:spPr>
          <a:xfrm>
            <a:off x="6263640" y="3346704"/>
            <a:ext cx="5440680" cy="1399032"/>
          </a:xfrm>
          <a:prstGeom prst="roundRect">
            <a:avLst>
              <a:gd name="adj" fmla="val 5882"/>
            </a:avLst>
          </a:prstGeom>
          <a:solidFill>
            <a:srgbClr val="161B22"/>
          </a:solidFill>
          <a:ln w="12700">
            <a:solidFill>
              <a:srgbClr val="2A3441"/>
            </a:solidFill>
            <a:prstDash val="solid"/>
          </a:ln>
          <a:effectLst>
            <a:outerShdw sx="100000" sy="100000" kx="0" ky="0" algn="bl" rotWithShape="0" blurRad="127000" dist="38100" dir="5400000">
              <a:srgbClr val="000000">
                <a:alpha val="35000"/>
              </a:srgbClr>
            </a:outerShdw>
          </a:effectLst>
        </p:spPr>
      </p:sp>
      <p:sp>
        <p:nvSpPr>
          <p:cNvPr id="22" name="Shape 16"/>
          <p:cNvSpPr/>
          <p:nvPr/>
        </p:nvSpPr>
        <p:spPr>
          <a:xfrm>
            <a:off x="6501384" y="3817620"/>
            <a:ext cx="457200" cy="457200"/>
          </a:xfrm>
          <a:prstGeom prst="ellipse">
            <a:avLst/>
          </a:prstGeom>
          <a:solidFill>
            <a:srgbClr val="20293A"/>
          </a:solidFill>
          <a:ln w="12700">
            <a:solidFill>
              <a:srgbClr val="2A3441"/>
            </a:solidFill>
            <a:prstDash val="solid"/>
          </a:ln>
        </p:spPr>
      </p:sp>
      <p:pic>
        <p:nvPicPr>
          <p:cNvPr id="23" name="Image 4" descr="/home/claude/build/assets/icons/book_39D98A.png">    </p:cNvPr>
          <p:cNvPicPr>
            <a:picLocks noChangeAspect="1"/>
          </p:cNvPicPr>
          <p:nvPr/>
        </p:nvPicPr>
        <p:blipFill>
          <a:blip r:embed="rId5"/>
          <a:stretch>
            <a:fillRect/>
          </a:stretch>
        </p:blipFill>
        <p:spPr>
          <a:xfrm>
            <a:off x="6604254" y="3920490"/>
            <a:ext cx="251460" cy="251460"/>
          </a:xfrm>
          <a:prstGeom prst="rect">
            <a:avLst/>
          </a:prstGeom>
        </p:spPr>
      </p:pic>
      <p:sp>
        <p:nvSpPr>
          <p:cNvPr id="24" name="Text 17"/>
          <p:cNvSpPr/>
          <p:nvPr/>
        </p:nvSpPr>
        <p:spPr>
          <a:xfrm>
            <a:off x="7104888" y="3474720"/>
            <a:ext cx="4389120" cy="365760"/>
          </a:xfrm>
          <a:prstGeom prst="rect">
            <a:avLst/>
          </a:prstGeom>
          <a:noFill/>
          <a:ln/>
        </p:spPr>
        <p:txBody>
          <a:bodyPr wrap="square" rtlCol="0" anchor="ctr"/>
          <a:lstStyle/>
          <a:p>
            <a:pPr indent="0" marL="0">
              <a:buNone/>
            </a:pPr>
            <a:r>
              <a:rPr lang="en-US" sz="1250" b="1" dirty="0">
                <a:solidFill>
                  <a:srgbClr val="E6EDF3"/>
                </a:solidFill>
                <a:latin typeface="Cambria" pitchFamily="34" charset="0"/>
                <a:ea typeface="Cambria" pitchFamily="34" charset="-122"/>
                <a:cs typeface="Cambria" pitchFamily="34" charset="-120"/>
              </a:rPr>
              <a:t>Hands-On Operating-Systems Knowledge</a:t>
            </a:r>
            <a:endParaRPr lang="en-US" sz="1250" dirty="0"/>
          </a:p>
        </p:txBody>
      </p:sp>
      <p:sp>
        <p:nvSpPr>
          <p:cNvPr id="25" name="Text 18"/>
          <p:cNvSpPr/>
          <p:nvPr/>
        </p:nvSpPr>
        <p:spPr>
          <a:xfrm>
            <a:off x="7104888" y="3831336"/>
            <a:ext cx="4389120" cy="804672"/>
          </a:xfrm>
          <a:prstGeom prst="rect">
            <a:avLst/>
          </a:prstGeom>
          <a:noFill/>
          <a:ln/>
        </p:spPr>
        <p:txBody>
          <a:bodyPr wrap="square" rtlCol="0" anchor="t"/>
          <a:lstStyle/>
          <a:p>
            <a:pPr indent="0" marL="0">
              <a:lnSpc>
                <a:spcPct val="120000"/>
              </a:lnSpc>
              <a:buNone/>
            </a:pPr>
            <a:r>
              <a:rPr lang="en-US" sz="980" dirty="0">
                <a:solidFill>
                  <a:srgbClr val="9BA7B4"/>
                </a:solidFill>
                <a:latin typeface="Calibri" pitchFamily="34" charset="0"/>
                <a:ea typeface="Calibri" pitchFamily="34" charset="-122"/>
                <a:cs typeface="Calibri" pitchFamily="34" charset="-120"/>
              </a:rPr>
              <a:t>The project converts lecture-level concepts — process states, scheduling, synchronization — into direct, repeatable, hands-on experience with a live Linux system.</a:t>
            </a:r>
            <a:endParaRPr lang="en-US" sz="980" dirty="0"/>
          </a:p>
        </p:txBody>
      </p:sp>
      <p:sp>
        <p:nvSpPr>
          <p:cNvPr id="26" name="Shape 19"/>
          <p:cNvSpPr/>
          <p:nvPr/>
        </p:nvSpPr>
        <p:spPr>
          <a:xfrm>
            <a:off x="502920" y="5001768"/>
            <a:ext cx="5440680" cy="1399032"/>
          </a:xfrm>
          <a:prstGeom prst="roundRect">
            <a:avLst>
              <a:gd name="adj" fmla="val 5882"/>
            </a:avLst>
          </a:prstGeom>
          <a:solidFill>
            <a:srgbClr val="161B22"/>
          </a:solidFill>
          <a:ln w="12700">
            <a:solidFill>
              <a:srgbClr val="2A3441"/>
            </a:solidFill>
            <a:prstDash val="solid"/>
          </a:ln>
          <a:effectLst>
            <a:outerShdw sx="100000" sy="100000" kx="0" ky="0" algn="bl" rotWithShape="0" blurRad="127000" dist="38100" dir="5400000">
              <a:srgbClr val="000000">
                <a:alpha val="35000"/>
              </a:srgbClr>
            </a:outerShdw>
          </a:effectLst>
        </p:spPr>
      </p:sp>
      <p:sp>
        <p:nvSpPr>
          <p:cNvPr id="27" name="Shape 20"/>
          <p:cNvSpPr/>
          <p:nvPr/>
        </p:nvSpPr>
        <p:spPr>
          <a:xfrm>
            <a:off x="740664" y="5472684"/>
            <a:ext cx="457200" cy="457200"/>
          </a:xfrm>
          <a:prstGeom prst="ellipse">
            <a:avLst/>
          </a:prstGeom>
          <a:solidFill>
            <a:srgbClr val="20293A"/>
          </a:solidFill>
          <a:ln w="12700">
            <a:solidFill>
              <a:srgbClr val="2A3441"/>
            </a:solidFill>
            <a:prstDash val="solid"/>
          </a:ln>
        </p:spPr>
      </p:sp>
      <p:pic>
        <p:nvPicPr>
          <p:cNvPr id="28" name="Image 5" descr="/home/claude/build/assets/icons/bulb_39D98A.png">    </p:cNvPr>
          <p:cNvPicPr>
            <a:picLocks noChangeAspect="1"/>
          </p:cNvPicPr>
          <p:nvPr/>
        </p:nvPicPr>
        <p:blipFill>
          <a:blip r:embed="rId6"/>
          <a:stretch>
            <a:fillRect/>
          </a:stretch>
        </p:blipFill>
        <p:spPr>
          <a:xfrm>
            <a:off x="843534" y="5575554"/>
            <a:ext cx="251460" cy="251460"/>
          </a:xfrm>
          <a:prstGeom prst="rect">
            <a:avLst/>
          </a:prstGeom>
        </p:spPr>
      </p:pic>
      <p:sp>
        <p:nvSpPr>
          <p:cNvPr id="29" name="Text 21"/>
          <p:cNvSpPr/>
          <p:nvPr/>
        </p:nvSpPr>
        <p:spPr>
          <a:xfrm>
            <a:off x="1344168" y="5129784"/>
            <a:ext cx="4389120" cy="365760"/>
          </a:xfrm>
          <a:prstGeom prst="rect">
            <a:avLst/>
          </a:prstGeom>
          <a:noFill/>
          <a:ln/>
        </p:spPr>
        <p:txBody>
          <a:bodyPr wrap="square" rtlCol="0" anchor="ctr"/>
          <a:lstStyle/>
          <a:p>
            <a:pPr indent="0" marL="0">
              <a:buNone/>
            </a:pPr>
            <a:r>
              <a:rPr lang="en-US" sz="1250" b="1" dirty="0">
                <a:solidFill>
                  <a:srgbClr val="E6EDF3"/>
                </a:solidFill>
                <a:latin typeface="Cambria" pitchFamily="34" charset="0"/>
                <a:ea typeface="Cambria" pitchFamily="34" charset="-122"/>
                <a:cs typeface="Cambria" pitchFamily="34" charset="-120"/>
              </a:rPr>
              <a:t>Theory Bridged With Implementation</a:t>
            </a:r>
            <a:endParaRPr lang="en-US" sz="1250" dirty="0"/>
          </a:p>
        </p:txBody>
      </p:sp>
      <p:sp>
        <p:nvSpPr>
          <p:cNvPr id="30" name="Text 22"/>
          <p:cNvSpPr/>
          <p:nvPr/>
        </p:nvSpPr>
        <p:spPr>
          <a:xfrm>
            <a:off x="1344168" y="5486400"/>
            <a:ext cx="4389120" cy="804672"/>
          </a:xfrm>
          <a:prstGeom prst="rect">
            <a:avLst/>
          </a:prstGeom>
          <a:noFill/>
          <a:ln/>
        </p:spPr>
        <p:txBody>
          <a:bodyPr wrap="square" rtlCol="0" anchor="t"/>
          <a:lstStyle/>
          <a:p>
            <a:pPr indent="0" marL="0">
              <a:lnSpc>
                <a:spcPct val="120000"/>
              </a:lnSpc>
              <a:buNone/>
            </a:pPr>
            <a:r>
              <a:rPr lang="en-US" sz="980" dirty="0">
                <a:solidFill>
                  <a:srgbClr val="9BA7B4"/>
                </a:solidFill>
                <a:latin typeface="Calibri" pitchFamily="34" charset="0"/>
                <a:ea typeface="Calibri" pitchFamily="34" charset="-122"/>
                <a:cs typeface="Calibri" pitchFamily="34" charset="-120"/>
              </a:rPr>
              <a:t>By pairing each system call with an explanation of the concept it demonstrates, the project closes the gap between what a syllabus describes and what the kernel actually does.</a:t>
            </a:r>
            <a:endParaRPr lang="en-US" sz="980" dirty="0"/>
          </a:p>
        </p:txBody>
      </p:sp>
      <p:sp>
        <p:nvSpPr>
          <p:cNvPr id="31" name="Shape 23"/>
          <p:cNvSpPr/>
          <p:nvPr/>
        </p:nvSpPr>
        <p:spPr>
          <a:xfrm>
            <a:off x="6263640" y="5001768"/>
            <a:ext cx="5440680" cy="1399032"/>
          </a:xfrm>
          <a:prstGeom prst="roundRect">
            <a:avLst>
              <a:gd name="adj" fmla="val 5882"/>
            </a:avLst>
          </a:prstGeom>
          <a:solidFill>
            <a:srgbClr val="161B22"/>
          </a:solidFill>
          <a:ln w="12700">
            <a:solidFill>
              <a:srgbClr val="2A3441"/>
            </a:solidFill>
            <a:prstDash val="solid"/>
          </a:ln>
          <a:effectLst>
            <a:outerShdw sx="100000" sy="100000" kx="0" ky="0" algn="bl" rotWithShape="0" blurRad="127000" dist="38100" dir="5400000">
              <a:srgbClr val="000000">
                <a:alpha val="35000"/>
              </a:srgbClr>
            </a:outerShdw>
          </a:effectLst>
        </p:spPr>
      </p:sp>
      <p:sp>
        <p:nvSpPr>
          <p:cNvPr id="32" name="Shape 24"/>
          <p:cNvSpPr/>
          <p:nvPr/>
        </p:nvSpPr>
        <p:spPr>
          <a:xfrm>
            <a:off x="6501384" y="5472684"/>
            <a:ext cx="457200" cy="457200"/>
          </a:xfrm>
          <a:prstGeom prst="ellipse">
            <a:avLst/>
          </a:prstGeom>
          <a:solidFill>
            <a:srgbClr val="20293A"/>
          </a:solidFill>
          <a:ln w="12700">
            <a:solidFill>
              <a:srgbClr val="2A3441"/>
            </a:solidFill>
            <a:prstDash val="solid"/>
          </a:ln>
        </p:spPr>
      </p:sp>
      <p:pic>
        <p:nvPicPr>
          <p:cNvPr id="33" name="Image 6" descr="/home/claude/build/assets/icons/layers_39D98A.png">    </p:cNvPr>
          <p:cNvPicPr>
            <a:picLocks noChangeAspect="1"/>
          </p:cNvPicPr>
          <p:nvPr/>
        </p:nvPicPr>
        <p:blipFill>
          <a:blip r:embed="rId7"/>
          <a:stretch>
            <a:fillRect/>
          </a:stretch>
        </p:blipFill>
        <p:spPr>
          <a:xfrm>
            <a:off x="6604254" y="5575554"/>
            <a:ext cx="251460" cy="251460"/>
          </a:xfrm>
          <a:prstGeom prst="rect">
            <a:avLst/>
          </a:prstGeom>
        </p:spPr>
      </p:pic>
      <p:sp>
        <p:nvSpPr>
          <p:cNvPr id="34" name="Text 25"/>
          <p:cNvSpPr/>
          <p:nvPr/>
        </p:nvSpPr>
        <p:spPr>
          <a:xfrm>
            <a:off x="7104888" y="5129784"/>
            <a:ext cx="4389120" cy="365760"/>
          </a:xfrm>
          <a:prstGeom prst="rect">
            <a:avLst/>
          </a:prstGeom>
          <a:noFill/>
          <a:ln/>
        </p:spPr>
        <p:txBody>
          <a:bodyPr wrap="square" rtlCol="0" anchor="ctr"/>
          <a:lstStyle/>
          <a:p>
            <a:pPr indent="0" marL="0">
              <a:buNone/>
            </a:pPr>
            <a:r>
              <a:rPr lang="en-US" sz="1250" b="1" dirty="0">
                <a:solidFill>
                  <a:srgbClr val="E6EDF3"/>
                </a:solidFill>
                <a:latin typeface="Cambria" pitchFamily="34" charset="0"/>
                <a:ea typeface="Cambria" pitchFamily="34" charset="-122"/>
                <a:cs typeface="Cambria" pitchFamily="34" charset="-120"/>
              </a:rPr>
              <a:t>Extensible by Design</a:t>
            </a:r>
            <a:endParaRPr lang="en-US" sz="1250" dirty="0"/>
          </a:p>
        </p:txBody>
      </p:sp>
      <p:sp>
        <p:nvSpPr>
          <p:cNvPr id="35" name="Text 26"/>
          <p:cNvSpPr/>
          <p:nvPr/>
        </p:nvSpPr>
        <p:spPr>
          <a:xfrm>
            <a:off x="7104888" y="5486400"/>
            <a:ext cx="4389120" cy="804672"/>
          </a:xfrm>
          <a:prstGeom prst="rect">
            <a:avLst/>
          </a:prstGeom>
          <a:noFill/>
          <a:ln/>
        </p:spPr>
        <p:txBody>
          <a:bodyPr wrap="square" rtlCol="0" anchor="t"/>
          <a:lstStyle/>
          <a:p>
            <a:pPr indent="0" marL="0">
              <a:lnSpc>
                <a:spcPct val="120000"/>
              </a:lnSpc>
              <a:buNone/>
            </a:pPr>
            <a:r>
              <a:rPr lang="en-US" sz="980" dirty="0">
                <a:solidFill>
                  <a:srgbClr val="9BA7B4"/>
                </a:solidFill>
                <a:latin typeface="Calibri" pitchFamily="34" charset="0"/>
                <a:ea typeface="Calibri" pitchFamily="34" charset="-122"/>
                <a:cs typeface="Calibri" pitchFamily="34" charset="-120"/>
              </a:rPr>
              <a:t>The modular separation between interface, management logic, and system calls means new capabilities can be layered on without reworking the existing foundation.</a:t>
            </a:r>
            <a:endParaRPr lang="en-US" sz="980" dirty="0"/>
          </a:p>
        </p:txBody>
      </p:sp>
      <p:sp>
        <p:nvSpPr>
          <p:cNvPr id="36" name="Text 27"/>
          <p:cNvSpPr/>
          <p:nvPr/>
        </p:nvSpPr>
        <p:spPr>
          <a:xfrm>
            <a:off x="457200" y="6473952"/>
            <a:ext cx="7315200" cy="274320"/>
          </a:xfrm>
          <a:prstGeom prst="rect">
            <a:avLst/>
          </a:prstGeom>
          <a:noFill/>
          <a:ln/>
        </p:spPr>
        <p:txBody>
          <a:bodyPr wrap="square" rtlCol="0" anchor="ctr"/>
          <a:lstStyle/>
          <a:p>
            <a:pPr algn="l" indent="0" marL="0">
              <a:buNone/>
            </a:pPr>
            <a:r>
              <a:rPr lang="en-US" sz="900" spc="100" kern="0" dirty="0">
                <a:solidFill>
                  <a:srgbClr val="9BA7B4"/>
                </a:solidFill>
                <a:latin typeface="Calibri" pitchFamily="34" charset="0"/>
                <a:ea typeface="Calibri" pitchFamily="34" charset="-122"/>
                <a:cs typeface="Calibri" pitchFamily="34" charset="-120"/>
              </a:rPr>
              <a:t>SMART PROCESS MANAGEMENT  •  LINUX SYSTEM CALLS</a:t>
            </a:r>
            <a:endParaRPr lang="en-US" sz="900" dirty="0"/>
          </a:p>
        </p:txBody>
      </p:sp>
      <p:sp>
        <p:nvSpPr>
          <p:cNvPr id="37" name="Text 28"/>
          <p:cNvSpPr/>
          <p:nvPr/>
        </p:nvSpPr>
        <p:spPr>
          <a:xfrm>
            <a:off x="11277295" y="6473952"/>
            <a:ext cx="457200" cy="274320"/>
          </a:xfrm>
          <a:prstGeom prst="rect">
            <a:avLst/>
          </a:prstGeom>
          <a:noFill/>
          <a:ln/>
        </p:spPr>
        <p:txBody>
          <a:bodyPr wrap="square" rtlCol="0" anchor="ctr"/>
          <a:lstStyle/>
          <a:p>
            <a:pPr algn="r" indent="0" marL="0">
              <a:buNone/>
            </a:pPr>
            <a:r>
              <a:rPr lang="en-US" sz="900" dirty="0">
                <a:solidFill>
                  <a:srgbClr val="9BA7B4"/>
                </a:solidFill>
                <a:latin typeface="Calibri" pitchFamily="34" charset="0"/>
                <a:ea typeface="Calibri" pitchFamily="34" charset="-122"/>
                <a:cs typeface="Calibri" pitchFamily="34" charset="-120"/>
              </a:rPr>
              <a:t>10</a:t>
            </a:r>
            <a:endParaRPr lang="en-US" sz="9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0D1117"/>
        </a:solidFill>
      </p:bgPr>
    </p:bg>
    <p:spTree>
      <p:nvGrpSpPr>
        <p:cNvPr id="1" name=""/>
        <p:cNvGrpSpPr/>
        <p:nvPr/>
      </p:nvGrpSpPr>
      <p:grpSpPr>
        <a:xfrm>
          <a:off x="0" y="0"/>
          <a:ext cx="0" cy="0"/>
          <a:chOff x="0" y="0"/>
          <a:chExt cx="0" cy="0"/>
        </a:xfrm>
      </p:grpSpPr>
      <p:pic>
        <p:nvPicPr>
          <p:cNvPr id="2" name="Image 0" descr="/home/claude/build/assets/bg_panel.png">    </p:cNvPr>
          <p:cNvPicPr>
            <a:picLocks noChangeAspect="1"/>
          </p:cNvPicPr>
          <p:nvPr/>
        </p:nvPicPr>
        <p:blipFill>
          <a:blip r:embed="rId1"/>
          <a:stretch>
            <a:fillRect/>
          </a:stretch>
        </p:blipFill>
        <p:spPr>
          <a:xfrm>
            <a:off x="0" y="0"/>
            <a:ext cx="12191695" cy="6858000"/>
          </a:xfrm>
          <a:prstGeom prst="rect">
            <a:avLst/>
          </a:prstGeom>
        </p:spPr>
      </p:pic>
      <p:sp>
        <p:nvSpPr>
          <p:cNvPr id="3" name="Shape 0"/>
          <p:cNvSpPr/>
          <p:nvPr/>
        </p:nvSpPr>
        <p:spPr>
          <a:xfrm>
            <a:off x="502920" y="457200"/>
            <a:ext cx="128016" cy="128016"/>
          </a:xfrm>
          <a:prstGeom prst="roundRect">
            <a:avLst>
              <a:gd name="adj" fmla="val 50000"/>
            </a:avLst>
          </a:prstGeom>
          <a:solidFill>
            <a:srgbClr val="39D98A"/>
          </a:solidFill>
          <a:ln/>
        </p:spPr>
      </p:sp>
      <p:sp>
        <p:nvSpPr>
          <p:cNvPr id="4" name="Text 1"/>
          <p:cNvSpPr/>
          <p:nvPr/>
        </p:nvSpPr>
        <p:spPr>
          <a:xfrm>
            <a:off x="713232" y="393192"/>
            <a:ext cx="5486400" cy="274320"/>
          </a:xfrm>
          <a:prstGeom prst="rect">
            <a:avLst/>
          </a:prstGeom>
          <a:noFill/>
          <a:ln/>
        </p:spPr>
        <p:txBody>
          <a:bodyPr wrap="square" rtlCol="0" anchor="ctr"/>
          <a:lstStyle/>
          <a:p>
            <a:pPr indent="0" marL="0">
              <a:buNone/>
            </a:pPr>
            <a:r>
              <a:rPr lang="en-US" sz="1250" b="1" spc="200" kern="0" dirty="0">
                <a:solidFill>
                  <a:srgbClr val="39D98A"/>
                </a:solidFill>
                <a:latin typeface="Calibri" pitchFamily="34" charset="0"/>
                <a:ea typeface="Calibri" pitchFamily="34" charset="-122"/>
                <a:cs typeface="Calibri" pitchFamily="34" charset="-120"/>
              </a:rPr>
              <a:t>APPLICATIONS</a:t>
            </a:r>
            <a:endParaRPr lang="en-US" sz="1250" dirty="0"/>
          </a:p>
        </p:txBody>
      </p:sp>
      <p:sp>
        <p:nvSpPr>
          <p:cNvPr id="5" name="Text 2"/>
          <p:cNvSpPr/>
          <p:nvPr/>
        </p:nvSpPr>
        <p:spPr>
          <a:xfrm>
            <a:off x="502920" y="713232"/>
            <a:ext cx="10515600" cy="685800"/>
          </a:xfrm>
          <a:prstGeom prst="rect">
            <a:avLst/>
          </a:prstGeom>
          <a:noFill/>
          <a:ln/>
        </p:spPr>
        <p:txBody>
          <a:bodyPr wrap="square" rtlCol="0" anchor="ctr"/>
          <a:lstStyle/>
          <a:p>
            <a:pPr algn="l" indent="0" marL="0">
              <a:buNone/>
            </a:pPr>
            <a:r>
              <a:rPr lang="en-US" sz="3000" b="1" dirty="0">
                <a:solidFill>
                  <a:srgbClr val="E6EDF3"/>
                </a:solidFill>
                <a:latin typeface="Cambria" pitchFamily="34" charset="0"/>
                <a:ea typeface="Cambria" pitchFamily="34" charset="-122"/>
                <a:cs typeface="Cambria" pitchFamily="34" charset="-120"/>
              </a:rPr>
              <a:t>Real-World Applications</a:t>
            </a:r>
            <a:endParaRPr lang="en-US" sz="3000" dirty="0"/>
          </a:p>
        </p:txBody>
      </p:sp>
      <p:sp>
        <p:nvSpPr>
          <p:cNvPr id="6" name="Text 3"/>
          <p:cNvSpPr/>
          <p:nvPr/>
        </p:nvSpPr>
        <p:spPr>
          <a:xfrm>
            <a:off x="502920" y="1627632"/>
            <a:ext cx="11155680" cy="685800"/>
          </a:xfrm>
          <a:prstGeom prst="rect">
            <a:avLst/>
          </a:prstGeom>
          <a:noFill/>
          <a:ln/>
        </p:spPr>
        <p:txBody>
          <a:bodyPr wrap="square" rtlCol="0" anchor="ctr"/>
          <a:lstStyle/>
          <a:p>
            <a:pPr indent="0" marL="0">
              <a:lnSpc>
                <a:spcPct val="128000"/>
              </a:lnSpc>
              <a:buNone/>
            </a:pPr>
            <a:r>
              <a:rPr lang="en-US" sz="1200" dirty="0">
                <a:solidFill>
                  <a:srgbClr val="9BA7B4"/>
                </a:solidFill>
                <a:latin typeface="Calibri" pitchFamily="34" charset="0"/>
                <a:ea typeface="Calibri" pitchFamily="34" charset="-122"/>
                <a:cs typeface="Calibri" pitchFamily="34" charset="-120"/>
              </a:rPr>
              <a:t>Although built as an academic demonstration, the techniques at the core of this project underpin a wide range of production Linux tooling. The same fork-exec-wait pattern, signal handling, and PID tracking implemented here scale directly into the systems described below.</a:t>
            </a:r>
            <a:endParaRPr lang="en-US" sz="1200" dirty="0"/>
          </a:p>
        </p:txBody>
      </p:sp>
      <p:sp>
        <p:nvSpPr>
          <p:cNvPr id="7" name="Shape 4"/>
          <p:cNvSpPr/>
          <p:nvPr/>
        </p:nvSpPr>
        <p:spPr>
          <a:xfrm>
            <a:off x="502920" y="2423160"/>
            <a:ext cx="3550920" cy="1851660"/>
          </a:xfrm>
          <a:prstGeom prst="roundRect">
            <a:avLst>
              <a:gd name="adj" fmla="val 4444"/>
            </a:avLst>
          </a:prstGeom>
          <a:solidFill>
            <a:srgbClr val="1B2430"/>
          </a:solidFill>
          <a:ln w="12700">
            <a:solidFill>
              <a:srgbClr val="2A3441"/>
            </a:solidFill>
            <a:prstDash val="solid"/>
          </a:ln>
          <a:effectLst>
            <a:outerShdw sx="100000" sy="100000" kx="0" ky="0" algn="bl" rotWithShape="0" blurRad="127000" dist="38100" dir="5400000">
              <a:srgbClr val="000000">
                <a:alpha val="35000"/>
              </a:srgbClr>
            </a:outerShdw>
          </a:effectLst>
        </p:spPr>
      </p:sp>
      <p:sp>
        <p:nvSpPr>
          <p:cNvPr id="8" name="Shape 5"/>
          <p:cNvSpPr/>
          <p:nvPr/>
        </p:nvSpPr>
        <p:spPr>
          <a:xfrm>
            <a:off x="731520" y="2624328"/>
            <a:ext cx="457200" cy="457200"/>
          </a:xfrm>
          <a:prstGeom prst="ellipse">
            <a:avLst/>
          </a:prstGeom>
          <a:solidFill>
            <a:srgbClr val="20293A"/>
          </a:solidFill>
          <a:ln w="12700">
            <a:solidFill>
              <a:srgbClr val="2A3441"/>
            </a:solidFill>
            <a:prstDash val="solid"/>
          </a:ln>
        </p:spPr>
      </p:sp>
      <p:pic>
        <p:nvPicPr>
          <p:cNvPr id="9" name="Image 1" descr="/home/claude/build/assets/icons/book_39D98A.png">    </p:cNvPr>
          <p:cNvPicPr>
            <a:picLocks noChangeAspect="1"/>
          </p:cNvPicPr>
          <p:nvPr/>
        </p:nvPicPr>
        <p:blipFill>
          <a:blip r:embed="rId2"/>
          <a:stretch>
            <a:fillRect/>
          </a:stretch>
        </p:blipFill>
        <p:spPr>
          <a:xfrm>
            <a:off x="834390" y="2727198"/>
            <a:ext cx="251460" cy="251460"/>
          </a:xfrm>
          <a:prstGeom prst="rect">
            <a:avLst/>
          </a:prstGeom>
        </p:spPr>
      </p:pic>
      <p:sp>
        <p:nvSpPr>
          <p:cNvPr id="10" name="Text 6"/>
          <p:cNvSpPr/>
          <p:nvPr/>
        </p:nvSpPr>
        <p:spPr>
          <a:xfrm>
            <a:off x="731520" y="3200400"/>
            <a:ext cx="3093720" cy="365760"/>
          </a:xfrm>
          <a:prstGeom prst="rect">
            <a:avLst/>
          </a:prstGeom>
          <a:noFill/>
          <a:ln/>
        </p:spPr>
        <p:txBody>
          <a:bodyPr wrap="square" rtlCol="0" anchor="ctr"/>
          <a:lstStyle/>
          <a:p>
            <a:pPr indent="0" marL="0">
              <a:buNone/>
            </a:pPr>
            <a:r>
              <a:rPr lang="en-US" sz="1250" b="1" dirty="0">
                <a:solidFill>
                  <a:srgbClr val="E6EDF3"/>
                </a:solidFill>
                <a:latin typeface="Cambria" pitchFamily="34" charset="0"/>
                <a:ea typeface="Cambria" pitchFamily="34" charset="-122"/>
                <a:cs typeface="Cambria" pitchFamily="34" charset="-120"/>
              </a:rPr>
              <a:t>Educational OS Projects</a:t>
            </a:r>
            <a:endParaRPr lang="en-US" sz="1250" dirty="0"/>
          </a:p>
        </p:txBody>
      </p:sp>
      <p:sp>
        <p:nvSpPr>
          <p:cNvPr id="11" name="Text 7"/>
          <p:cNvSpPr/>
          <p:nvPr/>
        </p:nvSpPr>
        <p:spPr>
          <a:xfrm>
            <a:off x="731520" y="3538728"/>
            <a:ext cx="3093720" cy="617220"/>
          </a:xfrm>
          <a:prstGeom prst="rect">
            <a:avLst/>
          </a:prstGeom>
          <a:noFill/>
          <a:ln/>
        </p:spPr>
        <p:txBody>
          <a:bodyPr wrap="square" rtlCol="0" anchor="t"/>
          <a:lstStyle/>
          <a:p>
            <a:pPr indent="0" marL="0">
              <a:lnSpc>
                <a:spcPct val="120000"/>
              </a:lnSpc>
              <a:buNone/>
            </a:pPr>
            <a:r>
              <a:rPr lang="en-US" sz="980" dirty="0">
                <a:solidFill>
                  <a:srgbClr val="9BA7B4"/>
                </a:solidFill>
                <a:latin typeface="Calibri" pitchFamily="34" charset="0"/>
                <a:ea typeface="Calibri" pitchFamily="34" charset="-122"/>
                <a:cs typeface="Calibri" pitchFamily="34" charset="-120"/>
              </a:rPr>
              <a:t>A reusable teaching platform for future operating-systems coursework and lab assignments centred on Linux internals.</a:t>
            </a:r>
            <a:endParaRPr lang="en-US" sz="980" dirty="0"/>
          </a:p>
        </p:txBody>
      </p:sp>
      <p:sp>
        <p:nvSpPr>
          <p:cNvPr id="12" name="Shape 8"/>
          <p:cNvSpPr/>
          <p:nvPr/>
        </p:nvSpPr>
        <p:spPr>
          <a:xfrm>
            <a:off x="4328160" y="2423160"/>
            <a:ext cx="3550920" cy="1851660"/>
          </a:xfrm>
          <a:prstGeom prst="roundRect">
            <a:avLst>
              <a:gd name="adj" fmla="val 4444"/>
            </a:avLst>
          </a:prstGeom>
          <a:solidFill>
            <a:srgbClr val="1B2430"/>
          </a:solidFill>
          <a:ln w="12700">
            <a:solidFill>
              <a:srgbClr val="2A3441"/>
            </a:solidFill>
            <a:prstDash val="solid"/>
          </a:ln>
          <a:effectLst>
            <a:outerShdw sx="100000" sy="100000" kx="0" ky="0" algn="bl" rotWithShape="0" blurRad="127000" dist="38100" dir="5400000">
              <a:srgbClr val="000000">
                <a:alpha val="35000"/>
              </a:srgbClr>
            </a:outerShdw>
          </a:effectLst>
        </p:spPr>
      </p:sp>
      <p:sp>
        <p:nvSpPr>
          <p:cNvPr id="13" name="Shape 9"/>
          <p:cNvSpPr/>
          <p:nvPr/>
        </p:nvSpPr>
        <p:spPr>
          <a:xfrm>
            <a:off x="4556760" y="2624328"/>
            <a:ext cx="457200" cy="457200"/>
          </a:xfrm>
          <a:prstGeom prst="ellipse">
            <a:avLst/>
          </a:prstGeom>
          <a:solidFill>
            <a:srgbClr val="20293A"/>
          </a:solidFill>
          <a:ln w="12700">
            <a:solidFill>
              <a:srgbClr val="2A3441"/>
            </a:solidFill>
            <a:prstDash val="solid"/>
          </a:ln>
        </p:spPr>
      </p:sp>
      <p:pic>
        <p:nvPicPr>
          <p:cNvPr id="14" name="Image 2" descr="/home/claude/build/assets/icons/chip_39D98A.png">    </p:cNvPr>
          <p:cNvPicPr>
            <a:picLocks noChangeAspect="1"/>
          </p:cNvPicPr>
          <p:nvPr/>
        </p:nvPicPr>
        <p:blipFill>
          <a:blip r:embed="rId3"/>
          <a:stretch>
            <a:fillRect/>
          </a:stretch>
        </p:blipFill>
        <p:spPr>
          <a:xfrm>
            <a:off x="4659630" y="2727198"/>
            <a:ext cx="251460" cy="251460"/>
          </a:xfrm>
          <a:prstGeom prst="rect">
            <a:avLst/>
          </a:prstGeom>
        </p:spPr>
      </p:pic>
      <p:sp>
        <p:nvSpPr>
          <p:cNvPr id="15" name="Text 10"/>
          <p:cNvSpPr/>
          <p:nvPr/>
        </p:nvSpPr>
        <p:spPr>
          <a:xfrm>
            <a:off x="4556760" y="3200400"/>
            <a:ext cx="3093720" cy="365760"/>
          </a:xfrm>
          <a:prstGeom prst="rect">
            <a:avLst/>
          </a:prstGeom>
          <a:noFill/>
          <a:ln/>
        </p:spPr>
        <p:txBody>
          <a:bodyPr wrap="square" rtlCol="0" anchor="ctr"/>
          <a:lstStyle/>
          <a:p>
            <a:pPr indent="0" marL="0">
              <a:buNone/>
            </a:pPr>
            <a:r>
              <a:rPr lang="en-US" sz="1250" b="1" dirty="0">
                <a:solidFill>
                  <a:srgbClr val="E6EDF3"/>
                </a:solidFill>
                <a:latin typeface="Cambria" pitchFamily="34" charset="0"/>
                <a:ea typeface="Cambria" pitchFamily="34" charset="-122"/>
                <a:cs typeface="Cambria" pitchFamily="34" charset="-120"/>
              </a:rPr>
              <a:t>Process Monitoring Tools</a:t>
            </a:r>
            <a:endParaRPr lang="en-US" sz="1250" dirty="0"/>
          </a:p>
        </p:txBody>
      </p:sp>
      <p:sp>
        <p:nvSpPr>
          <p:cNvPr id="16" name="Text 11"/>
          <p:cNvSpPr/>
          <p:nvPr/>
        </p:nvSpPr>
        <p:spPr>
          <a:xfrm>
            <a:off x="4556760" y="3538728"/>
            <a:ext cx="3093720" cy="617220"/>
          </a:xfrm>
          <a:prstGeom prst="rect">
            <a:avLst/>
          </a:prstGeom>
          <a:noFill/>
          <a:ln/>
        </p:spPr>
        <p:txBody>
          <a:bodyPr wrap="square" rtlCol="0" anchor="t"/>
          <a:lstStyle/>
          <a:p>
            <a:pPr indent="0" marL="0">
              <a:lnSpc>
                <a:spcPct val="120000"/>
              </a:lnSpc>
              <a:buNone/>
            </a:pPr>
            <a:r>
              <a:rPr lang="en-US" sz="980" dirty="0">
                <a:solidFill>
                  <a:srgbClr val="9BA7B4"/>
                </a:solidFill>
                <a:latin typeface="Calibri" pitchFamily="34" charset="0"/>
                <a:ea typeface="Calibri" pitchFamily="34" charset="-122"/>
                <a:cs typeface="Calibri" pitchFamily="34" charset="-120"/>
              </a:rPr>
              <a:t>The same PID-tracking approach underlies utilities that watch running processes and report their resource usage.</a:t>
            </a:r>
            <a:endParaRPr lang="en-US" sz="980" dirty="0"/>
          </a:p>
        </p:txBody>
      </p:sp>
      <p:sp>
        <p:nvSpPr>
          <p:cNvPr id="17" name="Shape 12"/>
          <p:cNvSpPr/>
          <p:nvPr/>
        </p:nvSpPr>
        <p:spPr>
          <a:xfrm>
            <a:off x="8153400" y="2423160"/>
            <a:ext cx="3550920" cy="1851660"/>
          </a:xfrm>
          <a:prstGeom prst="roundRect">
            <a:avLst>
              <a:gd name="adj" fmla="val 4444"/>
            </a:avLst>
          </a:prstGeom>
          <a:solidFill>
            <a:srgbClr val="1B2430"/>
          </a:solidFill>
          <a:ln w="12700">
            <a:solidFill>
              <a:srgbClr val="2A3441"/>
            </a:solidFill>
            <a:prstDash val="solid"/>
          </a:ln>
          <a:effectLst>
            <a:outerShdw sx="100000" sy="100000" kx="0" ky="0" algn="bl" rotWithShape="0" blurRad="127000" dist="38100" dir="5400000">
              <a:srgbClr val="000000">
                <a:alpha val="35000"/>
              </a:srgbClr>
            </a:outerShdw>
          </a:effectLst>
        </p:spPr>
      </p:sp>
      <p:sp>
        <p:nvSpPr>
          <p:cNvPr id="18" name="Shape 13"/>
          <p:cNvSpPr/>
          <p:nvPr/>
        </p:nvSpPr>
        <p:spPr>
          <a:xfrm>
            <a:off x="8382000" y="2624328"/>
            <a:ext cx="457200" cy="457200"/>
          </a:xfrm>
          <a:prstGeom prst="ellipse">
            <a:avLst/>
          </a:prstGeom>
          <a:solidFill>
            <a:srgbClr val="20293A"/>
          </a:solidFill>
          <a:ln w="12700">
            <a:solidFill>
              <a:srgbClr val="2A3441"/>
            </a:solidFill>
            <a:prstDash val="solid"/>
          </a:ln>
        </p:spPr>
      </p:sp>
      <p:pic>
        <p:nvPicPr>
          <p:cNvPr id="19" name="Image 3" descr="/home/claude/build/assets/icons/shield_39D98A.png">    </p:cNvPr>
          <p:cNvPicPr>
            <a:picLocks noChangeAspect="1"/>
          </p:cNvPicPr>
          <p:nvPr/>
        </p:nvPicPr>
        <p:blipFill>
          <a:blip r:embed="rId4"/>
          <a:stretch>
            <a:fillRect/>
          </a:stretch>
        </p:blipFill>
        <p:spPr>
          <a:xfrm>
            <a:off x="8484870" y="2727198"/>
            <a:ext cx="251460" cy="251460"/>
          </a:xfrm>
          <a:prstGeom prst="rect">
            <a:avLst/>
          </a:prstGeom>
        </p:spPr>
      </p:pic>
      <p:sp>
        <p:nvSpPr>
          <p:cNvPr id="20" name="Text 14"/>
          <p:cNvSpPr/>
          <p:nvPr/>
        </p:nvSpPr>
        <p:spPr>
          <a:xfrm>
            <a:off x="8382000" y="3200400"/>
            <a:ext cx="3093720" cy="365760"/>
          </a:xfrm>
          <a:prstGeom prst="rect">
            <a:avLst/>
          </a:prstGeom>
          <a:noFill/>
          <a:ln/>
        </p:spPr>
        <p:txBody>
          <a:bodyPr wrap="square" rtlCol="0" anchor="ctr"/>
          <a:lstStyle/>
          <a:p>
            <a:pPr indent="0" marL="0">
              <a:buNone/>
            </a:pPr>
            <a:r>
              <a:rPr lang="en-US" sz="1250" b="1" dirty="0">
                <a:solidFill>
                  <a:srgbClr val="E6EDF3"/>
                </a:solidFill>
                <a:latin typeface="Cambria" pitchFamily="34" charset="0"/>
                <a:ea typeface="Cambria" pitchFamily="34" charset="-122"/>
                <a:cs typeface="Cambria" pitchFamily="34" charset="-120"/>
              </a:rPr>
              <a:t>System Administration Utilities</a:t>
            </a:r>
            <a:endParaRPr lang="en-US" sz="1250" dirty="0"/>
          </a:p>
        </p:txBody>
      </p:sp>
      <p:sp>
        <p:nvSpPr>
          <p:cNvPr id="21" name="Text 15"/>
          <p:cNvSpPr/>
          <p:nvPr/>
        </p:nvSpPr>
        <p:spPr>
          <a:xfrm>
            <a:off x="8382000" y="3538728"/>
            <a:ext cx="3093720" cy="617220"/>
          </a:xfrm>
          <a:prstGeom prst="rect">
            <a:avLst/>
          </a:prstGeom>
          <a:noFill/>
          <a:ln/>
        </p:spPr>
        <p:txBody>
          <a:bodyPr wrap="square" rtlCol="0" anchor="t"/>
          <a:lstStyle/>
          <a:p>
            <a:pPr indent="0" marL="0">
              <a:lnSpc>
                <a:spcPct val="120000"/>
              </a:lnSpc>
              <a:buNone/>
            </a:pPr>
            <a:r>
              <a:rPr lang="en-US" sz="980" dirty="0">
                <a:solidFill>
                  <a:srgbClr val="9BA7B4"/>
                </a:solidFill>
                <a:latin typeface="Calibri" pitchFamily="34" charset="0"/>
                <a:ea typeface="Calibri" pitchFamily="34" charset="-122"/>
                <a:cs typeface="Calibri" pitchFamily="34" charset="-120"/>
              </a:rPr>
              <a:t>Signal-based control and lifecycle tracking are core building blocks of the administrative tooling that keeps servers healthy.</a:t>
            </a:r>
            <a:endParaRPr lang="en-US" sz="980" dirty="0"/>
          </a:p>
        </p:txBody>
      </p:sp>
      <p:sp>
        <p:nvSpPr>
          <p:cNvPr id="22" name="Shape 16"/>
          <p:cNvSpPr/>
          <p:nvPr/>
        </p:nvSpPr>
        <p:spPr>
          <a:xfrm>
            <a:off x="502920" y="4549140"/>
            <a:ext cx="3550920" cy="1851660"/>
          </a:xfrm>
          <a:prstGeom prst="roundRect">
            <a:avLst>
              <a:gd name="adj" fmla="val 4444"/>
            </a:avLst>
          </a:prstGeom>
          <a:solidFill>
            <a:srgbClr val="161B22"/>
          </a:solidFill>
          <a:ln w="12700">
            <a:solidFill>
              <a:srgbClr val="2A3441"/>
            </a:solidFill>
            <a:prstDash val="solid"/>
          </a:ln>
          <a:effectLst>
            <a:outerShdw sx="100000" sy="100000" kx="0" ky="0" algn="bl" rotWithShape="0" blurRad="127000" dist="38100" dir="5400000">
              <a:srgbClr val="000000">
                <a:alpha val="35000"/>
              </a:srgbClr>
            </a:outerShdw>
          </a:effectLst>
        </p:spPr>
      </p:sp>
      <p:sp>
        <p:nvSpPr>
          <p:cNvPr id="23" name="Shape 17"/>
          <p:cNvSpPr/>
          <p:nvPr/>
        </p:nvSpPr>
        <p:spPr>
          <a:xfrm>
            <a:off x="731520" y="4750308"/>
            <a:ext cx="457200" cy="457200"/>
          </a:xfrm>
          <a:prstGeom prst="ellipse">
            <a:avLst/>
          </a:prstGeom>
          <a:solidFill>
            <a:srgbClr val="20293A"/>
          </a:solidFill>
          <a:ln w="12700">
            <a:solidFill>
              <a:srgbClr val="2A3441"/>
            </a:solidFill>
            <a:prstDash val="solid"/>
          </a:ln>
        </p:spPr>
      </p:sp>
      <p:pic>
        <p:nvPicPr>
          <p:cNvPr id="24" name="Image 4" descr="/home/claude/build/assets/icons/cogs_39D98A.png">    </p:cNvPr>
          <p:cNvPicPr>
            <a:picLocks noChangeAspect="1"/>
          </p:cNvPicPr>
          <p:nvPr/>
        </p:nvPicPr>
        <p:blipFill>
          <a:blip r:embed="rId5"/>
          <a:stretch>
            <a:fillRect/>
          </a:stretch>
        </p:blipFill>
        <p:spPr>
          <a:xfrm>
            <a:off x="834390" y="4853178"/>
            <a:ext cx="251460" cy="251460"/>
          </a:xfrm>
          <a:prstGeom prst="rect">
            <a:avLst/>
          </a:prstGeom>
        </p:spPr>
      </p:pic>
      <p:sp>
        <p:nvSpPr>
          <p:cNvPr id="25" name="Text 18"/>
          <p:cNvSpPr/>
          <p:nvPr/>
        </p:nvSpPr>
        <p:spPr>
          <a:xfrm>
            <a:off x="731520" y="5326380"/>
            <a:ext cx="3093720" cy="365760"/>
          </a:xfrm>
          <a:prstGeom prst="rect">
            <a:avLst/>
          </a:prstGeom>
          <a:noFill/>
          <a:ln/>
        </p:spPr>
        <p:txBody>
          <a:bodyPr wrap="square" rtlCol="0" anchor="ctr"/>
          <a:lstStyle/>
          <a:p>
            <a:pPr indent="0" marL="0">
              <a:buNone/>
            </a:pPr>
            <a:r>
              <a:rPr lang="en-US" sz="1250" b="1" dirty="0">
                <a:solidFill>
                  <a:srgbClr val="E6EDF3"/>
                </a:solidFill>
                <a:latin typeface="Cambria" pitchFamily="34" charset="0"/>
                <a:ea typeface="Cambria" pitchFamily="34" charset="-122"/>
                <a:cs typeface="Cambria" pitchFamily="34" charset="-120"/>
              </a:rPr>
              <a:t>Linux Automation Frameworks</a:t>
            </a:r>
            <a:endParaRPr lang="en-US" sz="1250" dirty="0"/>
          </a:p>
        </p:txBody>
      </p:sp>
      <p:sp>
        <p:nvSpPr>
          <p:cNvPr id="26" name="Text 19"/>
          <p:cNvSpPr/>
          <p:nvPr/>
        </p:nvSpPr>
        <p:spPr>
          <a:xfrm>
            <a:off x="731520" y="5664708"/>
            <a:ext cx="3093720" cy="617220"/>
          </a:xfrm>
          <a:prstGeom prst="rect">
            <a:avLst/>
          </a:prstGeom>
          <a:noFill/>
          <a:ln/>
        </p:spPr>
        <p:txBody>
          <a:bodyPr wrap="square" rtlCol="0" anchor="t"/>
          <a:lstStyle/>
          <a:p>
            <a:pPr indent="0" marL="0">
              <a:lnSpc>
                <a:spcPct val="120000"/>
              </a:lnSpc>
              <a:buNone/>
            </a:pPr>
            <a:r>
              <a:rPr lang="en-US" sz="980" dirty="0">
                <a:solidFill>
                  <a:srgbClr val="9BA7B4"/>
                </a:solidFill>
                <a:latin typeface="Calibri" pitchFamily="34" charset="0"/>
                <a:ea typeface="Calibri" pitchFamily="34" charset="-122"/>
                <a:cs typeface="Calibri" pitchFamily="34" charset="-120"/>
              </a:rPr>
              <a:t>Fork-exec-wait sequences are the backbone of automation scripts that launch and supervise other programs unattended.</a:t>
            </a:r>
            <a:endParaRPr lang="en-US" sz="980" dirty="0"/>
          </a:p>
        </p:txBody>
      </p:sp>
      <p:sp>
        <p:nvSpPr>
          <p:cNvPr id="27" name="Shape 20"/>
          <p:cNvSpPr/>
          <p:nvPr/>
        </p:nvSpPr>
        <p:spPr>
          <a:xfrm>
            <a:off x="4328160" y="4549140"/>
            <a:ext cx="3550920" cy="1851660"/>
          </a:xfrm>
          <a:prstGeom prst="roundRect">
            <a:avLst>
              <a:gd name="adj" fmla="val 4444"/>
            </a:avLst>
          </a:prstGeom>
          <a:solidFill>
            <a:srgbClr val="161B22"/>
          </a:solidFill>
          <a:ln w="12700">
            <a:solidFill>
              <a:srgbClr val="2A3441"/>
            </a:solidFill>
            <a:prstDash val="solid"/>
          </a:ln>
          <a:effectLst>
            <a:outerShdw sx="100000" sy="100000" kx="0" ky="0" algn="bl" rotWithShape="0" blurRad="127000" dist="38100" dir="5400000">
              <a:srgbClr val="000000">
                <a:alpha val="35000"/>
              </a:srgbClr>
            </a:outerShdw>
          </a:effectLst>
        </p:spPr>
      </p:sp>
      <p:sp>
        <p:nvSpPr>
          <p:cNvPr id="28" name="Shape 21"/>
          <p:cNvSpPr/>
          <p:nvPr/>
        </p:nvSpPr>
        <p:spPr>
          <a:xfrm>
            <a:off x="4556760" y="4750308"/>
            <a:ext cx="457200" cy="457200"/>
          </a:xfrm>
          <a:prstGeom prst="ellipse">
            <a:avLst/>
          </a:prstGeom>
          <a:solidFill>
            <a:srgbClr val="20293A"/>
          </a:solidFill>
          <a:ln w="12700">
            <a:solidFill>
              <a:srgbClr val="2A3441"/>
            </a:solidFill>
            <a:prstDash val="solid"/>
          </a:ln>
        </p:spPr>
      </p:sp>
      <p:pic>
        <p:nvPicPr>
          <p:cNvPr id="29" name="Image 5" descr="/home/claude/build/assets/icons/chip_39D98A.png">    </p:cNvPr>
          <p:cNvPicPr>
            <a:picLocks noChangeAspect="1"/>
          </p:cNvPicPr>
          <p:nvPr/>
        </p:nvPicPr>
        <p:blipFill>
          <a:blip r:embed="rId6"/>
          <a:stretch>
            <a:fillRect/>
          </a:stretch>
        </p:blipFill>
        <p:spPr>
          <a:xfrm>
            <a:off x="4659630" y="4853178"/>
            <a:ext cx="251460" cy="251460"/>
          </a:xfrm>
          <a:prstGeom prst="rect">
            <a:avLst/>
          </a:prstGeom>
        </p:spPr>
      </p:pic>
      <p:sp>
        <p:nvSpPr>
          <p:cNvPr id="30" name="Text 22"/>
          <p:cNvSpPr/>
          <p:nvPr/>
        </p:nvSpPr>
        <p:spPr>
          <a:xfrm>
            <a:off x="4556760" y="5326380"/>
            <a:ext cx="3093720" cy="365760"/>
          </a:xfrm>
          <a:prstGeom prst="rect">
            <a:avLst/>
          </a:prstGeom>
          <a:noFill/>
          <a:ln/>
        </p:spPr>
        <p:txBody>
          <a:bodyPr wrap="square" rtlCol="0" anchor="ctr"/>
          <a:lstStyle/>
          <a:p>
            <a:pPr indent="0" marL="0">
              <a:buNone/>
            </a:pPr>
            <a:r>
              <a:rPr lang="en-US" sz="1250" b="1" dirty="0">
                <a:solidFill>
                  <a:srgbClr val="E6EDF3"/>
                </a:solidFill>
                <a:latin typeface="Cambria" pitchFamily="34" charset="0"/>
                <a:ea typeface="Cambria" pitchFamily="34" charset="-122"/>
                <a:cs typeface="Cambria" pitchFamily="34" charset="-120"/>
              </a:rPr>
              <a:t>Performance Analysis Systems</a:t>
            </a:r>
            <a:endParaRPr lang="en-US" sz="1250" dirty="0"/>
          </a:p>
        </p:txBody>
      </p:sp>
      <p:sp>
        <p:nvSpPr>
          <p:cNvPr id="31" name="Text 23"/>
          <p:cNvSpPr/>
          <p:nvPr/>
        </p:nvSpPr>
        <p:spPr>
          <a:xfrm>
            <a:off x="4556760" y="5664708"/>
            <a:ext cx="3093720" cy="617220"/>
          </a:xfrm>
          <a:prstGeom prst="rect">
            <a:avLst/>
          </a:prstGeom>
          <a:noFill/>
          <a:ln/>
        </p:spPr>
        <p:txBody>
          <a:bodyPr wrap="square" rtlCol="0" anchor="t"/>
          <a:lstStyle/>
          <a:p>
            <a:pPr indent="0" marL="0">
              <a:lnSpc>
                <a:spcPct val="120000"/>
              </a:lnSpc>
              <a:buNone/>
            </a:pPr>
            <a:r>
              <a:rPr lang="en-US" sz="980" dirty="0">
                <a:solidFill>
                  <a:srgbClr val="9BA7B4"/>
                </a:solidFill>
                <a:latin typeface="Calibri" pitchFamily="34" charset="0"/>
                <a:ea typeface="Calibri" pitchFamily="34" charset="-122"/>
                <a:cs typeface="Calibri" pitchFamily="34" charset="-120"/>
              </a:rPr>
              <a:t>Continuous process-state visibility is exactly what profilers and performance monitors need to attribute load correctly.</a:t>
            </a:r>
            <a:endParaRPr lang="en-US" sz="980" dirty="0"/>
          </a:p>
        </p:txBody>
      </p:sp>
      <p:sp>
        <p:nvSpPr>
          <p:cNvPr id="32" name="Shape 24"/>
          <p:cNvSpPr/>
          <p:nvPr/>
        </p:nvSpPr>
        <p:spPr>
          <a:xfrm>
            <a:off x="8153400" y="4549140"/>
            <a:ext cx="3550920" cy="1851660"/>
          </a:xfrm>
          <a:prstGeom prst="roundRect">
            <a:avLst>
              <a:gd name="adj" fmla="val 4444"/>
            </a:avLst>
          </a:prstGeom>
          <a:solidFill>
            <a:srgbClr val="161B22"/>
          </a:solidFill>
          <a:ln w="12700">
            <a:solidFill>
              <a:srgbClr val="2A3441"/>
            </a:solidFill>
            <a:prstDash val="solid"/>
          </a:ln>
          <a:effectLst>
            <a:outerShdw sx="100000" sy="100000" kx="0" ky="0" algn="bl" rotWithShape="0" blurRad="127000" dist="38100" dir="5400000">
              <a:srgbClr val="000000">
                <a:alpha val="35000"/>
              </a:srgbClr>
            </a:outerShdw>
          </a:effectLst>
        </p:spPr>
      </p:sp>
      <p:sp>
        <p:nvSpPr>
          <p:cNvPr id="33" name="Shape 25"/>
          <p:cNvSpPr/>
          <p:nvPr/>
        </p:nvSpPr>
        <p:spPr>
          <a:xfrm>
            <a:off x="8382000" y="4750308"/>
            <a:ext cx="457200" cy="457200"/>
          </a:xfrm>
          <a:prstGeom prst="ellipse">
            <a:avLst/>
          </a:prstGeom>
          <a:solidFill>
            <a:srgbClr val="20293A"/>
          </a:solidFill>
          <a:ln w="12700">
            <a:solidFill>
              <a:srgbClr val="2A3441"/>
            </a:solidFill>
            <a:prstDash val="solid"/>
          </a:ln>
        </p:spPr>
      </p:sp>
      <p:pic>
        <p:nvPicPr>
          <p:cNvPr id="34" name="Image 6" descr="/home/claude/build/assets/icons/server_39D98A.png">    </p:cNvPr>
          <p:cNvPicPr>
            <a:picLocks noChangeAspect="1"/>
          </p:cNvPicPr>
          <p:nvPr/>
        </p:nvPicPr>
        <p:blipFill>
          <a:blip r:embed="rId7"/>
          <a:stretch>
            <a:fillRect/>
          </a:stretch>
        </p:blipFill>
        <p:spPr>
          <a:xfrm>
            <a:off x="8484870" y="4853178"/>
            <a:ext cx="251460" cy="251460"/>
          </a:xfrm>
          <a:prstGeom prst="rect">
            <a:avLst/>
          </a:prstGeom>
        </p:spPr>
      </p:pic>
      <p:sp>
        <p:nvSpPr>
          <p:cNvPr id="35" name="Text 26"/>
          <p:cNvSpPr/>
          <p:nvPr/>
        </p:nvSpPr>
        <p:spPr>
          <a:xfrm>
            <a:off x="8382000" y="5326380"/>
            <a:ext cx="3093720" cy="365760"/>
          </a:xfrm>
          <a:prstGeom prst="rect">
            <a:avLst/>
          </a:prstGeom>
          <a:noFill/>
          <a:ln/>
        </p:spPr>
        <p:txBody>
          <a:bodyPr wrap="square" rtlCol="0" anchor="ctr"/>
          <a:lstStyle/>
          <a:p>
            <a:pPr indent="0" marL="0">
              <a:buNone/>
            </a:pPr>
            <a:r>
              <a:rPr lang="en-US" sz="1250" b="1" dirty="0">
                <a:solidFill>
                  <a:srgbClr val="E6EDF3"/>
                </a:solidFill>
                <a:latin typeface="Cambria" pitchFamily="34" charset="0"/>
                <a:ea typeface="Cambria" pitchFamily="34" charset="-122"/>
                <a:cs typeface="Cambria" pitchFamily="34" charset="-120"/>
              </a:rPr>
              <a:t>Embedded System Development</a:t>
            </a:r>
            <a:endParaRPr lang="en-US" sz="1250" dirty="0"/>
          </a:p>
        </p:txBody>
      </p:sp>
      <p:sp>
        <p:nvSpPr>
          <p:cNvPr id="36" name="Text 27"/>
          <p:cNvSpPr/>
          <p:nvPr/>
        </p:nvSpPr>
        <p:spPr>
          <a:xfrm>
            <a:off x="8382000" y="5664708"/>
            <a:ext cx="3093720" cy="617220"/>
          </a:xfrm>
          <a:prstGeom prst="rect">
            <a:avLst/>
          </a:prstGeom>
          <a:noFill/>
          <a:ln/>
        </p:spPr>
        <p:txBody>
          <a:bodyPr wrap="square" rtlCol="0" anchor="t"/>
          <a:lstStyle/>
          <a:p>
            <a:pPr indent="0" marL="0">
              <a:lnSpc>
                <a:spcPct val="120000"/>
              </a:lnSpc>
              <a:buNone/>
            </a:pPr>
            <a:r>
              <a:rPr lang="en-US" sz="980" dirty="0">
                <a:solidFill>
                  <a:srgbClr val="9BA7B4"/>
                </a:solidFill>
                <a:latin typeface="Calibri" pitchFamily="34" charset="0"/>
                <a:ea typeface="Calibri" pitchFamily="34" charset="-122"/>
                <a:cs typeface="Calibri" pitchFamily="34" charset="-120"/>
              </a:rPr>
              <a:t>Lightweight process control of this kind is directly transferable to resource-constrained embedded Linux deployments.</a:t>
            </a:r>
            <a:endParaRPr lang="en-US" sz="980" dirty="0"/>
          </a:p>
        </p:txBody>
      </p:sp>
      <p:sp>
        <p:nvSpPr>
          <p:cNvPr id="37" name="Text 28"/>
          <p:cNvSpPr/>
          <p:nvPr/>
        </p:nvSpPr>
        <p:spPr>
          <a:xfrm>
            <a:off x="457200" y="6473952"/>
            <a:ext cx="7315200" cy="274320"/>
          </a:xfrm>
          <a:prstGeom prst="rect">
            <a:avLst/>
          </a:prstGeom>
          <a:noFill/>
          <a:ln/>
        </p:spPr>
        <p:txBody>
          <a:bodyPr wrap="square" rtlCol="0" anchor="ctr"/>
          <a:lstStyle/>
          <a:p>
            <a:pPr algn="l" indent="0" marL="0">
              <a:buNone/>
            </a:pPr>
            <a:r>
              <a:rPr lang="en-US" sz="900" spc="100" kern="0" dirty="0">
                <a:solidFill>
                  <a:srgbClr val="9BA7B4"/>
                </a:solidFill>
                <a:latin typeface="Calibri" pitchFamily="34" charset="0"/>
                <a:ea typeface="Calibri" pitchFamily="34" charset="-122"/>
                <a:cs typeface="Calibri" pitchFamily="34" charset="-120"/>
              </a:rPr>
              <a:t>SMART PROCESS MANAGEMENT  •  LINUX SYSTEM CALLS</a:t>
            </a:r>
            <a:endParaRPr lang="en-US" sz="900" dirty="0"/>
          </a:p>
        </p:txBody>
      </p:sp>
      <p:sp>
        <p:nvSpPr>
          <p:cNvPr id="38" name="Text 29"/>
          <p:cNvSpPr/>
          <p:nvPr/>
        </p:nvSpPr>
        <p:spPr>
          <a:xfrm>
            <a:off x="11277295" y="6473952"/>
            <a:ext cx="457200" cy="274320"/>
          </a:xfrm>
          <a:prstGeom prst="rect">
            <a:avLst/>
          </a:prstGeom>
          <a:noFill/>
          <a:ln/>
        </p:spPr>
        <p:txBody>
          <a:bodyPr wrap="square" rtlCol="0" anchor="ctr"/>
          <a:lstStyle/>
          <a:p>
            <a:pPr algn="r" indent="0" marL="0">
              <a:buNone/>
            </a:pPr>
            <a:r>
              <a:rPr lang="en-US" sz="900" dirty="0">
                <a:solidFill>
                  <a:srgbClr val="9BA7B4"/>
                </a:solidFill>
                <a:latin typeface="Calibri" pitchFamily="34" charset="0"/>
                <a:ea typeface="Calibri" pitchFamily="34" charset="-122"/>
                <a:cs typeface="Calibri" pitchFamily="34" charset="-120"/>
              </a:rPr>
              <a:t>11</a:t>
            </a:r>
            <a:endParaRPr lang="en-US" sz="9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0D1117"/>
        </a:solidFill>
      </p:bgPr>
    </p:bg>
    <p:spTree>
      <p:nvGrpSpPr>
        <p:cNvPr id="1" name=""/>
        <p:cNvGrpSpPr/>
        <p:nvPr/>
      </p:nvGrpSpPr>
      <p:grpSpPr>
        <a:xfrm>
          <a:off x="0" y="0"/>
          <a:ext cx="0" cy="0"/>
          <a:chOff x="0" y="0"/>
          <a:chExt cx="0" cy="0"/>
        </a:xfrm>
      </p:grpSpPr>
      <p:pic>
        <p:nvPicPr>
          <p:cNvPr id="2" name="Image 0" descr="/home/claude/build/assets/bg_panel.png">    </p:cNvPr>
          <p:cNvPicPr>
            <a:picLocks noChangeAspect="1"/>
          </p:cNvPicPr>
          <p:nvPr/>
        </p:nvPicPr>
        <p:blipFill>
          <a:blip r:embed="rId1"/>
          <a:stretch>
            <a:fillRect/>
          </a:stretch>
        </p:blipFill>
        <p:spPr>
          <a:xfrm>
            <a:off x="0" y="0"/>
            <a:ext cx="12191695" cy="6858000"/>
          </a:xfrm>
          <a:prstGeom prst="rect">
            <a:avLst/>
          </a:prstGeom>
        </p:spPr>
      </p:pic>
      <p:sp>
        <p:nvSpPr>
          <p:cNvPr id="3" name="Shape 0"/>
          <p:cNvSpPr/>
          <p:nvPr/>
        </p:nvSpPr>
        <p:spPr>
          <a:xfrm>
            <a:off x="502920" y="457200"/>
            <a:ext cx="128016" cy="128016"/>
          </a:xfrm>
          <a:prstGeom prst="roundRect">
            <a:avLst>
              <a:gd name="adj" fmla="val 50000"/>
            </a:avLst>
          </a:prstGeom>
          <a:solidFill>
            <a:srgbClr val="39D98A"/>
          </a:solidFill>
          <a:ln/>
        </p:spPr>
      </p:sp>
      <p:sp>
        <p:nvSpPr>
          <p:cNvPr id="4" name="Text 1"/>
          <p:cNvSpPr/>
          <p:nvPr/>
        </p:nvSpPr>
        <p:spPr>
          <a:xfrm>
            <a:off x="713232" y="393192"/>
            <a:ext cx="5486400" cy="274320"/>
          </a:xfrm>
          <a:prstGeom prst="rect">
            <a:avLst/>
          </a:prstGeom>
          <a:noFill/>
          <a:ln/>
        </p:spPr>
        <p:txBody>
          <a:bodyPr wrap="square" rtlCol="0" anchor="ctr"/>
          <a:lstStyle/>
          <a:p>
            <a:pPr indent="0" marL="0">
              <a:buNone/>
            </a:pPr>
            <a:r>
              <a:rPr lang="en-US" sz="1250" b="1" spc="200" kern="0" dirty="0">
                <a:solidFill>
                  <a:srgbClr val="39D98A"/>
                </a:solidFill>
                <a:latin typeface="Calibri" pitchFamily="34" charset="0"/>
                <a:ea typeface="Calibri" pitchFamily="34" charset="-122"/>
                <a:cs typeface="Calibri" pitchFamily="34" charset="-120"/>
              </a:rPr>
              <a:t>FUTURE SCOPE</a:t>
            </a:r>
            <a:endParaRPr lang="en-US" sz="1250" dirty="0"/>
          </a:p>
        </p:txBody>
      </p:sp>
      <p:sp>
        <p:nvSpPr>
          <p:cNvPr id="5" name="Text 2"/>
          <p:cNvSpPr/>
          <p:nvPr/>
        </p:nvSpPr>
        <p:spPr>
          <a:xfrm>
            <a:off x="502920" y="713232"/>
            <a:ext cx="10515600" cy="685800"/>
          </a:xfrm>
          <a:prstGeom prst="rect">
            <a:avLst/>
          </a:prstGeom>
          <a:noFill/>
          <a:ln/>
        </p:spPr>
        <p:txBody>
          <a:bodyPr wrap="square" rtlCol="0" anchor="ctr"/>
          <a:lstStyle/>
          <a:p>
            <a:pPr algn="l" indent="0" marL="0">
              <a:buNone/>
            </a:pPr>
            <a:r>
              <a:rPr lang="en-US" sz="3000" b="1" dirty="0">
                <a:solidFill>
                  <a:srgbClr val="E6EDF3"/>
                </a:solidFill>
                <a:latin typeface="Cambria" pitchFamily="34" charset="0"/>
                <a:ea typeface="Cambria" pitchFamily="34" charset="-122"/>
                <a:cs typeface="Cambria" pitchFamily="34" charset="-120"/>
              </a:rPr>
              <a:t>Where the Project Can Grow</a:t>
            </a:r>
            <a:endParaRPr lang="en-US" sz="3000" dirty="0"/>
          </a:p>
        </p:txBody>
      </p:sp>
      <p:sp>
        <p:nvSpPr>
          <p:cNvPr id="6" name="Text 3"/>
          <p:cNvSpPr/>
          <p:nvPr/>
        </p:nvSpPr>
        <p:spPr>
          <a:xfrm>
            <a:off x="502920" y="1645920"/>
            <a:ext cx="11155680" cy="822960"/>
          </a:xfrm>
          <a:prstGeom prst="rect">
            <a:avLst/>
          </a:prstGeom>
          <a:noFill/>
          <a:ln/>
        </p:spPr>
        <p:txBody>
          <a:bodyPr wrap="square" rtlCol="0" anchor="ctr"/>
          <a:lstStyle/>
          <a:p>
            <a:pPr indent="0" marL="0">
              <a:lnSpc>
                <a:spcPct val="128000"/>
              </a:lnSpc>
              <a:buNone/>
            </a:pPr>
            <a:r>
              <a:rPr lang="en-US" sz="1200" dirty="0">
                <a:solidFill>
                  <a:srgbClr val="9BA7B4"/>
                </a:solidFill>
                <a:latin typeface="Calibri" pitchFamily="34" charset="0"/>
                <a:ea typeface="Calibri" pitchFamily="34" charset="-122"/>
                <a:cs typeface="Calibri" pitchFamily="34" charset="-120"/>
              </a:rPr>
              <a:t>The current implementation deliberately keeps its scope tight around six foundational system calls so that the core concepts stay clear and demonstrable. That same modular foundation, however, leaves substantial room for extension in directions that mirror the tooling professional systems engineers rely on daily.</a:t>
            </a:r>
            <a:endParaRPr lang="en-US" sz="1200" dirty="0"/>
          </a:p>
        </p:txBody>
      </p:sp>
      <p:sp>
        <p:nvSpPr>
          <p:cNvPr id="7" name="Shape 4"/>
          <p:cNvSpPr/>
          <p:nvPr/>
        </p:nvSpPr>
        <p:spPr>
          <a:xfrm>
            <a:off x="502920" y="2697480"/>
            <a:ext cx="3550920" cy="1746504"/>
          </a:xfrm>
          <a:prstGeom prst="roundRect">
            <a:avLst>
              <a:gd name="adj" fmla="val 4712"/>
            </a:avLst>
          </a:prstGeom>
          <a:solidFill>
            <a:srgbClr val="161B22"/>
          </a:solidFill>
          <a:ln w="12700">
            <a:solidFill>
              <a:srgbClr val="2A3441"/>
            </a:solidFill>
            <a:prstDash val="solid"/>
          </a:ln>
          <a:effectLst>
            <a:outerShdw sx="100000" sy="100000" kx="0" ky="0" algn="bl" rotWithShape="0" blurRad="127000" dist="38100" dir="5400000">
              <a:srgbClr val="000000">
                <a:alpha val="35000"/>
              </a:srgbClr>
            </a:outerShdw>
          </a:effectLst>
        </p:spPr>
      </p:sp>
      <p:sp>
        <p:nvSpPr>
          <p:cNvPr id="8" name="Shape 5"/>
          <p:cNvSpPr/>
          <p:nvPr/>
        </p:nvSpPr>
        <p:spPr>
          <a:xfrm>
            <a:off x="722376" y="2880360"/>
            <a:ext cx="438912" cy="438912"/>
          </a:xfrm>
          <a:prstGeom prst="ellipse">
            <a:avLst/>
          </a:prstGeom>
          <a:solidFill>
            <a:srgbClr val="20293A"/>
          </a:solidFill>
          <a:ln w="12700">
            <a:solidFill>
              <a:srgbClr val="2A3441"/>
            </a:solidFill>
            <a:prstDash val="solid"/>
          </a:ln>
        </p:spPr>
      </p:sp>
      <p:pic>
        <p:nvPicPr>
          <p:cNvPr id="9" name="Image 1" descr="/home/claude/build/assets/icons/chip_58A6FF.png">    </p:cNvPr>
          <p:cNvPicPr>
            <a:picLocks noChangeAspect="1"/>
          </p:cNvPicPr>
          <p:nvPr/>
        </p:nvPicPr>
        <p:blipFill>
          <a:blip r:embed="rId2"/>
          <a:stretch>
            <a:fillRect/>
          </a:stretch>
        </p:blipFill>
        <p:spPr>
          <a:xfrm>
            <a:off x="821131" y="2979115"/>
            <a:ext cx="241402" cy="241402"/>
          </a:xfrm>
          <a:prstGeom prst="rect">
            <a:avLst/>
          </a:prstGeom>
        </p:spPr>
      </p:pic>
      <p:sp>
        <p:nvSpPr>
          <p:cNvPr id="10" name="Text 6"/>
          <p:cNvSpPr/>
          <p:nvPr/>
        </p:nvSpPr>
        <p:spPr>
          <a:xfrm>
            <a:off x="722376" y="3410712"/>
            <a:ext cx="3112008" cy="384048"/>
          </a:xfrm>
          <a:prstGeom prst="rect">
            <a:avLst/>
          </a:prstGeom>
          <a:noFill/>
          <a:ln/>
        </p:spPr>
        <p:txBody>
          <a:bodyPr wrap="square" rtlCol="0" anchor="ctr"/>
          <a:lstStyle/>
          <a:p>
            <a:pPr indent="0" marL="0">
              <a:buNone/>
            </a:pPr>
            <a:r>
              <a:rPr lang="en-US" sz="1180" b="1" dirty="0">
                <a:solidFill>
                  <a:srgbClr val="E6EDF3"/>
                </a:solidFill>
                <a:latin typeface="Cambria" pitchFamily="34" charset="0"/>
                <a:ea typeface="Cambria" pitchFamily="34" charset="-122"/>
                <a:cs typeface="Cambria" pitchFamily="34" charset="-120"/>
              </a:rPr>
              <a:t>CPU &amp; Memory Usage Monitoring</a:t>
            </a:r>
            <a:endParaRPr lang="en-US" sz="1180" dirty="0"/>
          </a:p>
        </p:txBody>
      </p:sp>
      <p:sp>
        <p:nvSpPr>
          <p:cNvPr id="11" name="Text 7"/>
          <p:cNvSpPr/>
          <p:nvPr/>
        </p:nvSpPr>
        <p:spPr>
          <a:xfrm>
            <a:off x="722376" y="3776472"/>
            <a:ext cx="3112008" cy="557784"/>
          </a:xfrm>
          <a:prstGeom prst="rect">
            <a:avLst/>
          </a:prstGeom>
          <a:noFill/>
          <a:ln/>
        </p:spPr>
        <p:txBody>
          <a:bodyPr wrap="square" rtlCol="0" anchor="t"/>
          <a:lstStyle/>
          <a:p>
            <a:pPr indent="0" marL="0">
              <a:lnSpc>
                <a:spcPct val="118000"/>
              </a:lnSpc>
              <a:buNone/>
            </a:pPr>
            <a:r>
              <a:rPr lang="en-US" sz="950" dirty="0">
                <a:solidFill>
                  <a:srgbClr val="9BA7B4"/>
                </a:solidFill>
                <a:latin typeface="Calibri" pitchFamily="34" charset="0"/>
                <a:ea typeface="Calibri" pitchFamily="34" charset="-122"/>
                <a:cs typeface="Calibri" pitchFamily="34" charset="-120"/>
              </a:rPr>
              <a:t>Extending the console to read live resource consumption per process for a fuller operational picture.</a:t>
            </a:r>
            <a:endParaRPr lang="en-US" sz="950" dirty="0"/>
          </a:p>
        </p:txBody>
      </p:sp>
      <p:sp>
        <p:nvSpPr>
          <p:cNvPr id="12" name="Shape 8"/>
          <p:cNvSpPr/>
          <p:nvPr/>
        </p:nvSpPr>
        <p:spPr>
          <a:xfrm>
            <a:off x="4328160" y="2697480"/>
            <a:ext cx="3550920" cy="1746504"/>
          </a:xfrm>
          <a:prstGeom prst="roundRect">
            <a:avLst>
              <a:gd name="adj" fmla="val 4712"/>
            </a:avLst>
          </a:prstGeom>
          <a:solidFill>
            <a:srgbClr val="161B22"/>
          </a:solidFill>
          <a:ln w="12700">
            <a:solidFill>
              <a:srgbClr val="2A3441"/>
            </a:solidFill>
            <a:prstDash val="solid"/>
          </a:ln>
          <a:effectLst>
            <a:outerShdw sx="100000" sy="100000" kx="0" ky="0" algn="bl" rotWithShape="0" blurRad="127000" dist="38100" dir="5400000">
              <a:srgbClr val="000000">
                <a:alpha val="35000"/>
              </a:srgbClr>
            </a:outerShdw>
          </a:effectLst>
        </p:spPr>
      </p:sp>
      <p:sp>
        <p:nvSpPr>
          <p:cNvPr id="13" name="Shape 9"/>
          <p:cNvSpPr/>
          <p:nvPr/>
        </p:nvSpPr>
        <p:spPr>
          <a:xfrm>
            <a:off x="4547616" y="2880360"/>
            <a:ext cx="438912" cy="438912"/>
          </a:xfrm>
          <a:prstGeom prst="ellipse">
            <a:avLst/>
          </a:prstGeom>
          <a:solidFill>
            <a:srgbClr val="20293A"/>
          </a:solidFill>
          <a:ln w="12700">
            <a:solidFill>
              <a:srgbClr val="2A3441"/>
            </a:solidFill>
            <a:prstDash val="solid"/>
          </a:ln>
        </p:spPr>
      </p:sp>
      <p:pic>
        <p:nvPicPr>
          <p:cNvPr id="14" name="Image 2" descr="/home/claude/build/assets/icons/sync_58A6FF.png">    </p:cNvPr>
          <p:cNvPicPr>
            <a:picLocks noChangeAspect="1"/>
          </p:cNvPicPr>
          <p:nvPr/>
        </p:nvPicPr>
        <p:blipFill>
          <a:blip r:embed="rId3"/>
          <a:stretch>
            <a:fillRect/>
          </a:stretch>
        </p:blipFill>
        <p:spPr>
          <a:xfrm>
            <a:off x="4646371" y="2979115"/>
            <a:ext cx="241402" cy="241402"/>
          </a:xfrm>
          <a:prstGeom prst="rect">
            <a:avLst/>
          </a:prstGeom>
        </p:spPr>
      </p:pic>
      <p:sp>
        <p:nvSpPr>
          <p:cNvPr id="15" name="Text 10"/>
          <p:cNvSpPr/>
          <p:nvPr/>
        </p:nvSpPr>
        <p:spPr>
          <a:xfrm>
            <a:off x="4547616" y="3410712"/>
            <a:ext cx="3112008" cy="384048"/>
          </a:xfrm>
          <a:prstGeom prst="rect">
            <a:avLst/>
          </a:prstGeom>
          <a:noFill/>
          <a:ln/>
        </p:spPr>
        <p:txBody>
          <a:bodyPr wrap="square" rtlCol="0" anchor="ctr"/>
          <a:lstStyle/>
          <a:p>
            <a:pPr indent="0" marL="0">
              <a:buNone/>
            </a:pPr>
            <a:r>
              <a:rPr lang="en-US" sz="1180" b="1" dirty="0">
                <a:solidFill>
                  <a:srgbClr val="E6EDF3"/>
                </a:solidFill>
                <a:latin typeface="Cambria" pitchFamily="34" charset="0"/>
                <a:ea typeface="Cambria" pitchFamily="34" charset="-122"/>
                <a:cs typeface="Cambria" pitchFamily="34" charset="-120"/>
              </a:rPr>
              <a:t>Advanced Priority Management</a:t>
            </a:r>
            <a:endParaRPr lang="en-US" sz="1180" dirty="0"/>
          </a:p>
        </p:txBody>
      </p:sp>
      <p:sp>
        <p:nvSpPr>
          <p:cNvPr id="16" name="Text 11"/>
          <p:cNvSpPr/>
          <p:nvPr/>
        </p:nvSpPr>
        <p:spPr>
          <a:xfrm>
            <a:off x="4547616" y="3776472"/>
            <a:ext cx="3112008" cy="557784"/>
          </a:xfrm>
          <a:prstGeom prst="rect">
            <a:avLst/>
          </a:prstGeom>
          <a:noFill/>
          <a:ln/>
        </p:spPr>
        <p:txBody>
          <a:bodyPr wrap="square" rtlCol="0" anchor="t"/>
          <a:lstStyle/>
          <a:p>
            <a:pPr indent="0" marL="0">
              <a:lnSpc>
                <a:spcPct val="118000"/>
              </a:lnSpc>
              <a:buNone/>
            </a:pPr>
            <a:r>
              <a:rPr lang="en-US" sz="950" dirty="0">
                <a:solidFill>
                  <a:srgbClr val="9BA7B4"/>
                </a:solidFill>
                <a:latin typeface="Calibri" pitchFamily="34" charset="0"/>
                <a:ea typeface="Calibri" pitchFamily="34" charset="-122"/>
                <a:cs typeface="Calibri" pitchFamily="34" charset="-120"/>
              </a:rPr>
              <a:t>Introducing nice-value and scheduling-priority controls so users can influence how the kernel schedules each process.</a:t>
            </a:r>
            <a:endParaRPr lang="en-US" sz="950" dirty="0"/>
          </a:p>
        </p:txBody>
      </p:sp>
      <p:sp>
        <p:nvSpPr>
          <p:cNvPr id="17" name="Shape 12"/>
          <p:cNvSpPr/>
          <p:nvPr/>
        </p:nvSpPr>
        <p:spPr>
          <a:xfrm>
            <a:off x="8153400" y="2697480"/>
            <a:ext cx="3550920" cy="1746504"/>
          </a:xfrm>
          <a:prstGeom prst="roundRect">
            <a:avLst>
              <a:gd name="adj" fmla="val 4712"/>
            </a:avLst>
          </a:prstGeom>
          <a:solidFill>
            <a:srgbClr val="161B22"/>
          </a:solidFill>
          <a:ln w="12700">
            <a:solidFill>
              <a:srgbClr val="2A3441"/>
            </a:solidFill>
            <a:prstDash val="solid"/>
          </a:ln>
          <a:effectLst>
            <a:outerShdw sx="100000" sy="100000" kx="0" ky="0" algn="bl" rotWithShape="0" blurRad="127000" dist="38100" dir="5400000">
              <a:srgbClr val="000000">
                <a:alpha val="35000"/>
              </a:srgbClr>
            </a:outerShdw>
          </a:effectLst>
        </p:spPr>
      </p:sp>
      <p:sp>
        <p:nvSpPr>
          <p:cNvPr id="18" name="Shape 13"/>
          <p:cNvSpPr/>
          <p:nvPr/>
        </p:nvSpPr>
        <p:spPr>
          <a:xfrm>
            <a:off x="8372856" y="2880360"/>
            <a:ext cx="438912" cy="438912"/>
          </a:xfrm>
          <a:prstGeom prst="ellipse">
            <a:avLst/>
          </a:prstGeom>
          <a:solidFill>
            <a:srgbClr val="20293A"/>
          </a:solidFill>
          <a:ln w="12700">
            <a:solidFill>
              <a:srgbClr val="2A3441"/>
            </a:solidFill>
            <a:prstDash val="solid"/>
          </a:ln>
        </p:spPr>
      </p:sp>
      <p:pic>
        <p:nvPicPr>
          <p:cNvPr id="19" name="Image 3" descr="/home/claude/build/assets/icons/desktop_58A6FF.png">    </p:cNvPr>
          <p:cNvPicPr>
            <a:picLocks noChangeAspect="1"/>
          </p:cNvPicPr>
          <p:nvPr/>
        </p:nvPicPr>
        <p:blipFill>
          <a:blip r:embed="rId4"/>
          <a:stretch>
            <a:fillRect/>
          </a:stretch>
        </p:blipFill>
        <p:spPr>
          <a:xfrm>
            <a:off x="8471611" y="2979115"/>
            <a:ext cx="241402" cy="241402"/>
          </a:xfrm>
          <a:prstGeom prst="rect">
            <a:avLst/>
          </a:prstGeom>
        </p:spPr>
      </p:pic>
      <p:sp>
        <p:nvSpPr>
          <p:cNvPr id="20" name="Text 14"/>
          <p:cNvSpPr/>
          <p:nvPr/>
        </p:nvSpPr>
        <p:spPr>
          <a:xfrm>
            <a:off x="8372856" y="3410712"/>
            <a:ext cx="3112008" cy="384048"/>
          </a:xfrm>
          <a:prstGeom prst="rect">
            <a:avLst/>
          </a:prstGeom>
          <a:noFill/>
          <a:ln/>
        </p:spPr>
        <p:txBody>
          <a:bodyPr wrap="square" rtlCol="0" anchor="ctr"/>
          <a:lstStyle/>
          <a:p>
            <a:pPr indent="0" marL="0">
              <a:buNone/>
            </a:pPr>
            <a:r>
              <a:rPr lang="en-US" sz="1180" b="1" dirty="0">
                <a:solidFill>
                  <a:srgbClr val="E6EDF3"/>
                </a:solidFill>
                <a:latin typeface="Cambria" pitchFamily="34" charset="0"/>
                <a:ea typeface="Cambria" pitchFamily="34" charset="-122"/>
                <a:cs typeface="Cambria" pitchFamily="34" charset="-120"/>
              </a:rPr>
              <a:t>Graphical User Interface</a:t>
            </a:r>
            <a:endParaRPr lang="en-US" sz="1180" dirty="0"/>
          </a:p>
        </p:txBody>
      </p:sp>
      <p:sp>
        <p:nvSpPr>
          <p:cNvPr id="21" name="Text 15"/>
          <p:cNvSpPr/>
          <p:nvPr/>
        </p:nvSpPr>
        <p:spPr>
          <a:xfrm>
            <a:off x="8372856" y="3776472"/>
            <a:ext cx="3112008" cy="557784"/>
          </a:xfrm>
          <a:prstGeom prst="rect">
            <a:avLst/>
          </a:prstGeom>
          <a:noFill/>
          <a:ln/>
        </p:spPr>
        <p:txBody>
          <a:bodyPr wrap="square" rtlCol="0" anchor="t"/>
          <a:lstStyle/>
          <a:p>
            <a:pPr indent="0" marL="0">
              <a:lnSpc>
                <a:spcPct val="118000"/>
              </a:lnSpc>
              <a:buNone/>
            </a:pPr>
            <a:r>
              <a:rPr lang="en-US" sz="950" dirty="0">
                <a:solidFill>
                  <a:srgbClr val="9BA7B4"/>
                </a:solidFill>
                <a:latin typeface="Calibri" pitchFamily="34" charset="0"/>
                <a:ea typeface="Calibri" pitchFamily="34" charset="-122"/>
                <a:cs typeface="Calibri" pitchFamily="34" charset="-120"/>
              </a:rPr>
              <a:t>Replacing or supplementing the command-line menu with a graphical front end for broader accessibility.</a:t>
            </a:r>
            <a:endParaRPr lang="en-US" sz="950" dirty="0"/>
          </a:p>
        </p:txBody>
      </p:sp>
      <p:sp>
        <p:nvSpPr>
          <p:cNvPr id="22" name="Shape 16"/>
          <p:cNvSpPr/>
          <p:nvPr/>
        </p:nvSpPr>
        <p:spPr>
          <a:xfrm>
            <a:off x="502920" y="4700016"/>
            <a:ext cx="3550920" cy="1746504"/>
          </a:xfrm>
          <a:prstGeom prst="roundRect">
            <a:avLst>
              <a:gd name="adj" fmla="val 4712"/>
            </a:avLst>
          </a:prstGeom>
          <a:solidFill>
            <a:srgbClr val="161B22"/>
          </a:solidFill>
          <a:ln w="12700">
            <a:solidFill>
              <a:srgbClr val="2A3441"/>
            </a:solidFill>
            <a:prstDash val="solid"/>
          </a:ln>
          <a:effectLst>
            <a:outerShdw sx="100000" sy="100000" kx="0" ky="0" algn="bl" rotWithShape="0" blurRad="127000" dist="38100" dir="5400000">
              <a:srgbClr val="000000">
                <a:alpha val="35000"/>
              </a:srgbClr>
            </a:outerShdw>
          </a:effectLst>
        </p:spPr>
      </p:sp>
      <p:sp>
        <p:nvSpPr>
          <p:cNvPr id="23" name="Shape 17"/>
          <p:cNvSpPr/>
          <p:nvPr/>
        </p:nvSpPr>
        <p:spPr>
          <a:xfrm>
            <a:off x="722376" y="4882896"/>
            <a:ext cx="438912" cy="438912"/>
          </a:xfrm>
          <a:prstGeom prst="ellipse">
            <a:avLst/>
          </a:prstGeom>
          <a:solidFill>
            <a:srgbClr val="20293A"/>
          </a:solidFill>
          <a:ln w="12700">
            <a:solidFill>
              <a:srgbClr val="2A3441"/>
            </a:solidFill>
            <a:prstDash val="solid"/>
          </a:ln>
        </p:spPr>
      </p:sp>
      <p:pic>
        <p:nvPicPr>
          <p:cNvPr id="24" name="Image 4" descr="/home/claude/build/assets/icons/diagram_58A6FF.png">    </p:cNvPr>
          <p:cNvPicPr>
            <a:picLocks noChangeAspect="1"/>
          </p:cNvPicPr>
          <p:nvPr/>
        </p:nvPicPr>
        <p:blipFill>
          <a:blip r:embed="rId5"/>
          <a:stretch>
            <a:fillRect/>
          </a:stretch>
        </p:blipFill>
        <p:spPr>
          <a:xfrm>
            <a:off x="821131" y="4981651"/>
            <a:ext cx="241402" cy="241402"/>
          </a:xfrm>
          <a:prstGeom prst="rect">
            <a:avLst/>
          </a:prstGeom>
        </p:spPr>
      </p:pic>
      <p:sp>
        <p:nvSpPr>
          <p:cNvPr id="25" name="Text 18"/>
          <p:cNvSpPr/>
          <p:nvPr/>
        </p:nvSpPr>
        <p:spPr>
          <a:xfrm>
            <a:off x="722376" y="5413248"/>
            <a:ext cx="3112008" cy="384048"/>
          </a:xfrm>
          <a:prstGeom prst="rect">
            <a:avLst/>
          </a:prstGeom>
          <a:noFill/>
          <a:ln/>
        </p:spPr>
        <p:txBody>
          <a:bodyPr wrap="square" rtlCol="0" anchor="ctr"/>
          <a:lstStyle/>
          <a:p>
            <a:pPr indent="0" marL="0">
              <a:buNone/>
            </a:pPr>
            <a:r>
              <a:rPr lang="en-US" sz="1180" b="1" dirty="0">
                <a:solidFill>
                  <a:srgbClr val="E6EDF3"/>
                </a:solidFill>
                <a:latin typeface="Cambria" pitchFamily="34" charset="0"/>
                <a:ea typeface="Cambria" pitchFamily="34" charset="-122"/>
                <a:cs typeface="Cambria" pitchFamily="34" charset="-120"/>
              </a:rPr>
              <a:t>Real-Time Statistics Dashboard</a:t>
            </a:r>
            <a:endParaRPr lang="en-US" sz="1180" dirty="0"/>
          </a:p>
        </p:txBody>
      </p:sp>
      <p:sp>
        <p:nvSpPr>
          <p:cNvPr id="26" name="Text 19"/>
          <p:cNvSpPr/>
          <p:nvPr/>
        </p:nvSpPr>
        <p:spPr>
          <a:xfrm>
            <a:off x="722376" y="5779008"/>
            <a:ext cx="3112008" cy="557784"/>
          </a:xfrm>
          <a:prstGeom prst="rect">
            <a:avLst/>
          </a:prstGeom>
          <a:noFill/>
          <a:ln/>
        </p:spPr>
        <p:txBody>
          <a:bodyPr wrap="square" rtlCol="0" anchor="t"/>
          <a:lstStyle/>
          <a:p>
            <a:pPr indent="0" marL="0">
              <a:lnSpc>
                <a:spcPct val="118000"/>
              </a:lnSpc>
              <a:buNone/>
            </a:pPr>
            <a:r>
              <a:rPr lang="en-US" sz="950" dirty="0">
                <a:solidFill>
                  <a:srgbClr val="9BA7B4"/>
                </a:solidFill>
                <a:latin typeface="Calibri" pitchFamily="34" charset="0"/>
                <a:ea typeface="Calibri" pitchFamily="34" charset="-122"/>
                <a:cs typeface="Calibri" pitchFamily="34" charset="-120"/>
              </a:rPr>
              <a:t>Streaming live process counts, states, and signal activity into a continuously updating dashboard view.</a:t>
            </a:r>
            <a:endParaRPr lang="en-US" sz="950" dirty="0"/>
          </a:p>
        </p:txBody>
      </p:sp>
      <p:sp>
        <p:nvSpPr>
          <p:cNvPr id="27" name="Shape 20"/>
          <p:cNvSpPr/>
          <p:nvPr/>
        </p:nvSpPr>
        <p:spPr>
          <a:xfrm>
            <a:off x="4328160" y="4700016"/>
            <a:ext cx="3550920" cy="1746504"/>
          </a:xfrm>
          <a:prstGeom prst="roundRect">
            <a:avLst>
              <a:gd name="adj" fmla="val 4712"/>
            </a:avLst>
          </a:prstGeom>
          <a:solidFill>
            <a:srgbClr val="161B22"/>
          </a:solidFill>
          <a:ln w="12700">
            <a:solidFill>
              <a:srgbClr val="2A3441"/>
            </a:solidFill>
            <a:prstDash val="solid"/>
          </a:ln>
          <a:effectLst>
            <a:outerShdw sx="100000" sy="100000" kx="0" ky="0" algn="bl" rotWithShape="0" blurRad="127000" dist="38100" dir="5400000">
              <a:srgbClr val="000000">
                <a:alpha val="35000"/>
              </a:srgbClr>
            </a:outerShdw>
          </a:effectLst>
        </p:spPr>
      </p:sp>
      <p:sp>
        <p:nvSpPr>
          <p:cNvPr id="28" name="Shape 21"/>
          <p:cNvSpPr/>
          <p:nvPr/>
        </p:nvSpPr>
        <p:spPr>
          <a:xfrm>
            <a:off x="4547616" y="4882896"/>
            <a:ext cx="438912" cy="438912"/>
          </a:xfrm>
          <a:prstGeom prst="ellipse">
            <a:avLst/>
          </a:prstGeom>
          <a:solidFill>
            <a:srgbClr val="20293A"/>
          </a:solidFill>
          <a:ln w="12700">
            <a:solidFill>
              <a:srgbClr val="2A3441"/>
            </a:solidFill>
            <a:prstDash val="solid"/>
          </a:ln>
        </p:spPr>
      </p:sp>
      <p:pic>
        <p:nvPicPr>
          <p:cNvPr id="29" name="Image 5" descr="/home/claude/build/assets/icons/sitemap_58A6FF.png">    </p:cNvPr>
          <p:cNvPicPr>
            <a:picLocks noChangeAspect="1"/>
          </p:cNvPicPr>
          <p:nvPr/>
        </p:nvPicPr>
        <p:blipFill>
          <a:blip r:embed="rId6"/>
          <a:stretch>
            <a:fillRect/>
          </a:stretch>
        </p:blipFill>
        <p:spPr>
          <a:xfrm>
            <a:off x="4646371" y="4981651"/>
            <a:ext cx="241402" cy="241402"/>
          </a:xfrm>
          <a:prstGeom prst="rect">
            <a:avLst/>
          </a:prstGeom>
        </p:spPr>
      </p:pic>
      <p:sp>
        <p:nvSpPr>
          <p:cNvPr id="30" name="Text 22"/>
          <p:cNvSpPr/>
          <p:nvPr/>
        </p:nvSpPr>
        <p:spPr>
          <a:xfrm>
            <a:off x="4547616" y="5413248"/>
            <a:ext cx="3112008" cy="384048"/>
          </a:xfrm>
          <a:prstGeom prst="rect">
            <a:avLst/>
          </a:prstGeom>
          <a:noFill/>
          <a:ln/>
        </p:spPr>
        <p:txBody>
          <a:bodyPr wrap="square" rtlCol="0" anchor="ctr"/>
          <a:lstStyle/>
          <a:p>
            <a:pPr indent="0" marL="0">
              <a:buNone/>
            </a:pPr>
            <a:r>
              <a:rPr lang="en-US" sz="1180" b="1" dirty="0">
                <a:solidFill>
                  <a:srgbClr val="E6EDF3"/>
                </a:solidFill>
                <a:latin typeface="Cambria" pitchFamily="34" charset="0"/>
                <a:ea typeface="Cambria" pitchFamily="34" charset="-122"/>
                <a:cs typeface="Cambria" pitchFamily="34" charset="-120"/>
              </a:rPr>
              <a:t>Process Scheduling Visualization</a:t>
            </a:r>
            <a:endParaRPr lang="en-US" sz="1180" dirty="0"/>
          </a:p>
        </p:txBody>
      </p:sp>
      <p:sp>
        <p:nvSpPr>
          <p:cNvPr id="31" name="Text 23"/>
          <p:cNvSpPr/>
          <p:nvPr/>
        </p:nvSpPr>
        <p:spPr>
          <a:xfrm>
            <a:off x="4547616" y="5779008"/>
            <a:ext cx="3112008" cy="557784"/>
          </a:xfrm>
          <a:prstGeom prst="rect">
            <a:avLst/>
          </a:prstGeom>
          <a:noFill/>
          <a:ln/>
        </p:spPr>
        <p:txBody>
          <a:bodyPr wrap="square" rtlCol="0" anchor="t"/>
          <a:lstStyle/>
          <a:p>
            <a:pPr indent="0" marL="0">
              <a:lnSpc>
                <a:spcPct val="118000"/>
              </a:lnSpc>
              <a:buNone/>
            </a:pPr>
            <a:r>
              <a:rPr lang="en-US" sz="950" dirty="0">
                <a:solidFill>
                  <a:srgbClr val="9BA7B4"/>
                </a:solidFill>
                <a:latin typeface="Calibri" pitchFamily="34" charset="0"/>
                <a:ea typeface="Calibri" pitchFamily="34" charset="-122"/>
                <a:cs typeface="Calibri" pitchFamily="34" charset="-120"/>
              </a:rPr>
              <a:t>Rendering the scheduler's decisions visually so students can watch context switches as they happen.</a:t>
            </a:r>
            <a:endParaRPr lang="en-US" sz="950" dirty="0"/>
          </a:p>
        </p:txBody>
      </p:sp>
      <p:sp>
        <p:nvSpPr>
          <p:cNvPr id="32" name="Shape 24"/>
          <p:cNvSpPr/>
          <p:nvPr/>
        </p:nvSpPr>
        <p:spPr>
          <a:xfrm>
            <a:off x="8153400" y="4700016"/>
            <a:ext cx="3550920" cy="1746504"/>
          </a:xfrm>
          <a:prstGeom prst="roundRect">
            <a:avLst>
              <a:gd name="adj" fmla="val 4712"/>
            </a:avLst>
          </a:prstGeom>
          <a:solidFill>
            <a:srgbClr val="161B22"/>
          </a:solidFill>
          <a:ln w="12700">
            <a:solidFill>
              <a:srgbClr val="2A3441"/>
            </a:solidFill>
            <a:prstDash val="solid"/>
          </a:ln>
          <a:effectLst>
            <a:outerShdw sx="100000" sy="100000" kx="0" ky="0" algn="bl" rotWithShape="0" blurRad="127000" dist="38100" dir="5400000">
              <a:srgbClr val="000000">
                <a:alpha val="35000"/>
              </a:srgbClr>
            </a:outerShdw>
          </a:effectLst>
        </p:spPr>
      </p:sp>
      <p:sp>
        <p:nvSpPr>
          <p:cNvPr id="33" name="Shape 25"/>
          <p:cNvSpPr/>
          <p:nvPr/>
        </p:nvSpPr>
        <p:spPr>
          <a:xfrm>
            <a:off x="8372856" y="4882896"/>
            <a:ext cx="438912" cy="438912"/>
          </a:xfrm>
          <a:prstGeom prst="ellipse">
            <a:avLst/>
          </a:prstGeom>
          <a:solidFill>
            <a:srgbClr val="20293A"/>
          </a:solidFill>
          <a:ln w="12700">
            <a:solidFill>
              <a:srgbClr val="2A3441"/>
            </a:solidFill>
            <a:prstDash val="solid"/>
          </a:ln>
        </p:spPr>
      </p:sp>
      <p:pic>
        <p:nvPicPr>
          <p:cNvPr id="34" name="Image 6" descr="/home/claude/build/assets/icons/network_58A6FF.png">    </p:cNvPr>
          <p:cNvPicPr>
            <a:picLocks noChangeAspect="1"/>
          </p:cNvPicPr>
          <p:nvPr/>
        </p:nvPicPr>
        <p:blipFill>
          <a:blip r:embed="rId7"/>
          <a:stretch>
            <a:fillRect/>
          </a:stretch>
        </p:blipFill>
        <p:spPr>
          <a:xfrm>
            <a:off x="8471611" y="4981651"/>
            <a:ext cx="241402" cy="241402"/>
          </a:xfrm>
          <a:prstGeom prst="rect">
            <a:avLst/>
          </a:prstGeom>
        </p:spPr>
      </p:pic>
      <p:sp>
        <p:nvSpPr>
          <p:cNvPr id="35" name="Text 26"/>
          <p:cNvSpPr/>
          <p:nvPr/>
        </p:nvSpPr>
        <p:spPr>
          <a:xfrm>
            <a:off x="8372856" y="5413248"/>
            <a:ext cx="3112008" cy="384048"/>
          </a:xfrm>
          <a:prstGeom prst="rect">
            <a:avLst/>
          </a:prstGeom>
          <a:noFill/>
          <a:ln/>
        </p:spPr>
        <p:txBody>
          <a:bodyPr wrap="square" rtlCol="0" anchor="ctr"/>
          <a:lstStyle/>
          <a:p>
            <a:pPr indent="0" marL="0">
              <a:buNone/>
            </a:pPr>
            <a:r>
              <a:rPr lang="en-US" sz="1180" b="1" dirty="0">
                <a:solidFill>
                  <a:srgbClr val="E6EDF3"/>
                </a:solidFill>
                <a:latin typeface="Cambria" pitchFamily="34" charset="0"/>
                <a:ea typeface="Cambria" pitchFamily="34" charset="-122"/>
                <a:cs typeface="Cambria" pitchFamily="34" charset="-120"/>
              </a:rPr>
              <a:t>Network Resource Monitoring</a:t>
            </a:r>
            <a:endParaRPr lang="en-US" sz="1180" dirty="0"/>
          </a:p>
        </p:txBody>
      </p:sp>
      <p:sp>
        <p:nvSpPr>
          <p:cNvPr id="36" name="Text 27"/>
          <p:cNvSpPr/>
          <p:nvPr/>
        </p:nvSpPr>
        <p:spPr>
          <a:xfrm>
            <a:off x="8372856" y="5779008"/>
            <a:ext cx="3112008" cy="557784"/>
          </a:xfrm>
          <a:prstGeom prst="rect">
            <a:avLst/>
          </a:prstGeom>
          <a:noFill/>
          <a:ln/>
        </p:spPr>
        <p:txBody>
          <a:bodyPr wrap="square" rtlCol="0" anchor="t"/>
          <a:lstStyle/>
          <a:p>
            <a:pPr indent="0" marL="0">
              <a:lnSpc>
                <a:spcPct val="118000"/>
              </a:lnSpc>
              <a:buNone/>
            </a:pPr>
            <a:r>
              <a:rPr lang="en-US" sz="950" dirty="0">
                <a:solidFill>
                  <a:srgbClr val="9BA7B4"/>
                </a:solidFill>
                <a:latin typeface="Calibri" pitchFamily="34" charset="0"/>
                <a:ea typeface="Calibri" pitchFamily="34" charset="-122"/>
                <a:cs typeface="Calibri" pitchFamily="34" charset="-120"/>
              </a:rPr>
              <a:t>Broadening the scope from local processes to the network resources those processes consume.</a:t>
            </a:r>
            <a:endParaRPr lang="en-US" sz="950" dirty="0"/>
          </a:p>
        </p:txBody>
      </p:sp>
      <p:sp>
        <p:nvSpPr>
          <p:cNvPr id="37" name="Text 28"/>
          <p:cNvSpPr/>
          <p:nvPr/>
        </p:nvSpPr>
        <p:spPr>
          <a:xfrm>
            <a:off x="457200" y="6473952"/>
            <a:ext cx="7315200" cy="274320"/>
          </a:xfrm>
          <a:prstGeom prst="rect">
            <a:avLst/>
          </a:prstGeom>
          <a:noFill/>
          <a:ln/>
        </p:spPr>
        <p:txBody>
          <a:bodyPr wrap="square" rtlCol="0" anchor="ctr"/>
          <a:lstStyle/>
          <a:p>
            <a:pPr algn="l" indent="0" marL="0">
              <a:buNone/>
            </a:pPr>
            <a:r>
              <a:rPr lang="en-US" sz="900" spc="100" kern="0" dirty="0">
                <a:solidFill>
                  <a:srgbClr val="9BA7B4"/>
                </a:solidFill>
                <a:latin typeface="Calibri" pitchFamily="34" charset="0"/>
                <a:ea typeface="Calibri" pitchFamily="34" charset="-122"/>
                <a:cs typeface="Calibri" pitchFamily="34" charset="-120"/>
              </a:rPr>
              <a:t>SMART PROCESS MANAGEMENT  •  LINUX SYSTEM CALLS</a:t>
            </a:r>
            <a:endParaRPr lang="en-US" sz="900" dirty="0"/>
          </a:p>
        </p:txBody>
      </p:sp>
      <p:sp>
        <p:nvSpPr>
          <p:cNvPr id="38" name="Text 29"/>
          <p:cNvSpPr/>
          <p:nvPr/>
        </p:nvSpPr>
        <p:spPr>
          <a:xfrm>
            <a:off x="11277295" y="6473952"/>
            <a:ext cx="457200" cy="274320"/>
          </a:xfrm>
          <a:prstGeom prst="rect">
            <a:avLst/>
          </a:prstGeom>
          <a:noFill/>
          <a:ln/>
        </p:spPr>
        <p:txBody>
          <a:bodyPr wrap="square" rtlCol="0" anchor="ctr"/>
          <a:lstStyle/>
          <a:p>
            <a:pPr algn="r" indent="0" marL="0">
              <a:buNone/>
            </a:pPr>
            <a:r>
              <a:rPr lang="en-US" sz="900" dirty="0">
                <a:solidFill>
                  <a:srgbClr val="9BA7B4"/>
                </a:solidFill>
                <a:latin typeface="Calibri" pitchFamily="34" charset="0"/>
                <a:ea typeface="Calibri" pitchFamily="34" charset="-122"/>
                <a:cs typeface="Calibri" pitchFamily="34" charset="-120"/>
              </a:rPr>
              <a:t>12</a:t>
            </a:r>
            <a:endParaRPr lang="en-US" sz="9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0D1117"/>
        </a:solidFill>
      </p:bgPr>
    </p:bg>
    <p:spTree>
      <p:nvGrpSpPr>
        <p:cNvPr id="1" name=""/>
        <p:cNvGrpSpPr/>
        <p:nvPr/>
      </p:nvGrpSpPr>
      <p:grpSpPr>
        <a:xfrm>
          <a:off x="0" y="0"/>
          <a:ext cx="0" cy="0"/>
          <a:chOff x="0" y="0"/>
          <a:chExt cx="0" cy="0"/>
        </a:xfrm>
      </p:grpSpPr>
      <p:pic>
        <p:nvPicPr>
          <p:cNvPr id="2" name="Image 0" descr="/home/claude/build/assets/bg_hero.png">    </p:cNvPr>
          <p:cNvPicPr>
            <a:picLocks noChangeAspect="1"/>
          </p:cNvPicPr>
          <p:nvPr/>
        </p:nvPicPr>
        <p:blipFill>
          <a:blip r:embed="rId1"/>
          <a:stretch>
            <a:fillRect/>
          </a:stretch>
        </p:blipFill>
        <p:spPr>
          <a:xfrm>
            <a:off x="0" y="0"/>
            <a:ext cx="12191695" cy="6858000"/>
          </a:xfrm>
          <a:prstGeom prst="rect">
            <a:avLst/>
          </a:prstGeom>
        </p:spPr>
      </p:pic>
      <p:sp>
        <p:nvSpPr>
          <p:cNvPr id="3" name="Shape 0"/>
          <p:cNvSpPr/>
          <p:nvPr/>
        </p:nvSpPr>
        <p:spPr>
          <a:xfrm>
            <a:off x="502920" y="457200"/>
            <a:ext cx="128016" cy="128016"/>
          </a:xfrm>
          <a:prstGeom prst="roundRect">
            <a:avLst>
              <a:gd name="adj" fmla="val 50000"/>
            </a:avLst>
          </a:prstGeom>
          <a:solidFill>
            <a:srgbClr val="39D98A"/>
          </a:solidFill>
          <a:ln/>
        </p:spPr>
      </p:sp>
      <p:sp>
        <p:nvSpPr>
          <p:cNvPr id="4" name="Text 1"/>
          <p:cNvSpPr/>
          <p:nvPr/>
        </p:nvSpPr>
        <p:spPr>
          <a:xfrm>
            <a:off x="713232" y="393192"/>
            <a:ext cx="5486400" cy="274320"/>
          </a:xfrm>
          <a:prstGeom prst="rect">
            <a:avLst/>
          </a:prstGeom>
          <a:noFill/>
          <a:ln/>
        </p:spPr>
        <p:txBody>
          <a:bodyPr wrap="square" rtlCol="0" anchor="ctr"/>
          <a:lstStyle/>
          <a:p>
            <a:pPr indent="0" marL="0">
              <a:buNone/>
            </a:pPr>
            <a:r>
              <a:rPr lang="en-US" sz="1250" b="1" spc="200" kern="0" dirty="0">
                <a:solidFill>
                  <a:srgbClr val="39D98A"/>
                </a:solidFill>
                <a:latin typeface="Calibri" pitchFamily="34" charset="0"/>
                <a:ea typeface="Calibri" pitchFamily="34" charset="-122"/>
                <a:cs typeface="Calibri" pitchFamily="34" charset="-120"/>
              </a:rPr>
              <a:t>CONCLUSION</a:t>
            </a:r>
            <a:endParaRPr lang="en-US" sz="1250" dirty="0"/>
          </a:p>
        </p:txBody>
      </p:sp>
      <p:sp>
        <p:nvSpPr>
          <p:cNvPr id="5" name="Text 2"/>
          <p:cNvSpPr/>
          <p:nvPr/>
        </p:nvSpPr>
        <p:spPr>
          <a:xfrm>
            <a:off x="502920" y="713232"/>
            <a:ext cx="10515600" cy="685800"/>
          </a:xfrm>
          <a:prstGeom prst="rect">
            <a:avLst/>
          </a:prstGeom>
          <a:noFill/>
          <a:ln/>
        </p:spPr>
        <p:txBody>
          <a:bodyPr wrap="square" rtlCol="0" anchor="ctr"/>
          <a:lstStyle/>
          <a:p>
            <a:pPr algn="l" indent="0" marL="0">
              <a:buNone/>
            </a:pPr>
            <a:r>
              <a:rPr lang="en-US" sz="3400" b="1" dirty="0">
                <a:solidFill>
                  <a:srgbClr val="E6EDF3"/>
                </a:solidFill>
                <a:latin typeface="Cambria" pitchFamily="34" charset="0"/>
                <a:ea typeface="Cambria" pitchFamily="34" charset="-122"/>
                <a:cs typeface="Cambria" pitchFamily="34" charset="-120"/>
              </a:rPr>
              <a:t>Conclusion</a:t>
            </a:r>
            <a:endParaRPr lang="en-US" sz="3400" dirty="0"/>
          </a:p>
        </p:txBody>
      </p:sp>
      <p:sp>
        <p:nvSpPr>
          <p:cNvPr id="6" name="Shape 3"/>
          <p:cNvSpPr/>
          <p:nvPr/>
        </p:nvSpPr>
        <p:spPr>
          <a:xfrm>
            <a:off x="502920" y="1691640"/>
            <a:ext cx="11201400" cy="2788920"/>
          </a:xfrm>
          <a:prstGeom prst="roundRect">
            <a:avLst>
              <a:gd name="adj" fmla="val 2951"/>
            </a:avLst>
          </a:prstGeom>
          <a:solidFill>
            <a:srgbClr val="0F1620"/>
          </a:solidFill>
          <a:ln w="12700">
            <a:solidFill>
              <a:srgbClr val="2A3441"/>
            </a:solidFill>
            <a:prstDash val="solid"/>
          </a:ln>
          <a:effectLst>
            <a:outerShdw sx="100000" sy="100000" kx="0" ky="0" algn="bl" rotWithShape="0" blurRad="127000" dist="38100" dir="5400000">
              <a:srgbClr val="000000">
                <a:alpha val="35000"/>
              </a:srgbClr>
            </a:outerShdw>
          </a:effectLst>
        </p:spPr>
      </p:sp>
      <p:sp>
        <p:nvSpPr>
          <p:cNvPr id="7" name="Text 4"/>
          <p:cNvSpPr/>
          <p:nvPr/>
        </p:nvSpPr>
        <p:spPr>
          <a:xfrm>
            <a:off x="914400" y="1965960"/>
            <a:ext cx="10378440" cy="2286000"/>
          </a:xfrm>
          <a:prstGeom prst="rect">
            <a:avLst/>
          </a:prstGeom>
          <a:noFill/>
          <a:ln/>
        </p:spPr>
        <p:txBody>
          <a:bodyPr wrap="square" rtlCol="0" anchor="t"/>
          <a:lstStyle/>
          <a:p>
            <a:pPr indent="0" marL="0">
              <a:lnSpc>
                <a:spcPct val="135000"/>
              </a:lnSpc>
              <a:buNone/>
            </a:pPr>
            <a:r>
              <a:rPr lang="en-US" sz="1300" dirty="0">
                <a:solidFill>
                  <a:srgbClr val="E6EDF3"/>
                </a:solidFill>
                <a:latin typeface="Calibri" pitchFamily="34" charset="0"/>
                <a:ea typeface="Calibri" pitchFamily="34" charset="-122"/>
                <a:cs typeface="Calibri" pitchFamily="34" charset="-120"/>
              </a:rPr>
              <a:t>The Smart Process Management System succeeds in what it set out to do: it takes six of the Linux kernel's most consequential system calls — fork(), exec(), wait(), kill(), getpid(), and getppid() — and assembles them into a single interactive application that makes process management something a student can operate, not just read about. Across its creation, monitoring, synchronization, and termination features, the project demonstrates a working grasp of the process lifecycle and shows how theoretical operating-system concepts translate directly into Linux kernel behaviour. Just as importantly, its modular architecture means this is a foundation rather than a finished ceiling: the same structure that supports today's six system calls is ready to absorb resource monitoring, priority scheduling, and graphical interfaces as the project continues to grow. In short, it stands as a compact but genuine piece of systems programming — built to teach, and built to be extended.</a:t>
            </a:r>
            <a:endParaRPr lang="en-US" sz="1300" dirty="0"/>
          </a:p>
        </p:txBody>
      </p:sp>
      <p:sp>
        <p:nvSpPr>
          <p:cNvPr id="8" name="Shape 5"/>
          <p:cNvSpPr/>
          <p:nvPr/>
        </p:nvSpPr>
        <p:spPr>
          <a:xfrm>
            <a:off x="502920" y="4709160"/>
            <a:ext cx="3550920" cy="1417320"/>
          </a:xfrm>
          <a:prstGeom prst="roundRect">
            <a:avLst>
              <a:gd name="adj" fmla="val 5806"/>
            </a:avLst>
          </a:prstGeom>
          <a:solidFill>
            <a:srgbClr val="1B2430"/>
          </a:solidFill>
          <a:ln w="12700">
            <a:solidFill>
              <a:srgbClr val="2A3441"/>
            </a:solidFill>
            <a:prstDash val="solid"/>
          </a:ln>
          <a:effectLst>
            <a:outerShdw sx="100000" sy="100000" kx="0" ky="0" algn="bl" rotWithShape="0" blurRad="127000" dist="38100" dir="5400000">
              <a:srgbClr val="000000">
                <a:alpha val="35000"/>
              </a:srgbClr>
            </a:outerShdw>
          </a:effectLst>
        </p:spPr>
      </p:sp>
      <p:sp>
        <p:nvSpPr>
          <p:cNvPr id="9" name="Shape 6"/>
          <p:cNvSpPr/>
          <p:nvPr/>
        </p:nvSpPr>
        <p:spPr>
          <a:xfrm>
            <a:off x="731520" y="4937760"/>
            <a:ext cx="457200" cy="457200"/>
          </a:xfrm>
          <a:prstGeom prst="ellipse">
            <a:avLst/>
          </a:prstGeom>
          <a:solidFill>
            <a:srgbClr val="20293A"/>
          </a:solidFill>
          <a:ln w="12700">
            <a:solidFill>
              <a:srgbClr val="2A3441"/>
            </a:solidFill>
            <a:prstDash val="solid"/>
          </a:ln>
        </p:spPr>
      </p:sp>
      <p:pic>
        <p:nvPicPr>
          <p:cNvPr id="10" name="Image 1" descr="/home/claude/build/assets/icons/check_39D98A.png">    </p:cNvPr>
          <p:cNvPicPr>
            <a:picLocks noChangeAspect="1"/>
          </p:cNvPicPr>
          <p:nvPr/>
        </p:nvPicPr>
        <p:blipFill>
          <a:blip r:embed="rId2"/>
          <a:stretch>
            <a:fillRect/>
          </a:stretch>
        </p:blipFill>
        <p:spPr>
          <a:xfrm>
            <a:off x="834390" y="5040630"/>
            <a:ext cx="251460" cy="251460"/>
          </a:xfrm>
          <a:prstGeom prst="rect">
            <a:avLst/>
          </a:prstGeom>
        </p:spPr>
      </p:pic>
      <p:sp>
        <p:nvSpPr>
          <p:cNvPr id="11" name="Text 7"/>
          <p:cNvSpPr/>
          <p:nvPr/>
        </p:nvSpPr>
        <p:spPr>
          <a:xfrm>
            <a:off x="731520" y="5486400"/>
            <a:ext cx="3093720" cy="548640"/>
          </a:xfrm>
          <a:prstGeom prst="rect">
            <a:avLst/>
          </a:prstGeom>
          <a:noFill/>
          <a:ln/>
        </p:spPr>
        <p:txBody>
          <a:bodyPr wrap="square" rtlCol="0" anchor="t"/>
          <a:lstStyle/>
          <a:p>
            <a:pPr indent="0" marL="0">
              <a:lnSpc>
                <a:spcPct val="115000"/>
              </a:lnSpc>
              <a:buNone/>
            </a:pPr>
            <a:r>
              <a:rPr lang="en-US" sz="1000" dirty="0">
                <a:solidFill>
                  <a:srgbClr val="9BA7B4"/>
                </a:solidFill>
                <a:latin typeface="Calibri" pitchFamily="34" charset="0"/>
                <a:ea typeface="Calibri" pitchFamily="34" charset="-122"/>
                <a:cs typeface="Calibri" pitchFamily="34" charset="-120"/>
              </a:rPr>
              <a:t>Working demonstration of the full process lifecycle</a:t>
            </a:r>
            <a:endParaRPr lang="en-US" sz="1000" dirty="0"/>
          </a:p>
        </p:txBody>
      </p:sp>
      <p:sp>
        <p:nvSpPr>
          <p:cNvPr id="12" name="Shape 8"/>
          <p:cNvSpPr/>
          <p:nvPr/>
        </p:nvSpPr>
        <p:spPr>
          <a:xfrm>
            <a:off x="4328160" y="4709160"/>
            <a:ext cx="3550920" cy="1417320"/>
          </a:xfrm>
          <a:prstGeom prst="roundRect">
            <a:avLst>
              <a:gd name="adj" fmla="val 5806"/>
            </a:avLst>
          </a:prstGeom>
          <a:solidFill>
            <a:srgbClr val="1B2430"/>
          </a:solidFill>
          <a:ln w="12700">
            <a:solidFill>
              <a:srgbClr val="2A3441"/>
            </a:solidFill>
            <a:prstDash val="solid"/>
          </a:ln>
          <a:effectLst>
            <a:outerShdw sx="100000" sy="100000" kx="0" ky="0" algn="bl" rotWithShape="0" blurRad="127000" dist="38100" dir="5400000">
              <a:srgbClr val="000000">
                <a:alpha val="35000"/>
              </a:srgbClr>
            </a:outerShdw>
          </a:effectLst>
        </p:spPr>
      </p:sp>
      <p:sp>
        <p:nvSpPr>
          <p:cNvPr id="13" name="Shape 9"/>
          <p:cNvSpPr/>
          <p:nvPr/>
        </p:nvSpPr>
        <p:spPr>
          <a:xfrm>
            <a:off x="4556760" y="4937760"/>
            <a:ext cx="457200" cy="457200"/>
          </a:xfrm>
          <a:prstGeom prst="ellipse">
            <a:avLst/>
          </a:prstGeom>
          <a:solidFill>
            <a:srgbClr val="20293A"/>
          </a:solidFill>
          <a:ln w="12700">
            <a:solidFill>
              <a:srgbClr val="2A3441"/>
            </a:solidFill>
            <a:prstDash val="solid"/>
          </a:ln>
        </p:spPr>
      </p:sp>
      <p:pic>
        <p:nvPicPr>
          <p:cNvPr id="14" name="Image 2" descr="/home/claude/build/assets/icons/terminal_39D98A.png">    </p:cNvPr>
          <p:cNvPicPr>
            <a:picLocks noChangeAspect="1"/>
          </p:cNvPicPr>
          <p:nvPr/>
        </p:nvPicPr>
        <p:blipFill>
          <a:blip r:embed="rId3"/>
          <a:stretch>
            <a:fillRect/>
          </a:stretch>
        </p:blipFill>
        <p:spPr>
          <a:xfrm>
            <a:off x="4659630" y="5040630"/>
            <a:ext cx="251460" cy="251460"/>
          </a:xfrm>
          <a:prstGeom prst="rect">
            <a:avLst/>
          </a:prstGeom>
        </p:spPr>
      </p:pic>
      <p:sp>
        <p:nvSpPr>
          <p:cNvPr id="15" name="Text 10"/>
          <p:cNvSpPr/>
          <p:nvPr/>
        </p:nvSpPr>
        <p:spPr>
          <a:xfrm>
            <a:off x="4556760" y="5486400"/>
            <a:ext cx="3093720" cy="548640"/>
          </a:xfrm>
          <a:prstGeom prst="rect">
            <a:avLst/>
          </a:prstGeom>
          <a:noFill/>
          <a:ln/>
        </p:spPr>
        <p:txBody>
          <a:bodyPr wrap="square" rtlCol="0" anchor="t"/>
          <a:lstStyle/>
          <a:p>
            <a:pPr indent="0" marL="0">
              <a:lnSpc>
                <a:spcPct val="115000"/>
              </a:lnSpc>
              <a:buNone/>
            </a:pPr>
            <a:r>
              <a:rPr lang="en-US" sz="1000" dirty="0">
                <a:solidFill>
                  <a:srgbClr val="9BA7B4"/>
                </a:solidFill>
                <a:latin typeface="Calibri" pitchFamily="34" charset="0"/>
                <a:ea typeface="Calibri" pitchFamily="34" charset="-122"/>
                <a:cs typeface="Calibri" pitchFamily="34" charset="-120"/>
              </a:rPr>
              <a:t>Direct, faithful use of six core Linux system calls</a:t>
            </a:r>
            <a:endParaRPr lang="en-US" sz="1000" dirty="0"/>
          </a:p>
        </p:txBody>
      </p:sp>
      <p:sp>
        <p:nvSpPr>
          <p:cNvPr id="16" name="Shape 11"/>
          <p:cNvSpPr/>
          <p:nvPr/>
        </p:nvSpPr>
        <p:spPr>
          <a:xfrm>
            <a:off x="8153400" y="4709160"/>
            <a:ext cx="3550920" cy="1417320"/>
          </a:xfrm>
          <a:prstGeom prst="roundRect">
            <a:avLst>
              <a:gd name="adj" fmla="val 5806"/>
            </a:avLst>
          </a:prstGeom>
          <a:solidFill>
            <a:srgbClr val="1B2430"/>
          </a:solidFill>
          <a:ln w="12700">
            <a:solidFill>
              <a:srgbClr val="2A3441"/>
            </a:solidFill>
            <a:prstDash val="solid"/>
          </a:ln>
          <a:effectLst>
            <a:outerShdw sx="100000" sy="100000" kx="0" ky="0" algn="bl" rotWithShape="0" blurRad="127000" dist="38100" dir="5400000">
              <a:srgbClr val="000000">
                <a:alpha val="35000"/>
              </a:srgbClr>
            </a:outerShdw>
          </a:effectLst>
        </p:spPr>
      </p:sp>
      <p:sp>
        <p:nvSpPr>
          <p:cNvPr id="17" name="Shape 12"/>
          <p:cNvSpPr/>
          <p:nvPr/>
        </p:nvSpPr>
        <p:spPr>
          <a:xfrm>
            <a:off x="8382000" y="4937760"/>
            <a:ext cx="457200" cy="457200"/>
          </a:xfrm>
          <a:prstGeom prst="ellipse">
            <a:avLst/>
          </a:prstGeom>
          <a:solidFill>
            <a:srgbClr val="20293A"/>
          </a:solidFill>
          <a:ln w="12700">
            <a:solidFill>
              <a:srgbClr val="2A3441"/>
            </a:solidFill>
            <a:prstDash val="solid"/>
          </a:ln>
        </p:spPr>
      </p:sp>
      <p:pic>
        <p:nvPicPr>
          <p:cNvPr id="18" name="Image 3" descr="/home/claude/build/assets/icons/layers_39D98A.png">    </p:cNvPr>
          <p:cNvPicPr>
            <a:picLocks noChangeAspect="1"/>
          </p:cNvPicPr>
          <p:nvPr/>
        </p:nvPicPr>
        <p:blipFill>
          <a:blip r:embed="rId4"/>
          <a:stretch>
            <a:fillRect/>
          </a:stretch>
        </p:blipFill>
        <p:spPr>
          <a:xfrm>
            <a:off x="8484870" y="5040630"/>
            <a:ext cx="251460" cy="251460"/>
          </a:xfrm>
          <a:prstGeom prst="rect">
            <a:avLst/>
          </a:prstGeom>
        </p:spPr>
      </p:pic>
      <p:sp>
        <p:nvSpPr>
          <p:cNvPr id="19" name="Text 13"/>
          <p:cNvSpPr/>
          <p:nvPr/>
        </p:nvSpPr>
        <p:spPr>
          <a:xfrm>
            <a:off x="8382000" y="5486400"/>
            <a:ext cx="3093720" cy="548640"/>
          </a:xfrm>
          <a:prstGeom prst="rect">
            <a:avLst/>
          </a:prstGeom>
          <a:noFill/>
          <a:ln/>
        </p:spPr>
        <p:txBody>
          <a:bodyPr wrap="square" rtlCol="0" anchor="t"/>
          <a:lstStyle/>
          <a:p>
            <a:pPr indent="0" marL="0">
              <a:lnSpc>
                <a:spcPct val="115000"/>
              </a:lnSpc>
              <a:buNone/>
            </a:pPr>
            <a:r>
              <a:rPr lang="en-US" sz="1000" dirty="0">
                <a:solidFill>
                  <a:srgbClr val="9BA7B4"/>
                </a:solidFill>
                <a:latin typeface="Calibri" pitchFamily="34" charset="0"/>
                <a:ea typeface="Calibri" pitchFamily="34" charset="-122"/>
                <a:cs typeface="Calibri" pitchFamily="34" charset="-120"/>
              </a:rPr>
              <a:t>Modular design ready for future extension</a:t>
            </a:r>
            <a:endParaRPr lang="en-US" sz="1000" dirty="0"/>
          </a:p>
        </p:txBody>
      </p:sp>
      <p:sp>
        <p:nvSpPr>
          <p:cNvPr id="20" name="Text 14"/>
          <p:cNvSpPr/>
          <p:nvPr/>
        </p:nvSpPr>
        <p:spPr>
          <a:xfrm>
            <a:off x="457200" y="6473952"/>
            <a:ext cx="7315200" cy="274320"/>
          </a:xfrm>
          <a:prstGeom prst="rect">
            <a:avLst/>
          </a:prstGeom>
          <a:noFill/>
          <a:ln/>
        </p:spPr>
        <p:txBody>
          <a:bodyPr wrap="square" rtlCol="0" anchor="ctr"/>
          <a:lstStyle/>
          <a:p>
            <a:pPr algn="l" indent="0" marL="0">
              <a:buNone/>
            </a:pPr>
            <a:r>
              <a:rPr lang="en-US" sz="900" spc="100" kern="0" dirty="0">
                <a:solidFill>
                  <a:srgbClr val="9BA7B4"/>
                </a:solidFill>
                <a:latin typeface="Calibri" pitchFamily="34" charset="0"/>
                <a:ea typeface="Calibri" pitchFamily="34" charset="-122"/>
                <a:cs typeface="Calibri" pitchFamily="34" charset="-120"/>
              </a:rPr>
              <a:t>SMART PROCESS MANAGEMENT  •  LINUX SYSTEM CALLS</a:t>
            </a:r>
            <a:endParaRPr lang="en-US" sz="900" dirty="0"/>
          </a:p>
        </p:txBody>
      </p:sp>
      <p:sp>
        <p:nvSpPr>
          <p:cNvPr id="21" name="Text 15"/>
          <p:cNvSpPr/>
          <p:nvPr/>
        </p:nvSpPr>
        <p:spPr>
          <a:xfrm>
            <a:off x="11277295" y="6473952"/>
            <a:ext cx="457200" cy="274320"/>
          </a:xfrm>
          <a:prstGeom prst="rect">
            <a:avLst/>
          </a:prstGeom>
          <a:noFill/>
          <a:ln/>
        </p:spPr>
        <p:txBody>
          <a:bodyPr wrap="square" rtlCol="0" anchor="ctr"/>
          <a:lstStyle/>
          <a:p>
            <a:pPr algn="r" indent="0" marL="0">
              <a:buNone/>
            </a:pPr>
            <a:r>
              <a:rPr lang="en-US" sz="900" dirty="0">
                <a:solidFill>
                  <a:srgbClr val="9BA7B4"/>
                </a:solidFill>
                <a:latin typeface="Calibri" pitchFamily="34" charset="0"/>
                <a:ea typeface="Calibri" pitchFamily="34" charset="-122"/>
                <a:cs typeface="Calibri" pitchFamily="34" charset="-120"/>
              </a:rPr>
              <a:t>13</a:t>
            </a:r>
            <a:endParaRPr lang="en-US" sz="9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0D1117"/>
        </a:solidFill>
      </p:bgPr>
    </p:bg>
    <p:spTree>
      <p:nvGrpSpPr>
        <p:cNvPr id="1" name=""/>
        <p:cNvGrpSpPr/>
        <p:nvPr/>
      </p:nvGrpSpPr>
      <p:grpSpPr>
        <a:xfrm>
          <a:off x="0" y="0"/>
          <a:ext cx="0" cy="0"/>
          <a:chOff x="0" y="0"/>
          <a:chExt cx="0" cy="0"/>
        </a:xfrm>
      </p:grpSpPr>
      <p:pic>
        <p:nvPicPr>
          <p:cNvPr id="2" name="Image 0" descr="/home/claude/build/assets/bg_hero.png">    </p:cNvPr>
          <p:cNvPicPr>
            <a:picLocks noChangeAspect="1"/>
          </p:cNvPicPr>
          <p:nvPr/>
        </p:nvPicPr>
        <p:blipFill>
          <a:blip r:embed="rId1"/>
          <a:stretch>
            <a:fillRect/>
          </a:stretch>
        </p:blipFill>
        <p:spPr>
          <a:xfrm>
            <a:off x="0" y="0"/>
            <a:ext cx="12191695" cy="6858000"/>
          </a:xfrm>
          <a:prstGeom prst="rect">
            <a:avLst/>
          </a:prstGeom>
        </p:spPr>
      </p:pic>
      <p:pic>
        <p:nvPicPr>
          <p:cNvPr id="3" name="Image 1" descr="/home/claude/build/assets/glow_green.png">    </p:cNvPr>
          <p:cNvPicPr>
            <a:picLocks noChangeAspect="1"/>
          </p:cNvPicPr>
          <p:nvPr/>
        </p:nvPicPr>
        <p:blipFill>
          <a:blip r:embed="rId2"/>
          <a:stretch>
            <a:fillRect/>
          </a:stretch>
        </p:blipFill>
        <p:spPr>
          <a:xfrm>
            <a:off x="4480560" y="548640"/>
            <a:ext cx="3200400" cy="3200400"/>
          </a:xfrm>
          <a:prstGeom prst="rect">
            <a:avLst/>
          </a:prstGeom>
        </p:spPr>
      </p:pic>
      <p:sp>
        <p:nvSpPr>
          <p:cNvPr id="4" name="Shape 0"/>
          <p:cNvSpPr/>
          <p:nvPr/>
        </p:nvSpPr>
        <p:spPr>
          <a:xfrm>
            <a:off x="5367528" y="1417320"/>
            <a:ext cx="1417320" cy="1417320"/>
          </a:xfrm>
          <a:prstGeom prst="ellipse">
            <a:avLst/>
          </a:prstGeom>
          <a:solidFill>
            <a:srgbClr val="1B2430"/>
          </a:solidFill>
          <a:ln w="12700">
            <a:solidFill>
              <a:srgbClr val="2A3441"/>
            </a:solidFill>
            <a:prstDash val="solid"/>
          </a:ln>
        </p:spPr>
      </p:sp>
      <p:pic>
        <p:nvPicPr>
          <p:cNvPr id="5" name="Image 2" descr="/home/claude/build/assets/icons/comments_39D98A.png">    </p:cNvPr>
          <p:cNvPicPr>
            <a:picLocks noChangeAspect="1"/>
          </p:cNvPicPr>
          <p:nvPr/>
        </p:nvPicPr>
        <p:blipFill>
          <a:blip r:embed="rId3"/>
          <a:stretch>
            <a:fillRect/>
          </a:stretch>
        </p:blipFill>
        <p:spPr>
          <a:xfrm>
            <a:off x="5721858" y="1771650"/>
            <a:ext cx="708660" cy="708660"/>
          </a:xfrm>
          <a:prstGeom prst="rect">
            <a:avLst/>
          </a:prstGeom>
        </p:spPr>
      </p:pic>
      <p:sp>
        <p:nvSpPr>
          <p:cNvPr id="6" name="Text 1"/>
          <p:cNvSpPr/>
          <p:nvPr/>
        </p:nvSpPr>
        <p:spPr>
          <a:xfrm>
            <a:off x="0" y="3063240"/>
            <a:ext cx="12191695" cy="914400"/>
          </a:xfrm>
          <a:prstGeom prst="rect">
            <a:avLst/>
          </a:prstGeom>
          <a:noFill/>
          <a:ln/>
        </p:spPr>
        <p:txBody>
          <a:bodyPr wrap="square" rtlCol="0" anchor="ctr"/>
          <a:lstStyle/>
          <a:p>
            <a:pPr algn="ctr" indent="0" marL="0">
              <a:buNone/>
            </a:pPr>
            <a:r>
              <a:rPr lang="en-US" sz="4600" b="1" dirty="0">
                <a:solidFill>
                  <a:srgbClr val="E6EDF3"/>
                </a:solidFill>
                <a:latin typeface="Cambria" pitchFamily="34" charset="0"/>
                <a:ea typeface="Cambria" pitchFamily="34" charset="-122"/>
                <a:cs typeface="Cambria" pitchFamily="34" charset="-120"/>
              </a:rPr>
              <a:t>Thank You</a:t>
            </a:r>
            <a:endParaRPr lang="en-US" sz="4600" dirty="0"/>
          </a:p>
        </p:txBody>
      </p:sp>
      <p:sp>
        <p:nvSpPr>
          <p:cNvPr id="7" name="Text 2"/>
          <p:cNvSpPr/>
          <p:nvPr/>
        </p:nvSpPr>
        <p:spPr>
          <a:xfrm>
            <a:off x="0" y="3886200"/>
            <a:ext cx="12191695" cy="502920"/>
          </a:xfrm>
          <a:prstGeom prst="rect">
            <a:avLst/>
          </a:prstGeom>
          <a:noFill/>
          <a:ln/>
        </p:spPr>
        <p:txBody>
          <a:bodyPr wrap="square" rtlCol="0" anchor="ctr"/>
          <a:lstStyle/>
          <a:p>
            <a:pPr algn="ctr" indent="0" marL="0">
              <a:buNone/>
            </a:pPr>
            <a:r>
              <a:rPr lang="en-US" sz="2000" i="1" dirty="0">
                <a:solidFill>
                  <a:srgbClr val="39D98A"/>
                </a:solidFill>
                <a:latin typeface="Cambria" pitchFamily="34" charset="0"/>
                <a:ea typeface="Cambria" pitchFamily="34" charset="-122"/>
                <a:cs typeface="Cambria" pitchFamily="34" charset="-120"/>
              </a:rPr>
              <a:t>Questions &amp; Discussion</a:t>
            </a:r>
            <a:endParaRPr lang="en-US" sz="2000" dirty="0"/>
          </a:p>
        </p:txBody>
      </p:sp>
      <p:sp>
        <p:nvSpPr>
          <p:cNvPr id="8" name="Shape 3"/>
          <p:cNvSpPr/>
          <p:nvPr/>
        </p:nvSpPr>
        <p:spPr>
          <a:xfrm>
            <a:off x="5090008" y="4526280"/>
            <a:ext cx="2011680" cy="0"/>
          </a:xfrm>
          <a:prstGeom prst="line">
            <a:avLst/>
          </a:prstGeom>
          <a:noFill/>
          <a:ln w="19050">
            <a:solidFill>
              <a:srgbClr val="2A3441"/>
            </a:solidFill>
            <a:prstDash val="solid"/>
          </a:ln>
        </p:spPr>
      </p:sp>
      <p:sp>
        <p:nvSpPr>
          <p:cNvPr id="9" name="Text 4"/>
          <p:cNvSpPr/>
          <p:nvPr/>
        </p:nvSpPr>
        <p:spPr>
          <a:xfrm>
            <a:off x="0" y="4709160"/>
            <a:ext cx="12191695" cy="320040"/>
          </a:xfrm>
          <a:prstGeom prst="rect">
            <a:avLst/>
          </a:prstGeom>
          <a:noFill/>
          <a:ln/>
        </p:spPr>
        <p:txBody>
          <a:bodyPr wrap="square" rtlCol="0" anchor="ctr"/>
          <a:lstStyle/>
          <a:p>
            <a:pPr algn="ctr" indent="0" marL="0">
              <a:buNone/>
            </a:pPr>
            <a:r>
              <a:rPr lang="en-US" sz="1200" dirty="0">
                <a:solidFill>
                  <a:srgbClr val="9BA7B4"/>
                </a:solidFill>
                <a:latin typeface="Calibri" pitchFamily="34" charset="0"/>
                <a:ea typeface="Calibri" pitchFamily="34" charset="-122"/>
                <a:cs typeface="Calibri" pitchFamily="34" charset="-120"/>
              </a:rPr>
              <a:t>KLH University  •  Department of Computer Science &amp; Engineering</a:t>
            </a:r>
            <a:endParaRPr lang="en-US" sz="1200" dirty="0"/>
          </a:p>
        </p:txBody>
      </p:sp>
      <p:sp>
        <p:nvSpPr>
          <p:cNvPr id="10" name="Text 5"/>
          <p:cNvSpPr/>
          <p:nvPr/>
        </p:nvSpPr>
        <p:spPr>
          <a:xfrm>
            <a:off x="0" y="5029200"/>
            <a:ext cx="12191695" cy="320040"/>
          </a:xfrm>
          <a:prstGeom prst="rect">
            <a:avLst/>
          </a:prstGeom>
          <a:noFill/>
          <a:ln/>
        </p:spPr>
        <p:txBody>
          <a:bodyPr wrap="square" rtlCol="0" anchor="ctr"/>
          <a:lstStyle/>
          <a:p>
            <a:pPr algn="ctr" indent="0" marL="0">
              <a:buNone/>
            </a:pPr>
            <a:r>
              <a:rPr lang="en-US" sz="1200" dirty="0">
                <a:solidFill>
                  <a:srgbClr val="9BA7B4"/>
                </a:solidFill>
                <a:latin typeface="Calibri" pitchFamily="34" charset="0"/>
                <a:ea typeface="Calibri" pitchFamily="34" charset="-122"/>
                <a:cs typeface="Calibri" pitchFamily="34" charset="-120"/>
              </a:rPr>
              <a:t>Operating Systems  •  Smart Process Management System</a:t>
            </a:r>
            <a:endParaRPr lang="en-US" sz="12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14</Slides>
  <Notes>14</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14</vt:i4>
      </vt:variant>
    </vt:vector>
  </HeadingPairs>
  <TitlesOfParts>
    <vt:vector size="17"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2026-08-26T05:33:13Z</dcterms:created>
  <dcterms:modified xsi:type="dcterms:W3CDTF">2026-08-26T05:33:13Z</dcterms:modified>
</cp:coreProperties>
</file>